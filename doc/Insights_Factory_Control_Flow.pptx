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4ADBC-C74F-456D-9503-A8F05794976F}"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E8113E-CB0B-4BF4-8ED2-97A1E948D8C8}" type="slidenum">
              <a:rPr lang="en-IN" smtClean="0"/>
              <a:t>‹#›</a:t>
            </a:fld>
            <a:endParaRPr lang="en-IN"/>
          </a:p>
        </p:txBody>
      </p:sp>
    </p:spTree>
    <p:extLst>
      <p:ext uri="{BB962C8B-B14F-4D97-AF65-F5344CB8AC3E}">
        <p14:creationId xmlns:p14="http://schemas.microsoft.com/office/powerpoint/2010/main" val="2300488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The Data Insights Factory turns a business use case into a working conversational experience. This deck walks the control flow end to end, then opens each component in turn. The chain along the bottom is the whole story in one line: use case, experience plus knowledge, Insights API, LLM workflow, GenUI experience.</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a:t>
            </a:fld>
            <a:endParaRPr lang="en-IN"/>
          </a:p>
        </p:txBody>
      </p:sp>
    </p:spTree>
    <p:extLst>
      <p:ext uri="{BB962C8B-B14F-4D97-AF65-F5344CB8AC3E}">
        <p14:creationId xmlns:p14="http://schemas.microsoft.com/office/powerpoint/2010/main" val="1652627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Sections one to four explain control flow: the two planes, the animated end-to-end flow, a step reference table and the runtime sequence. Section five gives one detailed architecture slide per component. The right panel previews the seven components and where each sits.</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2</a:t>
            </a:fld>
            <a:endParaRPr lang="en-IN"/>
          </a:p>
        </p:txBody>
      </p:sp>
    </p:spTree>
    <p:extLst>
      <p:ext uri="{BB962C8B-B14F-4D97-AF65-F5344CB8AC3E}">
        <p14:creationId xmlns:p14="http://schemas.microsoft.com/office/powerpoint/2010/main" val="81250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planes. Click 1: build time. The Experience Factory and Data Factory run in parallel from the same use case; the Data Factory then populates the KAG. Click 2: the handoff. The React app (through Git) and the KAG carry build-time work into runtime, where four components answer every ask. Click 3: Market Leaders both start the loop and receive the demo-ready result.</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3</a:t>
            </a:fld>
            <a:endParaRPr lang="en-IN"/>
          </a:p>
        </p:txBody>
      </p:sp>
    </p:spTree>
    <p:extLst>
      <p:ext uri="{BB962C8B-B14F-4D97-AF65-F5344CB8AC3E}">
        <p14:creationId xmlns:p14="http://schemas.microsoft.com/office/powerpoint/2010/main" val="1363642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control flow. Each click advances control to the next component. Navy arrows carry requests and control; teal arrows carry data and responses.</a:t>
            </a:r>
          </a:p>
          <a:p>
            <a:r>
              <a:rPr lang="en-US"/>
              <a:t>Click 1: Market Leaders define the business use cases.</a:t>
            </a:r>
          </a:p>
          <a:p>
            <a:r>
              <a:rPr lang="en-US"/>
              <a:t>Click 2 (step 1): each use case starts two parallel build-time streams, the Experience Factory and the Data Factory.</a:t>
            </a:r>
          </a:p>
          <a:p>
            <a:r>
              <a:rPr lang="en-US"/>
              <a:t>Click 3 (step 2): the Data Factory populates the KAG with domain model, metadata and ontologies.</a:t>
            </a:r>
          </a:p>
          <a:p>
            <a:r>
              <a:rPr lang="en-US"/>
              <a:t>Click 4 (step 3): the Experience Factory ships the React application through Git into runtime.</a:t>
            </a:r>
          </a:p>
          <a:p>
            <a:r>
              <a:rPr lang="en-US"/>
              <a:t>Click 5 (step 4): a user asks a question; the React app sends Component, Variant, Ask to the Insights Factory.</a:t>
            </a:r>
          </a:p>
          <a:p>
            <a:r>
              <a:rPr lang="en-US"/>
              <a:t>Click 6 (step 5): the Insights Factory forwards the same payload to the Insights Server LLM workflow.</a:t>
            </a:r>
          </a:p>
          <a:p>
            <a:r>
              <a:rPr lang="en-US"/>
              <a:t>Click 7 (step 6): the Insights Server reads context from the KAG to classify intent and shape queries.</a:t>
            </a:r>
          </a:p>
          <a:p>
            <a:r>
              <a:rPr lang="en-US"/>
              <a:t>Click 8 (step 7): the server sends a Cypher query to the Data Sources.</a:t>
            </a:r>
          </a:p>
          <a:p>
            <a:r>
              <a:rPr lang="en-US"/>
              <a:t>Click 9 (step 8): raw data returns to the server for intelligence, report generation, hydration and casting.</a:t>
            </a:r>
          </a:p>
          <a:p>
            <a:r>
              <a:rPr lang="en-US"/>
              <a:t>Click 10 (step 9): result set data streams back to the Insights Factory.</a:t>
            </a:r>
          </a:p>
          <a:p>
            <a:r>
              <a:rPr lang="en-US"/>
              <a:t>Click 11 (step 10): the transform utility converts it into Response JSON for the requested component.</a:t>
            </a:r>
          </a:p>
          <a:p>
            <a:r>
              <a:rPr lang="en-US"/>
              <a:t>Click 12 (step 11): the React app renders the GenUI answer, and the use case is demo ready for Market Leaders.</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4</a:t>
            </a:fld>
            <a:endParaRPr lang="en-IN"/>
          </a:p>
        </p:txBody>
      </p:sp>
    </p:spTree>
    <p:extLst>
      <p:ext uri="{BB962C8B-B14F-4D97-AF65-F5344CB8AC3E}">
        <p14:creationId xmlns:p14="http://schemas.microsoft.com/office/powerpoint/2010/main" val="332324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reference. The same eleven hand-offs as the previous diagram, one per click. Steps 1 to 3 happen once per use case at build time. Steps 4 to 11 repeat for every question a user asks at runtime. The payload column is the contract at each boundary.</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5</a:t>
            </a:fld>
            <a:endParaRPr lang="en-IN"/>
          </a:p>
        </p:txBody>
      </p:sp>
    </p:spTree>
    <p:extLst>
      <p:ext uri="{BB962C8B-B14F-4D97-AF65-F5344CB8AC3E}">
        <p14:creationId xmlns:p14="http://schemas.microsoft.com/office/powerpoint/2010/main" val="3018221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Runtime request lifecycle, one message per click. Solid arrows are calls; dashed teal arrows are returns.</a:t>
            </a:r>
          </a:p>
          <a:p>
            <a:r>
              <a:rPr lang="en-US"/>
              <a:t>Messages 1 to 3: the ask travels from the user through the React app and the Data Insights API to the Insights Server.</a:t>
            </a:r>
          </a:p>
          <a:p>
            <a:r>
              <a:rPr lang="en-US"/>
              <a:t>Messages 4 to 6: the first three workflow stages. Two of them are gates: a cache hit returns a stored result immediately, and an unclear ask returns a clarifying question instead of an answer.</a:t>
            </a:r>
          </a:p>
          <a:p>
            <a:r>
              <a:rPr lang="en-US"/>
              <a:t>Messages 7 to 10: retrieval. Context comes from the KAG; facts come from the Data Sources through a Cypher query.</a:t>
            </a:r>
          </a:p>
          <a:p>
            <a:r>
              <a:rPr lang="en-US"/>
              <a:t>Messages 11 to 13: intelligence, report generation, then hydration and casting into the GenUI structure.</a:t>
            </a:r>
          </a:p>
          <a:p>
            <a:r>
              <a:rPr lang="en-US"/>
              <a:t>Messages 14 to 17: the result set streams back, the transform utility produces Response JSON, and the React app renders the answer.</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6</a:t>
            </a:fld>
            <a:endParaRPr lang="en-IN"/>
          </a:p>
        </p:txBody>
      </p:sp>
    </p:spTree>
    <p:extLst>
      <p:ext uri="{BB962C8B-B14F-4D97-AF65-F5344CB8AC3E}">
        <p14:creationId xmlns:p14="http://schemas.microsoft.com/office/powerpoint/2010/main" val="121972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Component architecture. One slide per component. Every slide reads the same way: inputs on the left, internal stages in the centre in execution order, outputs on the right, and the interfaces to neighbouring components along the bottom.</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7</a:t>
            </a:fld>
            <a:endParaRPr lang="en-IN"/>
          </a:p>
        </p:txBody>
      </p:sp>
    </p:spTree>
    <p:extLst>
      <p:ext uri="{BB962C8B-B14F-4D97-AF65-F5344CB8AC3E}">
        <p14:creationId xmlns:p14="http://schemas.microsoft.com/office/powerpoint/2010/main" val="755558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Experience Factory, build time step 1. Click through the six stages. The key idea is that pages run on static JSON first (stage 3), so the experience can be reviewed before any live data exists. Git is the handoff to runtime, and stage 6 swaps the static JSON for Insights API calls that send Component, Variant, Ask.</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8</a:t>
            </a:fld>
            <a:endParaRPr lang="en-IN"/>
          </a:p>
        </p:txBody>
      </p:sp>
    </p:spTree>
    <p:extLst>
      <p:ext uri="{BB962C8B-B14F-4D97-AF65-F5344CB8AC3E}">
        <p14:creationId xmlns:p14="http://schemas.microsoft.com/office/powerpoint/2010/main" val="1780857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Factory, build time step 1, running in parallel with the Experience Factory. The top row models the domain and loads realistic synthetic data. The bottom row turns that domain into knowledge: a lower ontology of domain-specific concepts, an upper ontology of broader concepts, and finally the KAG that the Insights Server reads at runtime.</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9</a:t>
            </a:fld>
            <a:endParaRPr lang="en-IN"/>
          </a:p>
        </p:txBody>
      </p:sp>
    </p:spTree>
    <p:extLst>
      <p:ext uri="{BB962C8B-B14F-4D97-AF65-F5344CB8AC3E}">
        <p14:creationId xmlns:p14="http://schemas.microsoft.com/office/powerpoint/2010/main" val="3394409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KAG, Knowledge-Augmented Generation, build time step 2. The four layers build from the bottom up on each click: the domain model, then metadata, then the lower ontology, then the upper ontology. At runtime the Insights Server reads these layers as context, which is what lets intent classification and Cypher query generation use the business's own vocabulary.</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10</a:t>
            </a:fld>
            <a:endParaRPr lang="en-IN"/>
          </a:p>
        </p:txBody>
      </p:sp>
    </p:spTree>
    <p:extLst>
      <p:ext uri="{BB962C8B-B14F-4D97-AF65-F5344CB8AC3E}">
        <p14:creationId xmlns:p14="http://schemas.microsoft.com/office/powerpoint/2010/main" val="2558899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React Application, runtime step 2. Click 1: inputs. Clicks 2 to 5 walk the four stages; the mock on the left builds alongside them: the conversational UI captures the ask, then the response renders as GenUI components, here a churn view with KPI tiles, a trend chart and a table, each fed by its component JSON (for example ChurnModel).</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11</a:t>
            </a:fld>
            <a:endParaRPr lang="en-IN"/>
          </a:p>
        </p:txBody>
      </p:sp>
    </p:spTree>
    <p:extLst>
      <p:ext uri="{BB962C8B-B14F-4D97-AF65-F5344CB8AC3E}">
        <p14:creationId xmlns:p14="http://schemas.microsoft.com/office/powerpoint/2010/main" val="1506923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Insights Factory, runtime step 2, also called the Do Nothing API: it deliberately holds no business logic. Clicks walk its six responsibilities; the last click opens the transform utility. The utility is declarative: each GenUI component has a JSON model that maps result set fields into the component's shape, using five node types. Adding a component means adding a model, not writing code.</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12</a:t>
            </a:fld>
            <a:endParaRPr lang="en-IN"/>
          </a:p>
        </p:txBody>
      </p:sp>
    </p:spTree>
    <p:extLst>
      <p:ext uri="{BB962C8B-B14F-4D97-AF65-F5344CB8AC3E}">
        <p14:creationId xmlns:p14="http://schemas.microsoft.com/office/powerpoint/2010/main" val="3270373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Insights Server, runtime step 3: the LLM-powered workflow. Top row, understand: cache lookup can end the request early on a hit; intent classification uses KAG context; the clarification gate can return a question to the user instead of an answer; data retrieval runs Cypher queries against the Data Sources. Bottom row, generate and deliver: data intelligence, report generation, hydrate and casting into the GenUI structure, then streaming.</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13</a:t>
            </a:fld>
            <a:endParaRPr lang="en-IN"/>
          </a:p>
        </p:txBody>
      </p:sp>
    </p:spTree>
    <p:extLst>
      <p:ext uri="{BB962C8B-B14F-4D97-AF65-F5344CB8AC3E}">
        <p14:creationId xmlns:p14="http://schemas.microsoft.com/office/powerpoint/2010/main" val="1191827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Sources, the data layer queried at runtime. The top strip is the access pattern: a Cypher query arrives from the Insights Server, resolves against the relevant source, and raw data returns. The two cards list typical internal and external sources; the exact set depends on the use case. In demos, the internal side includes the database the Data Factory loads with synthetic data.</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14</a:t>
            </a:fld>
            <a:endParaRPr lang="en-IN"/>
          </a:p>
        </p:txBody>
      </p:sp>
    </p:spTree>
    <p:extLst>
      <p:ext uri="{BB962C8B-B14F-4D97-AF65-F5344CB8AC3E}">
        <p14:creationId xmlns:p14="http://schemas.microsoft.com/office/powerpoint/2010/main" val="3785444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Three principles make the factory repeatable: reuse at the experience and API layers, grounded knowledge from the Data Factory and KAG, and an LLM workflow that orchestrates every ask. The chain along the bottom is the complete control flow in one line.</a:t>
            </a:r>
            <a:endParaRPr lang="en-IN"/>
          </a:p>
        </p:txBody>
      </p:sp>
      <p:sp>
        <p:nvSpPr>
          <p:cNvPr id="4" name="Slide Number Placeholder 3"/>
          <p:cNvSpPr>
            <a:spLocks noGrp="1"/>
          </p:cNvSpPr>
          <p:nvPr>
            <p:ph type="sldNum" sz="quarter" idx="10"/>
          </p:nvPr>
        </p:nvSpPr>
        <p:spPr/>
        <p:txBody>
          <a:bodyPr/>
          <a:lstStyle/>
          <a:p>
            <a:fld id="{ADE8113E-CB0B-4BF4-8ED2-97A1E948D8C8}" type="slidenum">
              <a:rPr lang="en-IN" smtClean="0"/>
              <a:t>15</a:t>
            </a:fld>
            <a:endParaRPr lang="en-IN"/>
          </a:p>
        </p:txBody>
      </p:sp>
    </p:spTree>
    <p:extLst>
      <p:ext uri="{BB962C8B-B14F-4D97-AF65-F5344CB8AC3E}">
        <p14:creationId xmlns:p14="http://schemas.microsoft.com/office/powerpoint/2010/main" val="2872819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3AB8DD5-EFE9-4F76-8EEF-D8D275C04278}"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3421926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3AB8DD5-EFE9-4F76-8EEF-D8D275C04278}"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2530618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AB8DD5-EFE9-4F76-8EEF-D8D275C04278}"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1588115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3AB8DD5-EFE9-4F76-8EEF-D8D275C04278}"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503378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3AB8DD5-EFE9-4F76-8EEF-D8D275C04278}"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264853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3AB8DD5-EFE9-4F76-8EEF-D8D275C04278}"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3191750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AB8DD5-EFE9-4F76-8EEF-D8D275C04278}"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3795386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B8DD5-EFE9-4F76-8EEF-D8D275C04278}"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4223449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B8DD5-EFE9-4F76-8EEF-D8D275C04278}"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994454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3AB8DD5-EFE9-4F76-8EEF-D8D275C04278}"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3470440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3AB8DD5-EFE9-4F76-8EEF-D8D275C04278}"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CC6870-9700-4D16-9F25-EB4F407E4955}" type="slidenum">
              <a:rPr lang="en-IN" smtClean="0"/>
              <a:t>‹#›</a:t>
            </a:fld>
            <a:endParaRPr lang="en-IN"/>
          </a:p>
        </p:txBody>
      </p:sp>
    </p:spTree>
    <p:extLst>
      <p:ext uri="{BB962C8B-B14F-4D97-AF65-F5344CB8AC3E}">
        <p14:creationId xmlns:p14="http://schemas.microsoft.com/office/powerpoint/2010/main" val="1504220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AB8DD5-EFE9-4F76-8EEF-D8D275C04278}"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CC6870-9700-4D16-9F25-EB4F407E4955}" type="slidenum">
              <a:rPr lang="en-IN" smtClean="0"/>
              <a:t>‹#›</a:t>
            </a:fld>
            <a:endParaRPr lang="en-IN"/>
          </a:p>
        </p:txBody>
      </p:sp>
    </p:spTree>
    <p:extLst>
      <p:ext uri="{BB962C8B-B14F-4D97-AF65-F5344CB8AC3E}">
        <p14:creationId xmlns:p14="http://schemas.microsoft.com/office/powerpoint/2010/main" val="4276959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1"/>
          <p:cNvSpPr/>
          <p:nvPr/>
        </p:nvSpPr>
        <p:spPr>
          <a:xfrm>
            <a:off x="0" y="0"/>
            <a:ext cx="12191695" cy="685800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2"/>
          <p:cNvSpPr/>
          <p:nvPr/>
        </p:nvSpPr>
        <p:spPr>
          <a:xfrm>
            <a:off x="0" y="0"/>
            <a:ext cx="12191695" cy="54864"/>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3"/>
          <p:cNvSpPr txBox="1"/>
          <p:nvPr/>
        </p:nvSpPr>
        <p:spPr>
          <a:xfrm>
            <a:off x="731520" y="1600200"/>
            <a:ext cx="10058400" cy="320040"/>
          </a:xfrm>
          <a:prstGeom prst="rect">
            <a:avLst/>
          </a:prstGeom>
          <a:noFill/>
        </p:spPr>
        <p:txBody>
          <a:bodyPr vert="horz" wrap="square" lIns="0" tIns="0" rIns="0" bIns="0" rtlCol="0" anchor="t">
            <a:noAutofit/>
          </a:bodyPr>
          <a:lstStyle/>
          <a:p>
            <a:r>
              <a:rPr lang="en-IN" sz="1200" b="1">
                <a:solidFill>
                  <a:srgbClr val="93C3CD"/>
                </a:solidFill>
                <a:latin typeface="Raleway" pitchFamily="2" charset="0"/>
              </a:rPr>
              <a:t>SOLUTION FACTORY  |  REFERENCE ARCHITECTURE</a:t>
            </a:r>
          </a:p>
        </p:txBody>
      </p:sp>
      <p:sp>
        <p:nvSpPr>
          <p:cNvPr id="5" name="rd4"/>
          <p:cNvSpPr txBox="1"/>
          <p:nvPr/>
        </p:nvSpPr>
        <p:spPr>
          <a:xfrm>
            <a:off x="731520" y="1965960"/>
            <a:ext cx="10515600" cy="914400"/>
          </a:xfrm>
          <a:prstGeom prst="rect">
            <a:avLst/>
          </a:prstGeom>
          <a:noFill/>
        </p:spPr>
        <p:txBody>
          <a:bodyPr vert="horz" wrap="square" lIns="0" tIns="0" rIns="0" bIns="0" rtlCol="0" anchor="ctr">
            <a:noAutofit/>
          </a:bodyPr>
          <a:lstStyle/>
          <a:p>
            <a:r>
              <a:rPr lang="en-IN" sz="4800" b="1">
                <a:solidFill>
                  <a:srgbClr val="FFFFFF"/>
                </a:solidFill>
                <a:latin typeface="Raleway" pitchFamily="2" charset="0"/>
              </a:rPr>
              <a:t>Data Insights Factory</a:t>
            </a:r>
          </a:p>
        </p:txBody>
      </p:sp>
      <p:sp>
        <p:nvSpPr>
          <p:cNvPr id="6" name="rd5"/>
          <p:cNvSpPr txBox="1"/>
          <p:nvPr/>
        </p:nvSpPr>
        <p:spPr>
          <a:xfrm>
            <a:off x="731520" y="2926080"/>
            <a:ext cx="9601200" cy="822960"/>
          </a:xfrm>
          <a:prstGeom prst="rect">
            <a:avLst/>
          </a:prstGeom>
          <a:noFill/>
        </p:spPr>
        <p:txBody>
          <a:bodyPr vert="horz" wrap="square" lIns="0" tIns="0" rIns="0" bIns="0" rtlCol="0" anchor="t">
            <a:noAutofit/>
          </a:bodyPr>
          <a:lstStyle/>
          <a:p>
            <a:r>
              <a:rPr lang="en-US">
                <a:solidFill>
                  <a:srgbClr val="93C3CD"/>
                </a:solidFill>
                <a:latin typeface="Raleway" pitchFamily="2" charset="0"/>
              </a:rPr>
              <a:t>Control flow and component architecture, from business use case to demo-ready conversational experience</a:t>
            </a:r>
            <a:endParaRPr lang="en-IN">
              <a:solidFill>
                <a:srgbClr val="93C3CD"/>
              </a:solidFill>
              <a:latin typeface="Raleway" pitchFamily="2" charset="0"/>
            </a:endParaRPr>
          </a:p>
        </p:txBody>
      </p:sp>
      <p:sp>
        <p:nvSpPr>
          <p:cNvPr id="7" name="rd6"/>
          <p:cNvSpPr/>
          <p:nvPr/>
        </p:nvSpPr>
        <p:spPr>
          <a:xfrm>
            <a:off x="731520" y="3931920"/>
            <a:ext cx="1097280" cy="4572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8" name="rd7"/>
          <p:cNvSpPr txBox="1"/>
          <p:nvPr/>
        </p:nvSpPr>
        <p:spPr>
          <a:xfrm>
            <a:off x="731520" y="4114800"/>
            <a:ext cx="5486400" cy="274320"/>
          </a:xfrm>
          <a:prstGeom prst="rect">
            <a:avLst/>
          </a:prstGeom>
          <a:noFill/>
        </p:spPr>
        <p:txBody>
          <a:bodyPr vert="horz" wrap="square" lIns="0" tIns="0" rIns="0" bIns="0" rtlCol="0" anchor="t">
            <a:noAutofit/>
          </a:bodyPr>
          <a:lstStyle/>
          <a:p>
            <a:r>
              <a:rPr lang="en-IN" sz="1200">
                <a:solidFill>
                  <a:srgbClr val="E6E1CC"/>
                </a:solidFill>
                <a:latin typeface="Raleway" pitchFamily="2" charset="0"/>
              </a:rPr>
              <a:t>September 2026</a:t>
            </a:r>
          </a:p>
        </p:txBody>
      </p:sp>
      <p:sp>
        <p:nvSpPr>
          <p:cNvPr id="9" name="rd8"/>
          <p:cNvSpPr/>
          <p:nvPr/>
        </p:nvSpPr>
        <p:spPr>
          <a:xfrm>
            <a:off x="731520" y="5074920"/>
            <a:ext cx="1828800" cy="502920"/>
          </a:xfrm>
          <a:prstGeom prst="roundRect">
            <a:avLst>
              <a:gd name="adj" fmla="val 3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100" b="1">
                <a:solidFill>
                  <a:srgbClr val="FFFFFF"/>
                </a:solidFill>
                <a:latin typeface="Raleway" pitchFamily="2" charset="0"/>
              </a:rPr>
              <a:t>Business use case</a:t>
            </a:r>
          </a:p>
        </p:txBody>
      </p:sp>
      <p:sp>
        <p:nvSpPr>
          <p:cNvPr id="10" name="rd9"/>
          <p:cNvSpPr/>
          <p:nvPr/>
        </p:nvSpPr>
        <p:spPr>
          <a:xfrm>
            <a:off x="2971800" y="5074920"/>
            <a:ext cx="1828800" cy="502920"/>
          </a:xfrm>
          <a:prstGeom prst="roundRect">
            <a:avLst>
              <a:gd name="adj" fmla="val 3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100" b="1">
                <a:solidFill>
                  <a:srgbClr val="FFFFFF"/>
                </a:solidFill>
                <a:latin typeface="Raleway" pitchFamily="2" charset="0"/>
              </a:rPr>
              <a:t>Experience + knowledge</a:t>
            </a:r>
          </a:p>
        </p:txBody>
      </p:sp>
      <p:cxnSp>
        <p:nvCxnSpPr>
          <p:cNvPr id="11" name="rd10"/>
          <p:cNvCxnSpPr/>
          <p:nvPr/>
        </p:nvCxnSpPr>
        <p:spPr>
          <a:xfrm>
            <a:off x="2606040" y="5326380"/>
            <a:ext cx="320040" cy="0"/>
          </a:xfrm>
          <a:prstGeom prst="line">
            <a:avLst/>
          </a:prstGeom>
          <a:ln w="19050">
            <a:solidFill>
              <a:srgbClr val="93C3CD"/>
            </a:solidFill>
            <a:tailEnd type="triangle" w="med" len="med"/>
          </a:ln>
        </p:spPr>
        <p:style>
          <a:lnRef idx="1">
            <a:schemeClr val="accent1"/>
          </a:lnRef>
          <a:fillRef idx="0">
            <a:schemeClr val="accent1"/>
          </a:fillRef>
          <a:effectRef idx="0">
            <a:schemeClr val="accent1"/>
          </a:effectRef>
          <a:fontRef idx="minor">
            <a:schemeClr val="tx1"/>
          </a:fontRef>
        </p:style>
      </p:cxnSp>
      <p:sp>
        <p:nvSpPr>
          <p:cNvPr id="12" name="rd11"/>
          <p:cNvSpPr/>
          <p:nvPr/>
        </p:nvSpPr>
        <p:spPr>
          <a:xfrm>
            <a:off x="5212080" y="5074920"/>
            <a:ext cx="1828800" cy="502920"/>
          </a:xfrm>
          <a:prstGeom prst="roundRect">
            <a:avLst>
              <a:gd name="adj" fmla="val 3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100" b="1">
                <a:solidFill>
                  <a:srgbClr val="FFFFFF"/>
                </a:solidFill>
                <a:latin typeface="Raleway" pitchFamily="2" charset="0"/>
              </a:rPr>
              <a:t>Insights API</a:t>
            </a:r>
          </a:p>
        </p:txBody>
      </p:sp>
      <p:cxnSp>
        <p:nvCxnSpPr>
          <p:cNvPr id="13" name="rd12"/>
          <p:cNvCxnSpPr/>
          <p:nvPr/>
        </p:nvCxnSpPr>
        <p:spPr>
          <a:xfrm>
            <a:off x="4846320" y="5326380"/>
            <a:ext cx="320040" cy="0"/>
          </a:xfrm>
          <a:prstGeom prst="line">
            <a:avLst/>
          </a:prstGeom>
          <a:ln w="19050">
            <a:solidFill>
              <a:srgbClr val="93C3CD"/>
            </a:solidFill>
            <a:tailEnd type="triangle" w="med" len="med"/>
          </a:ln>
        </p:spPr>
        <p:style>
          <a:lnRef idx="1">
            <a:schemeClr val="accent1"/>
          </a:lnRef>
          <a:fillRef idx="0">
            <a:schemeClr val="accent1"/>
          </a:fillRef>
          <a:effectRef idx="0">
            <a:schemeClr val="accent1"/>
          </a:effectRef>
          <a:fontRef idx="minor">
            <a:schemeClr val="tx1"/>
          </a:fontRef>
        </p:style>
      </p:cxnSp>
      <p:sp>
        <p:nvSpPr>
          <p:cNvPr id="14" name="rd13"/>
          <p:cNvSpPr/>
          <p:nvPr/>
        </p:nvSpPr>
        <p:spPr>
          <a:xfrm>
            <a:off x="7452360" y="5074920"/>
            <a:ext cx="1828800" cy="502920"/>
          </a:xfrm>
          <a:prstGeom prst="roundRect">
            <a:avLst>
              <a:gd name="adj" fmla="val 3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100" b="1">
                <a:solidFill>
                  <a:srgbClr val="FFFFFF"/>
                </a:solidFill>
                <a:latin typeface="Raleway" pitchFamily="2" charset="0"/>
              </a:rPr>
              <a:t>LLM workflow</a:t>
            </a:r>
          </a:p>
        </p:txBody>
      </p:sp>
      <p:cxnSp>
        <p:nvCxnSpPr>
          <p:cNvPr id="15" name="rd14"/>
          <p:cNvCxnSpPr/>
          <p:nvPr/>
        </p:nvCxnSpPr>
        <p:spPr>
          <a:xfrm>
            <a:off x="7086600" y="5326380"/>
            <a:ext cx="320040" cy="0"/>
          </a:xfrm>
          <a:prstGeom prst="line">
            <a:avLst/>
          </a:prstGeom>
          <a:ln w="19050">
            <a:solidFill>
              <a:srgbClr val="93C3CD"/>
            </a:solidFill>
            <a:tailEnd type="triangle" w="med" len="med"/>
          </a:ln>
        </p:spPr>
        <p:style>
          <a:lnRef idx="1">
            <a:schemeClr val="accent1"/>
          </a:lnRef>
          <a:fillRef idx="0">
            <a:schemeClr val="accent1"/>
          </a:fillRef>
          <a:effectRef idx="0">
            <a:schemeClr val="accent1"/>
          </a:effectRef>
          <a:fontRef idx="minor">
            <a:schemeClr val="tx1"/>
          </a:fontRef>
        </p:style>
      </p:cxnSp>
      <p:sp>
        <p:nvSpPr>
          <p:cNvPr id="16" name="rd15"/>
          <p:cNvSpPr/>
          <p:nvPr/>
        </p:nvSpPr>
        <p:spPr>
          <a:xfrm>
            <a:off x="9692640" y="5074920"/>
            <a:ext cx="1828800" cy="502920"/>
          </a:xfrm>
          <a:prstGeom prst="roundRect">
            <a:avLst>
              <a:gd name="adj" fmla="val 3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100" b="1">
                <a:solidFill>
                  <a:srgbClr val="FFFFFF"/>
                </a:solidFill>
                <a:latin typeface="Raleway" pitchFamily="2" charset="0"/>
              </a:rPr>
              <a:t>GenUI experience</a:t>
            </a:r>
          </a:p>
        </p:txBody>
      </p:sp>
      <p:cxnSp>
        <p:nvCxnSpPr>
          <p:cNvPr id="17" name="rd16"/>
          <p:cNvCxnSpPr/>
          <p:nvPr/>
        </p:nvCxnSpPr>
        <p:spPr>
          <a:xfrm>
            <a:off x="9326880" y="5326380"/>
            <a:ext cx="320040" cy="0"/>
          </a:xfrm>
          <a:prstGeom prst="line">
            <a:avLst/>
          </a:prstGeom>
          <a:ln w="19050">
            <a:solidFill>
              <a:srgbClr val="93C3CD"/>
            </a:solidFill>
            <a:tailEnd type="triangle" w="med" len="med"/>
          </a:ln>
        </p:spPr>
        <p:style>
          <a:lnRef idx="1">
            <a:schemeClr val="accent1"/>
          </a:lnRef>
          <a:fillRef idx="0">
            <a:schemeClr val="accent1"/>
          </a:fillRef>
          <a:effectRef idx="0">
            <a:schemeClr val="accent1"/>
          </a:effectRef>
          <a:fontRef idx="minor">
            <a:schemeClr val="tx1"/>
          </a:fontRef>
        </p:style>
      </p:cxnSp>
      <p:sp>
        <p:nvSpPr>
          <p:cNvPr id="18" name="rd17"/>
          <p:cNvSpPr/>
          <p:nvPr/>
        </p:nvSpPr>
        <p:spPr>
          <a:xfrm>
            <a:off x="0" y="6565392"/>
            <a:ext cx="12191695" cy="292608"/>
          </a:xfrm>
          <a:prstGeom prst="rect">
            <a:avLst/>
          </a:prstGeom>
          <a:solidFill>
            <a:srgbClr val="0D3D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9" name="rd18"/>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Radiant Digital  •  Confidential  •  All Rights Reserved  •  2026</a:t>
            </a:r>
            <a:endParaRPr lang="en-IN" sz="700">
              <a:solidFill>
                <a:srgbClr val="FFFFFF"/>
              </a:solidFill>
              <a:latin typeface="Raleway" pitchFamily="2" charset="0"/>
            </a:endParaRPr>
          </a:p>
        </p:txBody>
      </p:sp>
      <p:pic>
        <p:nvPicPr>
          <p:cNvPr id="20" name="rd1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Tree>
    <p:extLst>
      <p:ext uri="{BB962C8B-B14F-4D97-AF65-F5344CB8AC3E}">
        <p14:creationId xmlns:p14="http://schemas.microsoft.com/office/powerpoint/2010/main" val="167766623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par>
                          <p:cTn id="8" fill="hold">
                            <p:stCondLst>
                              <p:cond delay="35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250"/>
                                        <p:tgtEl>
                                          <p:spTgt spid="11"/>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50"/>
                                        <p:tgtEl>
                                          <p:spTgt spid="10"/>
                                        </p:tgtEl>
                                      </p:cBhvr>
                                    </p:animEffect>
                                  </p:childTnLst>
                                </p:cTn>
                              </p:par>
                            </p:childTnLst>
                          </p:cTn>
                        </p:par>
                        <p:par>
                          <p:cTn id="16" fill="hold">
                            <p:stCondLst>
                              <p:cond delay="950"/>
                            </p:stCondLst>
                            <p:childTnLst>
                              <p:par>
                                <p:cTn id="17" presetID="22" presetClass="entr" presetSubtype="8"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250"/>
                                        <p:tgtEl>
                                          <p:spTgt spid="13"/>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1550"/>
                            </p:stCondLst>
                            <p:childTnLst>
                              <p:par>
                                <p:cTn id="25" presetID="22" presetClass="entr" presetSubtype="8"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250"/>
                                        <p:tgtEl>
                                          <p:spTgt spid="15"/>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50"/>
                                        <p:tgtEl>
                                          <p:spTgt spid="14"/>
                                        </p:tgtEl>
                                      </p:cBhvr>
                                    </p:animEffect>
                                  </p:childTnLst>
                                </p:cTn>
                              </p:par>
                            </p:childTnLst>
                          </p:cTn>
                        </p:par>
                        <p:par>
                          <p:cTn id="32" fill="hold">
                            <p:stCondLst>
                              <p:cond delay="2150"/>
                            </p:stCondLst>
                            <p:childTnLst>
                              <p:par>
                                <p:cTn id="33" presetID="22" presetClass="entr" presetSubtype="8"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250"/>
                                        <p:tgtEl>
                                          <p:spTgt spid="17"/>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20"/>
          <p:cNvSpPr/>
          <p:nvPr/>
        </p:nvSpPr>
        <p:spPr>
          <a:xfrm>
            <a:off x="0" y="0"/>
            <a:ext cx="4572000" cy="685800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21"/>
          <p:cNvSpPr txBox="1"/>
          <p:nvPr/>
        </p:nvSpPr>
        <p:spPr>
          <a:xfrm>
            <a:off x="365760" y="548640"/>
            <a:ext cx="3840480" cy="548640"/>
          </a:xfrm>
          <a:prstGeom prst="rect">
            <a:avLst/>
          </a:prstGeom>
          <a:noFill/>
        </p:spPr>
        <p:txBody>
          <a:bodyPr vert="horz" wrap="square" lIns="0" tIns="0" rIns="0" bIns="0" rtlCol="0" anchor="t">
            <a:noAutofit/>
          </a:bodyPr>
          <a:lstStyle/>
          <a:p>
            <a:r>
              <a:rPr lang="en-IN" sz="2000" b="1">
                <a:solidFill>
                  <a:srgbClr val="0596AE"/>
                </a:solidFill>
                <a:latin typeface="Raleway" pitchFamily="2" charset="0"/>
              </a:rPr>
              <a:t>Contents</a:t>
            </a:r>
          </a:p>
        </p:txBody>
      </p:sp>
      <p:sp>
        <p:nvSpPr>
          <p:cNvPr id="4" name="rd22"/>
          <p:cNvSpPr/>
          <p:nvPr/>
        </p:nvSpPr>
        <p:spPr>
          <a:xfrm>
            <a:off x="365760" y="1325880"/>
            <a:ext cx="320040" cy="32004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a:solidFill>
                  <a:srgbClr val="FFFFFF"/>
                </a:solidFill>
                <a:latin typeface="Raleway" pitchFamily="2" charset="0"/>
              </a:rPr>
              <a:t>01</a:t>
            </a:r>
          </a:p>
        </p:txBody>
      </p:sp>
      <p:sp>
        <p:nvSpPr>
          <p:cNvPr id="5" name="rd23"/>
          <p:cNvSpPr txBox="1"/>
          <p:nvPr/>
        </p:nvSpPr>
        <p:spPr>
          <a:xfrm>
            <a:off x="822960" y="1280160"/>
            <a:ext cx="3017520" cy="411480"/>
          </a:xfrm>
          <a:prstGeom prst="rect">
            <a:avLst/>
          </a:prstGeom>
          <a:noFill/>
        </p:spPr>
        <p:txBody>
          <a:bodyPr vert="horz" wrap="square" lIns="0" tIns="0" rIns="0" bIns="0" rtlCol="0" anchor="ctr">
            <a:noAutofit/>
          </a:bodyPr>
          <a:lstStyle/>
          <a:p>
            <a:r>
              <a:rPr lang="en-US" sz="1300">
                <a:solidFill>
                  <a:srgbClr val="FFFFFF"/>
                </a:solidFill>
                <a:latin typeface="Raleway" pitchFamily="2" charset="0"/>
              </a:rPr>
              <a:t>Two planes: build time and runtime</a:t>
            </a:r>
            <a:endParaRPr lang="en-IN" sz="1300">
              <a:solidFill>
                <a:srgbClr val="FFFFFF"/>
              </a:solidFill>
              <a:latin typeface="Raleway" pitchFamily="2" charset="0"/>
            </a:endParaRPr>
          </a:p>
        </p:txBody>
      </p:sp>
      <p:sp>
        <p:nvSpPr>
          <p:cNvPr id="6" name="rd24"/>
          <p:cNvSpPr txBox="1"/>
          <p:nvPr/>
        </p:nvSpPr>
        <p:spPr>
          <a:xfrm>
            <a:off x="3840480" y="1280160"/>
            <a:ext cx="457200" cy="411480"/>
          </a:xfrm>
          <a:prstGeom prst="rect">
            <a:avLst/>
          </a:prstGeom>
          <a:noFill/>
        </p:spPr>
        <p:txBody>
          <a:bodyPr vert="horz" wrap="square" lIns="0" tIns="0" rIns="0" bIns="0" rtlCol="0" anchor="ctr">
            <a:noAutofit/>
          </a:bodyPr>
          <a:lstStyle/>
          <a:p>
            <a:pPr algn="r"/>
            <a:r>
              <a:rPr lang="en-IN" sz="1100">
                <a:solidFill>
                  <a:srgbClr val="93C3CD"/>
                </a:solidFill>
                <a:latin typeface="Raleway" pitchFamily="2" charset="0"/>
              </a:rPr>
              <a:t>3</a:t>
            </a:r>
          </a:p>
        </p:txBody>
      </p:sp>
      <p:sp>
        <p:nvSpPr>
          <p:cNvPr id="7" name="rd25"/>
          <p:cNvSpPr/>
          <p:nvPr/>
        </p:nvSpPr>
        <p:spPr>
          <a:xfrm>
            <a:off x="365760" y="2011680"/>
            <a:ext cx="320040" cy="32004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a:solidFill>
                  <a:srgbClr val="FFFFFF"/>
                </a:solidFill>
                <a:latin typeface="Raleway" pitchFamily="2" charset="0"/>
              </a:rPr>
              <a:t>02</a:t>
            </a:r>
          </a:p>
        </p:txBody>
      </p:sp>
      <p:sp>
        <p:nvSpPr>
          <p:cNvPr id="8" name="rd26"/>
          <p:cNvSpPr txBox="1"/>
          <p:nvPr/>
        </p:nvSpPr>
        <p:spPr>
          <a:xfrm>
            <a:off x="822960" y="1965960"/>
            <a:ext cx="3017520" cy="411480"/>
          </a:xfrm>
          <a:prstGeom prst="rect">
            <a:avLst/>
          </a:prstGeom>
          <a:noFill/>
        </p:spPr>
        <p:txBody>
          <a:bodyPr vert="horz" wrap="square" lIns="0" tIns="0" rIns="0" bIns="0" rtlCol="0" anchor="ctr">
            <a:noAutofit/>
          </a:bodyPr>
          <a:lstStyle/>
          <a:p>
            <a:r>
              <a:rPr lang="en-IN" sz="1300">
                <a:solidFill>
                  <a:srgbClr val="FFFFFF"/>
                </a:solidFill>
                <a:latin typeface="Raleway" pitchFamily="2" charset="0"/>
              </a:rPr>
              <a:t>End-to-end control flow</a:t>
            </a:r>
          </a:p>
        </p:txBody>
      </p:sp>
      <p:sp>
        <p:nvSpPr>
          <p:cNvPr id="9" name="rd27"/>
          <p:cNvSpPr txBox="1"/>
          <p:nvPr/>
        </p:nvSpPr>
        <p:spPr>
          <a:xfrm>
            <a:off x="3840480" y="1965960"/>
            <a:ext cx="457200" cy="411480"/>
          </a:xfrm>
          <a:prstGeom prst="rect">
            <a:avLst/>
          </a:prstGeom>
          <a:noFill/>
        </p:spPr>
        <p:txBody>
          <a:bodyPr vert="horz" wrap="square" lIns="0" tIns="0" rIns="0" bIns="0" rtlCol="0" anchor="ctr">
            <a:noAutofit/>
          </a:bodyPr>
          <a:lstStyle/>
          <a:p>
            <a:pPr algn="r"/>
            <a:r>
              <a:rPr lang="en-IN" sz="1100">
                <a:solidFill>
                  <a:srgbClr val="93C3CD"/>
                </a:solidFill>
                <a:latin typeface="Raleway" pitchFamily="2" charset="0"/>
              </a:rPr>
              <a:t>4</a:t>
            </a:r>
          </a:p>
        </p:txBody>
      </p:sp>
      <p:sp>
        <p:nvSpPr>
          <p:cNvPr id="10" name="rd28"/>
          <p:cNvSpPr/>
          <p:nvPr/>
        </p:nvSpPr>
        <p:spPr>
          <a:xfrm>
            <a:off x="365760" y="2697480"/>
            <a:ext cx="320040" cy="32004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a:solidFill>
                  <a:srgbClr val="FFFFFF"/>
                </a:solidFill>
                <a:latin typeface="Raleway" pitchFamily="2" charset="0"/>
              </a:rPr>
              <a:t>03</a:t>
            </a:r>
          </a:p>
        </p:txBody>
      </p:sp>
      <p:sp>
        <p:nvSpPr>
          <p:cNvPr id="11" name="rd29"/>
          <p:cNvSpPr txBox="1"/>
          <p:nvPr/>
        </p:nvSpPr>
        <p:spPr>
          <a:xfrm>
            <a:off x="822960" y="2651760"/>
            <a:ext cx="3017520" cy="411480"/>
          </a:xfrm>
          <a:prstGeom prst="rect">
            <a:avLst/>
          </a:prstGeom>
          <a:noFill/>
        </p:spPr>
        <p:txBody>
          <a:bodyPr vert="horz" wrap="square" lIns="0" tIns="0" rIns="0" bIns="0" rtlCol="0" anchor="ctr">
            <a:noAutofit/>
          </a:bodyPr>
          <a:lstStyle/>
          <a:p>
            <a:r>
              <a:rPr lang="en-IN" sz="1300">
                <a:solidFill>
                  <a:srgbClr val="FFFFFF"/>
                </a:solidFill>
                <a:latin typeface="Raleway" pitchFamily="2" charset="0"/>
              </a:rPr>
              <a:t>Hand-offs, step by step</a:t>
            </a:r>
          </a:p>
        </p:txBody>
      </p:sp>
      <p:sp>
        <p:nvSpPr>
          <p:cNvPr id="12" name="rd30"/>
          <p:cNvSpPr txBox="1"/>
          <p:nvPr/>
        </p:nvSpPr>
        <p:spPr>
          <a:xfrm>
            <a:off x="3840480" y="2651760"/>
            <a:ext cx="457200" cy="411480"/>
          </a:xfrm>
          <a:prstGeom prst="rect">
            <a:avLst/>
          </a:prstGeom>
          <a:noFill/>
        </p:spPr>
        <p:txBody>
          <a:bodyPr vert="horz" wrap="square" lIns="0" tIns="0" rIns="0" bIns="0" rtlCol="0" anchor="ctr">
            <a:noAutofit/>
          </a:bodyPr>
          <a:lstStyle/>
          <a:p>
            <a:pPr algn="r"/>
            <a:r>
              <a:rPr lang="en-IN" sz="1100">
                <a:solidFill>
                  <a:srgbClr val="93C3CD"/>
                </a:solidFill>
                <a:latin typeface="Raleway" pitchFamily="2" charset="0"/>
              </a:rPr>
              <a:t>5</a:t>
            </a:r>
          </a:p>
        </p:txBody>
      </p:sp>
      <p:sp>
        <p:nvSpPr>
          <p:cNvPr id="13" name="rd31"/>
          <p:cNvSpPr/>
          <p:nvPr/>
        </p:nvSpPr>
        <p:spPr>
          <a:xfrm>
            <a:off x="365760" y="3383280"/>
            <a:ext cx="320040" cy="32004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a:solidFill>
                  <a:srgbClr val="FFFFFF"/>
                </a:solidFill>
                <a:latin typeface="Raleway" pitchFamily="2" charset="0"/>
              </a:rPr>
              <a:t>04</a:t>
            </a:r>
          </a:p>
        </p:txBody>
      </p:sp>
      <p:sp>
        <p:nvSpPr>
          <p:cNvPr id="14" name="rd32"/>
          <p:cNvSpPr txBox="1"/>
          <p:nvPr/>
        </p:nvSpPr>
        <p:spPr>
          <a:xfrm>
            <a:off x="822960" y="3337560"/>
            <a:ext cx="3017520" cy="411480"/>
          </a:xfrm>
          <a:prstGeom prst="rect">
            <a:avLst/>
          </a:prstGeom>
          <a:noFill/>
        </p:spPr>
        <p:txBody>
          <a:bodyPr vert="horz" wrap="square" lIns="0" tIns="0" rIns="0" bIns="0" rtlCol="0" anchor="ctr">
            <a:noAutofit/>
          </a:bodyPr>
          <a:lstStyle/>
          <a:p>
            <a:r>
              <a:rPr lang="en-IN" sz="1300">
                <a:solidFill>
                  <a:srgbClr val="FFFFFF"/>
                </a:solidFill>
                <a:latin typeface="Raleway" pitchFamily="2" charset="0"/>
              </a:rPr>
              <a:t>Runtime request lifecycle</a:t>
            </a:r>
          </a:p>
        </p:txBody>
      </p:sp>
      <p:sp>
        <p:nvSpPr>
          <p:cNvPr id="15" name="rd33"/>
          <p:cNvSpPr txBox="1"/>
          <p:nvPr/>
        </p:nvSpPr>
        <p:spPr>
          <a:xfrm>
            <a:off x="3840480" y="3337560"/>
            <a:ext cx="457200" cy="411480"/>
          </a:xfrm>
          <a:prstGeom prst="rect">
            <a:avLst/>
          </a:prstGeom>
          <a:noFill/>
        </p:spPr>
        <p:txBody>
          <a:bodyPr vert="horz" wrap="square" lIns="0" tIns="0" rIns="0" bIns="0" rtlCol="0" anchor="ctr">
            <a:noAutofit/>
          </a:bodyPr>
          <a:lstStyle/>
          <a:p>
            <a:pPr algn="r"/>
            <a:r>
              <a:rPr lang="en-IN" sz="1100">
                <a:solidFill>
                  <a:srgbClr val="93C3CD"/>
                </a:solidFill>
                <a:latin typeface="Raleway" pitchFamily="2" charset="0"/>
              </a:rPr>
              <a:t>6</a:t>
            </a:r>
          </a:p>
        </p:txBody>
      </p:sp>
      <p:sp>
        <p:nvSpPr>
          <p:cNvPr id="16" name="rd34"/>
          <p:cNvSpPr/>
          <p:nvPr/>
        </p:nvSpPr>
        <p:spPr>
          <a:xfrm>
            <a:off x="365760" y="4069080"/>
            <a:ext cx="320040" cy="32004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a:solidFill>
                  <a:srgbClr val="FFFFFF"/>
                </a:solidFill>
                <a:latin typeface="Raleway" pitchFamily="2" charset="0"/>
              </a:rPr>
              <a:t>05</a:t>
            </a:r>
          </a:p>
        </p:txBody>
      </p:sp>
      <p:sp>
        <p:nvSpPr>
          <p:cNvPr id="17" name="rd35"/>
          <p:cNvSpPr txBox="1"/>
          <p:nvPr/>
        </p:nvSpPr>
        <p:spPr>
          <a:xfrm>
            <a:off x="822960" y="4023360"/>
            <a:ext cx="3017520" cy="411480"/>
          </a:xfrm>
          <a:prstGeom prst="rect">
            <a:avLst/>
          </a:prstGeom>
          <a:noFill/>
        </p:spPr>
        <p:txBody>
          <a:bodyPr vert="horz" wrap="square" lIns="0" tIns="0" rIns="0" bIns="0" rtlCol="0" anchor="ctr">
            <a:noAutofit/>
          </a:bodyPr>
          <a:lstStyle/>
          <a:p>
            <a:r>
              <a:rPr lang="en-IN" sz="1300">
                <a:solidFill>
                  <a:srgbClr val="FFFFFF"/>
                </a:solidFill>
                <a:latin typeface="Raleway" pitchFamily="2" charset="0"/>
              </a:rPr>
              <a:t>Component architecture</a:t>
            </a:r>
          </a:p>
        </p:txBody>
      </p:sp>
      <p:sp>
        <p:nvSpPr>
          <p:cNvPr id="18" name="rd36"/>
          <p:cNvSpPr txBox="1"/>
          <p:nvPr/>
        </p:nvSpPr>
        <p:spPr>
          <a:xfrm>
            <a:off x="3840480" y="4023360"/>
            <a:ext cx="457200" cy="411480"/>
          </a:xfrm>
          <a:prstGeom prst="rect">
            <a:avLst/>
          </a:prstGeom>
          <a:noFill/>
        </p:spPr>
        <p:txBody>
          <a:bodyPr vert="horz" wrap="square" lIns="0" tIns="0" rIns="0" bIns="0" rtlCol="0" anchor="ctr">
            <a:noAutofit/>
          </a:bodyPr>
          <a:lstStyle/>
          <a:p>
            <a:pPr algn="r"/>
            <a:r>
              <a:rPr lang="en-IN" sz="1100">
                <a:solidFill>
                  <a:srgbClr val="93C3CD"/>
                </a:solidFill>
                <a:latin typeface="Raleway" pitchFamily="2" charset="0"/>
              </a:rPr>
              <a:t>7</a:t>
            </a:r>
          </a:p>
        </p:txBody>
      </p:sp>
      <p:sp>
        <p:nvSpPr>
          <p:cNvPr id="19" name="rd37"/>
          <p:cNvSpPr/>
          <p:nvPr/>
        </p:nvSpPr>
        <p:spPr>
          <a:xfrm>
            <a:off x="365760" y="4754880"/>
            <a:ext cx="320040" cy="32004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00" b="1">
                <a:solidFill>
                  <a:srgbClr val="FFFFFF"/>
                </a:solidFill>
                <a:latin typeface="Raleway" pitchFamily="2" charset="0"/>
              </a:rPr>
              <a:t>06</a:t>
            </a:r>
          </a:p>
        </p:txBody>
      </p:sp>
      <p:sp>
        <p:nvSpPr>
          <p:cNvPr id="20" name="rd38"/>
          <p:cNvSpPr txBox="1"/>
          <p:nvPr/>
        </p:nvSpPr>
        <p:spPr>
          <a:xfrm>
            <a:off x="822960" y="4709160"/>
            <a:ext cx="3017520" cy="411480"/>
          </a:xfrm>
          <a:prstGeom prst="rect">
            <a:avLst/>
          </a:prstGeom>
          <a:noFill/>
        </p:spPr>
        <p:txBody>
          <a:bodyPr vert="horz" wrap="square" lIns="0" tIns="0" rIns="0" bIns="0" rtlCol="0" anchor="ctr">
            <a:noAutofit/>
          </a:bodyPr>
          <a:lstStyle/>
          <a:p>
            <a:r>
              <a:rPr lang="en-IN" sz="1300">
                <a:solidFill>
                  <a:srgbClr val="FFFFFF"/>
                </a:solidFill>
                <a:latin typeface="Raleway" pitchFamily="2" charset="0"/>
              </a:rPr>
              <a:t>Design principles</a:t>
            </a:r>
          </a:p>
        </p:txBody>
      </p:sp>
      <p:sp>
        <p:nvSpPr>
          <p:cNvPr id="21" name="rd39"/>
          <p:cNvSpPr txBox="1"/>
          <p:nvPr/>
        </p:nvSpPr>
        <p:spPr>
          <a:xfrm>
            <a:off x="3840480" y="4709160"/>
            <a:ext cx="457200" cy="411480"/>
          </a:xfrm>
          <a:prstGeom prst="rect">
            <a:avLst/>
          </a:prstGeom>
          <a:noFill/>
        </p:spPr>
        <p:txBody>
          <a:bodyPr vert="horz" wrap="square" lIns="0" tIns="0" rIns="0" bIns="0" rtlCol="0" anchor="ctr">
            <a:noAutofit/>
          </a:bodyPr>
          <a:lstStyle/>
          <a:p>
            <a:pPr algn="r"/>
            <a:r>
              <a:rPr lang="en-IN" sz="1100">
                <a:solidFill>
                  <a:srgbClr val="93C3CD"/>
                </a:solidFill>
                <a:latin typeface="Raleway" pitchFamily="2" charset="0"/>
              </a:rPr>
              <a:t>15</a:t>
            </a:r>
          </a:p>
        </p:txBody>
      </p:sp>
      <p:sp>
        <p:nvSpPr>
          <p:cNvPr id="22" name="rd40"/>
          <p:cNvSpPr txBox="1"/>
          <p:nvPr/>
        </p:nvSpPr>
        <p:spPr>
          <a:xfrm>
            <a:off x="4937760" y="457200"/>
            <a:ext cx="6858000" cy="640080"/>
          </a:xfrm>
          <a:prstGeom prst="rect">
            <a:avLst/>
          </a:prstGeom>
          <a:noFill/>
        </p:spPr>
        <p:txBody>
          <a:bodyPr vert="horz" wrap="square" lIns="0" tIns="0" rIns="0" bIns="0" rtlCol="0" anchor="t">
            <a:noAutofit/>
          </a:bodyPr>
          <a:lstStyle/>
          <a:p>
            <a:r>
              <a:rPr lang="en-IN" sz="3200" b="1">
                <a:solidFill>
                  <a:srgbClr val="074661"/>
                </a:solidFill>
                <a:latin typeface="Raleway" pitchFamily="2" charset="0"/>
              </a:rPr>
              <a:t>Agenda</a:t>
            </a:r>
          </a:p>
        </p:txBody>
      </p:sp>
      <p:sp>
        <p:nvSpPr>
          <p:cNvPr id="23" name="rd41"/>
          <p:cNvSpPr txBox="1"/>
          <p:nvPr/>
        </p:nvSpPr>
        <p:spPr>
          <a:xfrm>
            <a:off x="4937760" y="1188720"/>
            <a:ext cx="6766560" cy="365760"/>
          </a:xfrm>
          <a:prstGeom prst="rect">
            <a:avLst/>
          </a:prstGeom>
          <a:noFill/>
        </p:spPr>
        <p:txBody>
          <a:bodyPr vert="horz" wrap="square" lIns="0" tIns="0" rIns="0" bIns="0" rtlCol="0" anchor="t">
            <a:noAutofit/>
          </a:bodyPr>
          <a:lstStyle/>
          <a:p>
            <a:r>
              <a:rPr lang="en-US" sz="1500" b="1">
                <a:solidFill>
                  <a:srgbClr val="074661"/>
                </a:solidFill>
                <a:latin typeface="Raleway" pitchFamily="2" charset="0"/>
              </a:rPr>
              <a:t>Seven components across two planes</a:t>
            </a:r>
            <a:endParaRPr lang="en-IN" sz="1500" b="1">
              <a:solidFill>
                <a:srgbClr val="074661"/>
              </a:solidFill>
              <a:latin typeface="Raleway" pitchFamily="2" charset="0"/>
            </a:endParaRPr>
          </a:p>
        </p:txBody>
      </p:sp>
      <p:sp>
        <p:nvSpPr>
          <p:cNvPr id="24" name="rd42"/>
          <p:cNvSpPr/>
          <p:nvPr/>
        </p:nvSpPr>
        <p:spPr>
          <a:xfrm>
            <a:off x="4937760" y="1737360"/>
            <a:ext cx="3246120" cy="342900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25" name="rd43"/>
          <p:cNvSpPr txBox="1"/>
          <p:nvPr/>
        </p:nvSpPr>
        <p:spPr>
          <a:xfrm>
            <a:off x="5120640" y="1847088"/>
            <a:ext cx="27432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BUILD TIME</a:t>
            </a:r>
          </a:p>
        </p:txBody>
      </p:sp>
      <p:sp>
        <p:nvSpPr>
          <p:cNvPr id="26" name="rd44"/>
          <p:cNvSpPr/>
          <p:nvPr/>
        </p:nvSpPr>
        <p:spPr>
          <a:xfrm>
            <a:off x="5074920" y="2194560"/>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Experience Factory</a:t>
            </a:r>
          </a:p>
        </p:txBody>
      </p:sp>
      <p:sp>
        <p:nvSpPr>
          <p:cNvPr id="27" name="rd45"/>
          <p:cNvSpPr/>
          <p:nvPr/>
        </p:nvSpPr>
        <p:spPr>
          <a:xfrm>
            <a:off x="7223760" y="2395728"/>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1</a:t>
            </a:r>
          </a:p>
        </p:txBody>
      </p:sp>
      <p:sp>
        <p:nvSpPr>
          <p:cNvPr id="28" name="rd46"/>
          <p:cNvSpPr/>
          <p:nvPr/>
        </p:nvSpPr>
        <p:spPr>
          <a:xfrm>
            <a:off x="5074920" y="2907792"/>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Data Factory</a:t>
            </a:r>
          </a:p>
        </p:txBody>
      </p:sp>
      <p:sp>
        <p:nvSpPr>
          <p:cNvPr id="29" name="rd47"/>
          <p:cNvSpPr/>
          <p:nvPr/>
        </p:nvSpPr>
        <p:spPr>
          <a:xfrm>
            <a:off x="7223760" y="3108960"/>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1</a:t>
            </a:r>
          </a:p>
        </p:txBody>
      </p:sp>
      <p:sp>
        <p:nvSpPr>
          <p:cNvPr id="30" name="rd48"/>
          <p:cNvSpPr/>
          <p:nvPr/>
        </p:nvSpPr>
        <p:spPr>
          <a:xfrm>
            <a:off x="5074920" y="3621024"/>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KAG</a:t>
            </a:r>
          </a:p>
        </p:txBody>
      </p:sp>
      <p:sp>
        <p:nvSpPr>
          <p:cNvPr id="31" name="rd49"/>
          <p:cNvSpPr/>
          <p:nvPr/>
        </p:nvSpPr>
        <p:spPr>
          <a:xfrm>
            <a:off x="7223760" y="3822192"/>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2</a:t>
            </a:r>
          </a:p>
        </p:txBody>
      </p:sp>
      <p:sp>
        <p:nvSpPr>
          <p:cNvPr id="32" name="rd50"/>
          <p:cNvSpPr/>
          <p:nvPr/>
        </p:nvSpPr>
        <p:spPr>
          <a:xfrm>
            <a:off x="8412480" y="1737360"/>
            <a:ext cx="3246120" cy="342900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3" name="rd51"/>
          <p:cNvSpPr txBox="1"/>
          <p:nvPr/>
        </p:nvSpPr>
        <p:spPr>
          <a:xfrm>
            <a:off x="8595360" y="1847088"/>
            <a:ext cx="27432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RUNTIME</a:t>
            </a:r>
          </a:p>
        </p:txBody>
      </p:sp>
      <p:sp>
        <p:nvSpPr>
          <p:cNvPr id="34" name="rd52"/>
          <p:cNvSpPr/>
          <p:nvPr/>
        </p:nvSpPr>
        <p:spPr>
          <a:xfrm>
            <a:off x="8549640" y="2194560"/>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React Application</a:t>
            </a:r>
          </a:p>
        </p:txBody>
      </p:sp>
      <p:sp>
        <p:nvSpPr>
          <p:cNvPr id="35" name="rd53"/>
          <p:cNvSpPr/>
          <p:nvPr/>
        </p:nvSpPr>
        <p:spPr>
          <a:xfrm>
            <a:off x="10698480" y="2395728"/>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2</a:t>
            </a:r>
          </a:p>
        </p:txBody>
      </p:sp>
      <p:sp>
        <p:nvSpPr>
          <p:cNvPr id="36" name="rd54"/>
          <p:cNvSpPr/>
          <p:nvPr/>
        </p:nvSpPr>
        <p:spPr>
          <a:xfrm>
            <a:off x="8549640" y="2907792"/>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Insights Factory</a:t>
            </a:r>
          </a:p>
        </p:txBody>
      </p:sp>
      <p:sp>
        <p:nvSpPr>
          <p:cNvPr id="37" name="rd55"/>
          <p:cNvSpPr/>
          <p:nvPr/>
        </p:nvSpPr>
        <p:spPr>
          <a:xfrm>
            <a:off x="10698480" y="3108960"/>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2</a:t>
            </a:r>
          </a:p>
        </p:txBody>
      </p:sp>
      <p:sp>
        <p:nvSpPr>
          <p:cNvPr id="38" name="rd56"/>
          <p:cNvSpPr/>
          <p:nvPr/>
        </p:nvSpPr>
        <p:spPr>
          <a:xfrm>
            <a:off x="8549640" y="3621024"/>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Insights Server</a:t>
            </a:r>
          </a:p>
        </p:txBody>
      </p:sp>
      <p:sp>
        <p:nvSpPr>
          <p:cNvPr id="39" name="rd57"/>
          <p:cNvSpPr/>
          <p:nvPr/>
        </p:nvSpPr>
        <p:spPr>
          <a:xfrm>
            <a:off x="10698480" y="3822192"/>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3</a:t>
            </a:r>
          </a:p>
        </p:txBody>
      </p:sp>
      <p:sp>
        <p:nvSpPr>
          <p:cNvPr id="40" name="rd58"/>
          <p:cNvSpPr/>
          <p:nvPr/>
        </p:nvSpPr>
        <p:spPr>
          <a:xfrm>
            <a:off x="8549640" y="4334256"/>
            <a:ext cx="2971800" cy="621792"/>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37160" tIns="0" rIns="137160" bIns="0" rtlCol="0" anchor="ctr"/>
          <a:lstStyle/>
          <a:p>
            <a:r>
              <a:rPr lang="en-IN" sz="1200" b="1">
                <a:solidFill>
                  <a:srgbClr val="074661"/>
                </a:solidFill>
                <a:latin typeface="Raleway" pitchFamily="2" charset="0"/>
              </a:rPr>
              <a:t>Data Sources</a:t>
            </a:r>
          </a:p>
        </p:txBody>
      </p:sp>
      <p:sp>
        <p:nvSpPr>
          <p:cNvPr id="41" name="rd59"/>
          <p:cNvSpPr/>
          <p:nvPr/>
        </p:nvSpPr>
        <p:spPr>
          <a:xfrm>
            <a:off x="10698480" y="4535424"/>
            <a:ext cx="713232"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DATA</a:t>
            </a:r>
          </a:p>
        </p:txBody>
      </p:sp>
      <p:sp>
        <p:nvSpPr>
          <p:cNvPr id="42" name="rd60"/>
          <p:cNvSpPr txBox="1"/>
          <p:nvPr/>
        </p:nvSpPr>
        <p:spPr>
          <a:xfrm>
            <a:off x="4937760" y="5394960"/>
            <a:ext cx="6766560" cy="457200"/>
          </a:xfrm>
          <a:prstGeom prst="rect">
            <a:avLst/>
          </a:prstGeom>
          <a:noFill/>
        </p:spPr>
        <p:txBody>
          <a:bodyPr vert="horz" wrap="square" lIns="0" tIns="0" rIns="0" bIns="0" rtlCol="0" anchor="t">
            <a:noAutofit/>
          </a:bodyPr>
          <a:lstStyle/>
          <a:p>
            <a:r>
              <a:rPr lang="en-US" sz="1100" b="1">
                <a:solidFill>
                  <a:srgbClr val="074661"/>
                </a:solidFill>
                <a:latin typeface="Raleway" pitchFamily="2" charset="0"/>
              </a:rPr>
              <a:t>Market Leaders</a:t>
            </a:r>
            <a:r>
              <a:rPr lang="en-US" sz="1100">
                <a:solidFill>
                  <a:srgbClr val="5B6B73"/>
                </a:solidFill>
                <a:latin typeface="Raleway" pitchFamily="2" charset="0"/>
              </a:rPr>
              <a:t> originate every use case and receive the demo-ready result.</a:t>
            </a:r>
            <a:endParaRPr lang="en-IN" sz="1100">
              <a:solidFill>
                <a:srgbClr val="5B6B73"/>
              </a:solidFill>
              <a:latin typeface="Raleway" pitchFamily="2" charset="0"/>
            </a:endParaRPr>
          </a:p>
        </p:txBody>
      </p:sp>
      <p:sp>
        <p:nvSpPr>
          <p:cNvPr id="43" name="rd61"/>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4" name="rd62"/>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2  |  Radiant Digital  •  Confidential  •  All Rights Reserved  •  2026</a:t>
            </a:r>
            <a:endParaRPr lang="en-IN" sz="700">
              <a:solidFill>
                <a:srgbClr val="FFFFFF"/>
              </a:solidFill>
              <a:latin typeface="Raleway" pitchFamily="2" charset="0"/>
            </a:endParaRPr>
          </a:p>
        </p:txBody>
      </p:sp>
      <p:pic>
        <p:nvPicPr>
          <p:cNvPr id="45" name="rd6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Tree>
    <p:extLst>
      <p:ext uri="{BB962C8B-B14F-4D97-AF65-F5344CB8AC3E}">
        <p14:creationId xmlns:p14="http://schemas.microsoft.com/office/powerpoint/2010/main" val="147491019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64"/>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65"/>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66"/>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Build once, then answer every ask at runtime</a:t>
            </a:r>
            <a:endParaRPr lang="en-IN" sz="2200" b="1">
              <a:solidFill>
                <a:srgbClr val="FFFFFF"/>
              </a:solidFill>
              <a:latin typeface="Raleway" pitchFamily="2" charset="0"/>
            </a:endParaRPr>
          </a:p>
        </p:txBody>
      </p:sp>
      <p:sp>
        <p:nvSpPr>
          <p:cNvPr id="5" name="rd67"/>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68"/>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3  |  Radiant Digital  •  Confidential  •  All Rights Reserved  •  2026</a:t>
            </a:r>
            <a:endParaRPr lang="en-IN" sz="700">
              <a:solidFill>
                <a:srgbClr val="FFFFFF"/>
              </a:solidFill>
              <a:latin typeface="Raleway" pitchFamily="2" charset="0"/>
            </a:endParaRPr>
          </a:p>
        </p:txBody>
      </p:sp>
      <p:pic>
        <p:nvPicPr>
          <p:cNvPr id="7" name="rd6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grpSp>
        <p:nvGrpSpPr>
          <p:cNvPr id="24" name="rd86"/>
          <p:cNvGrpSpPr/>
          <p:nvPr/>
        </p:nvGrpSpPr>
        <p:grpSpPr>
          <a:xfrm>
            <a:off x="457200" y="731520"/>
            <a:ext cx="5394960" cy="4754880"/>
            <a:chOff x="457200" y="731520"/>
            <a:chExt cx="5394960" cy="4754880"/>
          </a:xfrm>
        </p:grpSpPr>
        <p:sp>
          <p:nvSpPr>
            <p:cNvPr id="8" name="rd70"/>
            <p:cNvSpPr/>
            <p:nvPr/>
          </p:nvSpPr>
          <p:spPr>
            <a:xfrm>
              <a:off x="457200" y="731520"/>
              <a:ext cx="5394960" cy="47548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9" name="rd71"/>
            <p:cNvSpPr txBox="1"/>
            <p:nvPr/>
          </p:nvSpPr>
          <p:spPr>
            <a:xfrm>
              <a:off x="640080" y="841248"/>
              <a:ext cx="45720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BUILD TIME</a:t>
              </a:r>
            </a:p>
          </p:txBody>
        </p:sp>
        <p:sp>
          <p:nvSpPr>
            <p:cNvPr id="10" name="rd72"/>
            <p:cNvSpPr txBox="1"/>
            <p:nvPr/>
          </p:nvSpPr>
          <p:spPr>
            <a:xfrm>
              <a:off x="640080" y="1069848"/>
              <a:ext cx="5029200" cy="411480"/>
            </a:xfrm>
            <a:prstGeom prst="rect">
              <a:avLst/>
            </a:prstGeom>
            <a:noFill/>
          </p:spPr>
          <p:txBody>
            <a:bodyPr vert="horz" wrap="square" lIns="0" tIns="0" rIns="0" bIns="0" rtlCol="0" anchor="ctr">
              <a:noAutofit/>
            </a:bodyPr>
            <a:lstStyle/>
            <a:p>
              <a:r>
                <a:rPr lang="en-US" sz="1600" b="1">
                  <a:solidFill>
                    <a:srgbClr val="074661"/>
                  </a:solidFill>
                  <a:latin typeface="Raleway" pitchFamily="2" charset="0"/>
                </a:rPr>
                <a:t>Prepare the experience and the knowledge</a:t>
              </a:r>
              <a:endParaRPr lang="en-IN" sz="1600" b="1">
                <a:solidFill>
                  <a:srgbClr val="074661"/>
                </a:solidFill>
                <a:latin typeface="Raleway" pitchFamily="2" charset="0"/>
              </a:endParaRPr>
            </a:p>
          </p:txBody>
        </p:sp>
        <p:sp>
          <p:nvSpPr>
            <p:cNvPr id="11" name="rd73"/>
            <p:cNvSpPr/>
            <p:nvPr/>
          </p:nvSpPr>
          <p:spPr>
            <a:xfrm>
              <a:off x="640080" y="1691640"/>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2" name="rd74"/>
            <p:cNvSpPr/>
            <p:nvPr/>
          </p:nvSpPr>
          <p:spPr>
            <a:xfrm>
              <a:off x="777240" y="1810512"/>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1</a:t>
              </a:r>
            </a:p>
          </p:txBody>
        </p:sp>
        <p:sp>
          <p:nvSpPr>
            <p:cNvPr id="13" name="rd75"/>
            <p:cNvSpPr txBox="1"/>
            <p:nvPr/>
          </p:nvSpPr>
          <p:spPr>
            <a:xfrm>
              <a:off x="1572768" y="1746504"/>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Experience Factory</a:t>
              </a:r>
            </a:p>
          </p:txBody>
        </p:sp>
        <p:sp>
          <p:nvSpPr>
            <p:cNvPr id="14" name="rd76"/>
            <p:cNvSpPr txBox="1"/>
            <p:nvPr/>
          </p:nvSpPr>
          <p:spPr>
            <a:xfrm>
              <a:off x="1572768" y="2057400"/>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Builds Generative UI (GenUI) conversational pages and ships them as a React app in Git.</a:t>
              </a:r>
              <a:endParaRPr lang="en-IN" sz="1000">
                <a:solidFill>
                  <a:srgbClr val="231F20"/>
                </a:solidFill>
                <a:latin typeface="Raleway" pitchFamily="2" charset="0"/>
              </a:endParaRPr>
            </a:p>
          </p:txBody>
        </p:sp>
        <p:sp>
          <p:nvSpPr>
            <p:cNvPr id="15" name="rd77"/>
            <p:cNvSpPr/>
            <p:nvPr/>
          </p:nvSpPr>
          <p:spPr>
            <a:xfrm>
              <a:off x="640080" y="2532888"/>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6" name="rd78"/>
            <p:cNvSpPr/>
            <p:nvPr/>
          </p:nvSpPr>
          <p:spPr>
            <a:xfrm>
              <a:off x="777240" y="2651760"/>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1</a:t>
              </a:r>
            </a:p>
          </p:txBody>
        </p:sp>
        <p:sp>
          <p:nvSpPr>
            <p:cNvPr id="17" name="rd79"/>
            <p:cNvSpPr txBox="1"/>
            <p:nvPr/>
          </p:nvSpPr>
          <p:spPr>
            <a:xfrm>
              <a:off x="1572768" y="2587752"/>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Data Factory</a:t>
              </a:r>
            </a:p>
          </p:txBody>
        </p:sp>
        <p:sp>
          <p:nvSpPr>
            <p:cNvPr id="18" name="rd80"/>
            <p:cNvSpPr txBox="1"/>
            <p:nvPr/>
          </p:nvSpPr>
          <p:spPr>
            <a:xfrm>
              <a:off x="1572768" y="2898648"/>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Models the domain, generates synthetic data and builds lower and upper ontologies.</a:t>
              </a:r>
              <a:endParaRPr lang="en-IN" sz="1000">
                <a:solidFill>
                  <a:srgbClr val="231F20"/>
                </a:solidFill>
                <a:latin typeface="Raleway" pitchFamily="2" charset="0"/>
              </a:endParaRPr>
            </a:p>
          </p:txBody>
        </p:sp>
        <p:sp>
          <p:nvSpPr>
            <p:cNvPr id="19" name="rd81"/>
            <p:cNvSpPr/>
            <p:nvPr/>
          </p:nvSpPr>
          <p:spPr>
            <a:xfrm>
              <a:off x="640080" y="3374136"/>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20" name="rd82"/>
            <p:cNvSpPr/>
            <p:nvPr/>
          </p:nvSpPr>
          <p:spPr>
            <a:xfrm>
              <a:off x="777240" y="3493008"/>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2</a:t>
              </a:r>
            </a:p>
          </p:txBody>
        </p:sp>
        <p:sp>
          <p:nvSpPr>
            <p:cNvPr id="21" name="rd83"/>
            <p:cNvSpPr txBox="1"/>
            <p:nvPr/>
          </p:nvSpPr>
          <p:spPr>
            <a:xfrm>
              <a:off x="1572768" y="3429000"/>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KAG</a:t>
              </a:r>
            </a:p>
          </p:txBody>
        </p:sp>
        <p:sp>
          <p:nvSpPr>
            <p:cNvPr id="22" name="rd84"/>
            <p:cNvSpPr txBox="1"/>
            <p:nvPr/>
          </p:nvSpPr>
          <p:spPr>
            <a:xfrm>
              <a:off x="1572768" y="3739896"/>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Knowledge-Augmented Generation: domain model, metadata and ontologies as queryable knowledge.</a:t>
              </a:r>
              <a:endParaRPr lang="en-IN" sz="1000">
                <a:solidFill>
                  <a:srgbClr val="231F20"/>
                </a:solidFill>
                <a:latin typeface="Raleway" pitchFamily="2" charset="0"/>
              </a:endParaRPr>
            </a:p>
          </p:txBody>
        </p:sp>
        <p:sp>
          <p:nvSpPr>
            <p:cNvPr id="23" name="rd85"/>
            <p:cNvSpPr txBox="1"/>
            <p:nvPr/>
          </p:nvSpPr>
          <p:spPr>
            <a:xfrm>
              <a:off x="640080" y="5074920"/>
              <a:ext cx="5029200" cy="320040"/>
            </a:xfrm>
            <a:prstGeom prst="rect">
              <a:avLst/>
            </a:prstGeom>
            <a:noFill/>
          </p:spPr>
          <p:txBody>
            <a:bodyPr vert="horz" wrap="square" lIns="0" tIns="0" rIns="0" bIns="0" rtlCol="0" anchor="ctr">
              <a:noAutofit/>
            </a:bodyPr>
            <a:lstStyle/>
            <a:p>
              <a:r>
                <a:rPr lang="en-US" sz="1050" b="1">
                  <a:solidFill>
                    <a:srgbClr val="074661"/>
                  </a:solidFill>
                  <a:latin typeface="Raleway" pitchFamily="2" charset="0"/>
                </a:rPr>
                <a:t>Output: </a:t>
              </a:r>
              <a:r>
                <a:rPr lang="en-US" sz="1050">
                  <a:solidFill>
                    <a:srgbClr val="231F20"/>
                  </a:solidFill>
                  <a:latin typeface="Raleway" pitchFamily="2" charset="0"/>
                </a:rPr>
                <a:t>React application in Git and a populated KAG</a:t>
              </a:r>
              <a:endParaRPr lang="en-IN" sz="1050">
                <a:solidFill>
                  <a:srgbClr val="231F20"/>
                </a:solidFill>
                <a:latin typeface="Raleway" pitchFamily="2" charset="0"/>
              </a:endParaRPr>
            </a:p>
          </p:txBody>
        </p:sp>
      </p:grpSp>
      <p:grpSp>
        <p:nvGrpSpPr>
          <p:cNvPr id="45" name="rd107"/>
          <p:cNvGrpSpPr/>
          <p:nvPr/>
        </p:nvGrpSpPr>
        <p:grpSpPr>
          <a:xfrm>
            <a:off x="6336792" y="731520"/>
            <a:ext cx="5394960" cy="4754880"/>
            <a:chOff x="6336792" y="731520"/>
            <a:chExt cx="5394960" cy="4754880"/>
          </a:xfrm>
        </p:grpSpPr>
        <p:sp>
          <p:nvSpPr>
            <p:cNvPr id="25" name="rd87"/>
            <p:cNvSpPr/>
            <p:nvPr/>
          </p:nvSpPr>
          <p:spPr>
            <a:xfrm>
              <a:off x="6336792" y="731520"/>
              <a:ext cx="5394960" cy="47548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26" name="rd88"/>
            <p:cNvSpPr txBox="1"/>
            <p:nvPr/>
          </p:nvSpPr>
          <p:spPr>
            <a:xfrm>
              <a:off x="6519672" y="841248"/>
              <a:ext cx="45720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RUNTIME</a:t>
              </a:r>
            </a:p>
          </p:txBody>
        </p:sp>
        <p:sp>
          <p:nvSpPr>
            <p:cNvPr id="27" name="rd89"/>
            <p:cNvSpPr txBox="1"/>
            <p:nvPr/>
          </p:nvSpPr>
          <p:spPr>
            <a:xfrm>
              <a:off x="6519672" y="1069848"/>
              <a:ext cx="5029200" cy="411480"/>
            </a:xfrm>
            <a:prstGeom prst="rect">
              <a:avLst/>
            </a:prstGeom>
            <a:noFill/>
          </p:spPr>
          <p:txBody>
            <a:bodyPr vert="horz" wrap="square" lIns="0" tIns="0" rIns="0" bIns="0" rtlCol="0" anchor="ctr">
              <a:noAutofit/>
            </a:bodyPr>
            <a:lstStyle/>
            <a:p>
              <a:r>
                <a:rPr lang="en-US" sz="1600" b="1">
                  <a:solidFill>
                    <a:srgbClr val="074661"/>
                  </a:solidFill>
                  <a:latin typeface="Raleway" pitchFamily="2" charset="0"/>
                </a:rPr>
                <a:t>Answer every ask in real time</a:t>
              </a:r>
              <a:endParaRPr lang="en-IN" sz="1600" b="1">
                <a:solidFill>
                  <a:srgbClr val="074661"/>
                </a:solidFill>
                <a:latin typeface="Raleway" pitchFamily="2" charset="0"/>
              </a:endParaRPr>
            </a:p>
          </p:txBody>
        </p:sp>
        <p:sp>
          <p:nvSpPr>
            <p:cNvPr id="28" name="rd90"/>
            <p:cNvSpPr/>
            <p:nvPr/>
          </p:nvSpPr>
          <p:spPr>
            <a:xfrm>
              <a:off x="6519672" y="1691640"/>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29" name="rd91"/>
            <p:cNvSpPr/>
            <p:nvPr/>
          </p:nvSpPr>
          <p:spPr>
            <a:xfrm>
              <a:off x="6656832" y="1810512"/>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2</a:t>
              </a:r>
            </a:p>
          </p:txBody>
        </p:sp>
        <p:sp>
          <p:nvSpPr>
            <p:cNvPr id="30" name="rd92"/>
            <p:cNvSpPr txBox="1"/>
            <p:nvPr/>
          </p:nvSpPr>
          <p:spPr>
            <a:xfrm>
              <a:off x="7452360" y="1746504"/>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React Application</a:t>
              </a:r>
            </a:p>
          </p:txBody>
        </p:sp>
        <p:sp>
          <p:nvSpPr>
            <p:cNvPr id="31" name="rd93"/>
            <p:cNvSpPr txBox="1"/>
            <p:nvPr/>
          </p:nvSpPr>
          <p:spPr>
            <a:xfrm>
              <a:off x="7452360" y="2057400"/>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Conversational UI that sends Component, Variant, Ask and renders GenUI.</a:t>
              </a:r>
              <a:endParaRPr lang="en-IN" sz="1000">
                <a:solidFill>
                  <a:srgbClr val="231F20"/>
                </a:solidFill>
                <a:latin typeface="Raleway" pitchFamily="2" charset="0"/>
              </a:endParaRPr>
            </a:p>
          </p:txBody>
        </p:sp>
        <p:sp>
          <p:nvSpPr>
            <p:cNvPr id="32" name="rd94"/>
            <p:cNvSpPr/>
            <p:nvPr/>
          </p:nvSpPr>
          <p:spPr>
            <a:xfrm>
              <a:off x="6519672" y="2532888"/>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3" name="rd95"/>
            <p:cNvSpPr/>
            <p:nvPr/>
          </p:nvSpPr>
          <p:spPr>
            <a:xfrm>
              <a:off x="6656832" y="2651760"/>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2</a:t>
              </a:r>
            </a:p>
          </p:txBody>
        </p:sp>
        <p:sp>
          <p:nvSpPr>
            <p:cNvPr id="34" name="rd96"/>
            <p:cNvSpPr txBox="1"/>
            <p:nvPr/>
          </p:nvSpPr>
          <p:spPr>
            <a:xfrm>
              <a:off x="7452360" y="2587752"/>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Insights Factory</a:t>
              </a:r>
            </a:p>
          </p:txBody>
        </p:sp>
        <p:sp>
          <p:nvSpPr>
            <p:cNvPr id="35" name="rd97"/>
            <p:cNvSpPr txBox="1"/>
            <p:nvPr/>
          </p:nvSpPr>
          <p:spPr>
            <a:xfrm>
              <a:off x="7452360" y="2898648"/>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Data Insights API that forwards each ask and transforms raw data into JSON.</a:t>
              </a:r>
              <a:endParaRPr lang="en-IN" sz="1000">
                <a:solidFill>
                  <a:srgbClr val="231F20"/>
                </a:solidFill>
                <a:latin typeface="Raleway" pitchFamily="2" charset="0"/>
              </a:endParaRPr>
            </a:p>
          </p:txBody>
        </p:sp>
        <p:sp>
          <p:nvSpPr>
            <p:cNvPr id="36" name="rd98"/>
            <p:cNvSpPr/>
            <p:nvPr/>
          </p:nvSpPr>
          <p:spPr>
            <a:xfrm>
              <a:off x="6519672" y="3374136"/>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7" name="rd99"/>
            <p:cNvSpPr/>
            <p:nvPr/>
          </p:nvSpPr>
          <p:spPr>
            <a:xfrm>
              <a:off x="6656832" y="3493008"/>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STEP 3</a:t>
              </a:r>
            </a:p>
          </p:txBody>
        </p:sp>
        <p:sp>
          <p:nvSpPr>
            <p:cNvPr id="38" name="rd100"/>
            <p:cNvSpPr txBox="1"/>
            <p:nvPr/>
          </p:nvSpPr>
          <p:spPr>
            <a:xfrm>
              <a:off x="7452360" y="3429000"/>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Insights Server</a:t>
              </a:r>
            </a:p>
          </p:txBody>
        </p:sp>
        <p:sp>
          <p:nvSpPr>
            <p:cNvPr id="39" name="rd101"/>
            <p:cNvSpPr txBox="1"/>
            <p:nvPr/>
          </p:nvSpPr>
          <p:spPr>
            <a:xfrm>
              <a:off x="7452360" y="3739896"/>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Large language model (LLM) workflow from cache lookup to streamed answer.</a:t>
              </a:r>
              <a:endParaRPr lang="en-IN" sz="1000">
                <a:solidFill>
                  <a:srgbClr val="231F20"/>
                </a:solidFill>
                <a:latin typeface="Raleway" pitchFamily="2" charset="0"/>
              </a:endParaRPr>
            </a:p>
          </p:txBody>
        </p:sp>
        <p:sp>
          <p:nvSpPr>
            <p:cNvPr id="40" name="rd102"/>
            <p:cNvSpPr/>
            <p:nvPr/>
          </p:nvSpPr>
          <p:spPr>
            <a:xfrm>
              <a:off x="6519672" y="4215384"/>
              <a:ext cx="5029200" cy="749808"/>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1" name="rd103"/>
            <p:cNvSpPr/>
            <p:nvPr/>
          </p:nvSpPr>
          <p:spPr>
            <a:xfrm>
              <a:off x="6656832" y="4334256"/>
              <a:ext cx="658368" cy="219456"/>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DATA</a:t>
              </a:r>
            </a:p>
          </p:txBody>
        </p:sp>
        <p:sp>
          <p:nvSpPr>
            <p:cNvPr id="42" name="rd104"/>
            <p:cNvSpPr txBox="1"/>
            <p:nvPr/>
          </p:nvSpPr>
          <p:spPr>
            <a:xfrm>
              <a:off x="7452360" y="4270248"/>
              <a:ext cx="3977640" cy="292608"/>
            </a:xfrm>
            <a:prstGeom prst="rect">
              <a:avLst/>
            </a:prstGeom>
            <a:noFill/>
          </p:spPr>
          <p:txBody>
            <a:bodyPr vert="horz" wrap="square" lIns="0" tIns="0" rIns="0" bIns="0" rtlCol="0" anchor="ctr">
              <a:noAutofit/>
            </a:bodyPr>
            <a:lstStyle/>
            <a:p>
              <a:r>
                <a:rPr lang="en-IN" sz="1300" b="1">
                  <a:solidFill>
                    <a:srgbClr val="074661"/>
                  </a:solidFill>
                  <a:latin typeface="Raleway" pitchFamily="2" charset="0"/>
                </a:rPr>
                <a:t>Data Sources</a:t>
              </a:r>
            </a:p>
          </p:txBody>
        </p:sp>
        <p:sp>
          <p:nvSpPr>
            <p:cNvPr id="43" name="rd105"/>
            <p:cNvSpPr txBox="1"/>
            <p:nvPr/>
          </p:nvSpPr>
          <p:spPr>
            <a:xfrm>
              <a:off x="7452360" y="4581144"/>
              <a:ext cx="3977640" cy="347472"/>
            </a:xfrm>
            <a:prstGeom prst="rect">
              <a:avLst/>
            </a:prstGeom>
            <a:noFill/>
          </p:spPr>
          <p:txBody>
            <a:bodyPr vert="horz" wrap="square" lIns="0" tIns="0" rIns="0" bIns="0" rtlCol="0" anchor="t">
              <a:noAutofit/>
            </a:bodyPr>
            <a:lstStyle/>
            <a:p>
              <a:r>
                <a:rPr lang="en-US" sz="1000">
                  <a:solidFill>
                    <a:srgbClr val="231F20"/>
                  </a:solidFill>
                  <a:latin typeface="Raleway" pitchFamily="2" charset="0"/>
                </a:rPr>
                <a:t>Internal and external sources reached through Cypher queries.</a:t>
              </a:r>
              <a:endParaRPr lang="en-IN" sz="1000">
                <a:solidFill>
                  <a:srgbClr val="231F20"/>
                </a:solidFill>
                <a:latin typeface="Raleway" pitchFamily="2" charset="0"/>
              </a:endParaRPr>
            </a:p>
          </p:txBody>
        </p:sp>
        <p:sp>
          <p:nvSpPr>
            <p:cNvPr id="44" name="rd106"/>
            <p:cNvSpPr txBox="1"/>
            <p:nvPr/>
          </p:nvSpPr>
          <p:spPr>
            <a:xfrm>
              <a:off x="6519672" y="5074920"/>
              <a:ext cx="5029200" cy="320040"/>
            </a:xfrm>
            <a:prstGeom prst="rect">
              <a:avLst/>
            </a:prstGeom>
            <a:noFill/>
          </p:spPr>
          <p:txBody>
            <a:bodyPr vert="horz" wrap="square" lIns="0" tIns="0" rIns="0" bIns="0" rtlCol="0" anchor="ctr">
              <a:noAutofit/>
            </a:bodyPr>
            <a:lstStyle/>
            <a:p>
              <a:r>
                <a:rPr lang="en-US" sz="1050" b="1">
                  <a:solidFill>
                    <a:srgbClr val="074661"/>
                  </a:solidFill>
                  <a:latin typeface="Raleway" pitchFamily="2" charset="0"/>
                </a:rPr>
                <a:t>Output: </a:t>
              </a:r>
              <a:r>
                <a:rPr lang="en-US" sz="1050">
                  <a:solidFill>
                    <a:srgbClr val="231F20"/>
                  </a:solidFill>
                  <a:latin typeface="Raleway" pitchFamily="2" charset="0"/>
                </a:rPr>
                <a:t>a rendered GenUI answer, streamed to the user</a:t>
              </a:r>
              <a:endParaRPr lang="en-IN" sz="1050">
                <a:solidFill>
                  <a:srgbClr val="231F20"/>
                </a:solidFill>
                <a:latin typeface="Raleway" pitchFamily="2" charset="0"/>
              </a:endParaRPr>
            </a:p>
          </p:txBody>
        </p:sp>
      </p:grpSp>
      <p:grpSp>
        <p:nvGrpSpPr>
          <p:cNvPr id="48" name="rd110"/>
          <p:cNvGrpSpPr/>
          <p:nvPr/>
        </p:nvGrpSpPr>
        <p:grpSpPr>
          <a:xfrm>
            <a:off x="5852160" y="2834640"/>
            <a:ext cx="475488" cy="914400"/>
            <a:chOff x="5852160" y="2834640"/>
            <a:chExt cx="475488" cy="914400"/>
          </a:xfrm>
        </p:grpSpPr>
        <p:sp>
          <p:nvSpPr>
            <p:cNvPr id="46" name="rd108"/>
            <p:cNvSpPr/>
            <p:nvPr/>
          </p:nvSpPr>
          <p:spPr>
            <a:xfrm>
              <a:off x="5907024" y="2834640"/>
              <a:ext cx="365760" cy="411480"/>
            </a:xfrm>
            <a:prstGeom prst="rightArrow">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7" name="rd109"/>
            <p:cNvSpPr txBox="1"/>
            <p:nvPr/>
          </p:nvSpPr>
          <p:spPr>
            <a:xfrm>
              <a:off x="5852160" y="3291840"/>
              <a:ext cx="475488" cy="457200"/>
            </a:xfrm>
            <a:prstGeom prst="rect">
              <a:avLst/>
            </a:prstGeom>
            <a:noFill/>
          </p:spPr>
          <p:txBody>
            <a:bodyPr vert="horz" wrap="square" lIns="0" tIns="0" rIns="0" bIns="0" rtlCol="0" anchor="t">
              <a:noAutofit/>
            </a:bodyPr>
            <a:lstStyle/>
            <a:p>
              <a:pPr algn="ctr"/>
              <a:r>
                <a:rPr lang="en-IN" sz="750" b="1">
                  <a:solidFill>
                    <a:srgbClr val="074661"/>
                  </a:solidFill>
                  <a:latin typeface="Raleway" pitchFamily="2" charset="0"/>
                </a:rPr>
                <a:t>App + KAG</a:t>
              </a:r>
            </a:p>
          </p:txBody>
        </p:sp>
      </p:grpSp>
      <p:sp>
        <p:nvSpPr>
          <p:cNvPr id="49" name="rd111"/>
          <p:cNvSpPr/>
          <p:nvPr/>
        </p:nvSpPr>
        <p:spPr>
          <a:xfrm>
            <a:off x="457200" y="5623560"/>
            <a:ext cx="11274552" cy="731520"/>
          </a:xfrm>
          <a:prstGeom prst="roundRect">
            <a:avLst>
              <a:gd name="adj" fmla="val 10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228600" tIns="0" rIns="228600" bIns="0" rtlCol="0" anchor="ctr"/>
          <a:lstStyle/>
          <a:p>
            <a:r>
              <a:rPr lang="en-US" sz="1150" b="1">
                <a:solidFill>
                  <a:srgbClr val="91C36C"/>
                </a:solidFill>
                <a:latin typeface="Raleway" pitchFamily="2" charset="0"/>
              </a:rPr>
              <a:t>Market Leaders</a:t>
            </a:r>
            <a:r>
              <a:rPr lang="en-US" sz="1150">
                <a:solidFill>
                  <a:srgbClr val="FFFFFF"/>
                </a:solidFill>
                <a:latin typeface="Raleway" pitchFamily="2" charset="0"/>
              </a:rPr>
              <a:t> supply the business use cases that start build time, and receive a demo-ready conversational experience when runtime completes.</a:t>
            </a:r>
            <a:endParaRPr lang="en-IN" sz="1150">
              <a:solidFill>
                <a:srgbClr val="FFFFFF"/>
              </a:solidFill>
              <a:latin typeface="Raleway" pitchFamily="2" charset="0"/>
            </a:endParaRPr>
          </a:p>
        </p:txBody>
      </p:sp>
    </p:spTree>
    <p:extLst>
      <p:ext uri="{BB962C8B-B14F-4D97-AF65-F5344CB8AC3E}">
        <p14:creationId xmlns:p14="http://schemas.microsoft.com/office/powerpoint/2010/main" val="293599476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400"/>
                                        <p:tgtEl>
                                          <p:spTgt spid="48"/>
                                        </p:tgtEl>
                                      </p:cBhvr>
                                    </p:animEffect>
                                  </p:childTnLst>
                                </p:cTn>
                              </p:par>
                            </p:childTnLst>
                          </p:cTn>
                        </p:par>
                        <p:par>
                          <p:cTn id="13" fill="hold">
                            <p:stCondLst>
                              <p:cond delay="400"/>
                            </p:stCondLst>
                            <p:childTnLst>
                              <p:par>
                                <p:cTn id="14" presetID="10" presetClass="entr" presetSubtype="0"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112"/>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113"/>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114"/>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Control passes through seven components</a:t>
            </a:r>
            <a:endParaRPr lang="en-IN" sz="2200" b="1">
              <a:solidFill>
                <a:srgbClr val="FFFFFF"/>
              </a:solidFill>
              <a:latin typeface="Raleway" pitchFamily="2" charset="0"/>
            </a:endParaRPr>
          </a:p>
        </p:txBody>
      </p:sp>
      <p:sp>
        <p:nvSpPr>
          <p:cNvPr id="5" name="rd115"/>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116"/>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4  |  Radiant Digital  •  Confidential  •  All Rights Reserved  •  2026</a:t>
            </a:r>
            <a:endParaRPr lang="en-IN" sz="700">
              <a:solidFill>
                <a:srgbClr val="FFFFFF"/>
              </a:solidFill>
              <a:latin typeface="Raleway" pitchFamily="2" charset="0"/>
            </a:endParaRPr>
          </a:p>
        </p:txBody>
      </p:sp>
      <p:pic>
        <p:nvPicPr>
          <p:cNvPr id="7" name="rd11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grpSp>
        <p:nvGrpSpPr>
          <p:cNvPr id="10" name="rd120"/>
          <p:cNvGrpSpPr/>
          <p:nvPr/>
        </p:nvGrpSpPr>
        <p:grpSpPr>
          <a:xfrm>
            <a:off x="2697480" y="713232"/>
            <a:ext cx="9144000" cy="2514600"/>
            <a:chOff x="2697480" y="713232"/>
            <a:chExt cx="9144000" cy="2514600"/>
          </a:xfrm>
        </p:grpSpPr>
        <p:sp>
          <p:nvSpPr>
            <p:cNvPr id="8" name="rd118"/>
            <p:cNvSpPr/>
            <p:nvPr/>
          </p:nvSpPr>
          <p:spPr>
            <a:xfrm>
              <a:off x="2697480" y="713232"/>
              <a:ext cx="9144000" cy="2514600"/>
            </a:xfrm>
            <a:prstGeom prst="roundRect">
              <a:avLst>
                <a:gd name="adj" fmla="val 3000"/>
              </a:avLst>
            </a:prstGeom>
            <a:noFill/>
            <a:ln w="15875" cap="flat" cmpd="sng" algn="ctr">
              <a:solidFill>
                <a:srgbClr val="0596AE"/>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9" name="rd119"/>
            <p:cNvSpPr/>
            <p:nvPr/>
          </p:nvSpPr>
          <p:spPr>
            <a:xfrm>
              <a:off x="2743200" y="2990088"/>
              <a:ext cx="1143000" cy="201168"/>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BUILD TIME</a:t>
              </a:r>
            </a:p>
          </p:txBody>
        </p:sp>
      </p:grpSp>
      <p:grpSp>
        <p:nvGrpSpPr>
          <p:cNvPr id="13" name="rd123"/>
          <p:cNvGrpSpPr/>
          <p:nvPr/>
        </p:nvGrpSpPr>
        <p:grpSpPr>
          <a:xfrm>
            <a:off x="274320" y="3383280"/>
            <a:ext cx="11567160" cy="3063240"/>
            <a:chOff x="274320" y="3383280"/>
            <a:chExt cx="11567160" cy="3063240"/>
          </a:xfrm>
        </p:grpSpPr>
        <p:sp>
          <p:nvSpPr>
            <p:cNvPr id="11" name="rd121"/>
            <p:cNvSpPr/>
            <p:nvPr/>
          </p:nvSpPr>
          <p:spPr>
            <a:xfrm>
              <a:off x="274320" y="3383280"/>
              <a:ext cx="11567160" cy="3063240"/>
            </a:xfrm>
            <a:prstGeom prst="roundRect">
              <a:avLst>
                <a:gd name="adj" fmla="val 3000"/>
              </a:avLst>
            </a:prstGeom>
            <a:noFill/>
            <a:ln w="15875" cap="flat" cmpd="sng" algn="ctr">
              <a:solidFill>
                <a:srgbClr val="0596AE"/>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2" name="rd122"/>
            <p:cNvSpPr/>
            <p:nvPr/>
          </p:nvSpPr>
          <p:spPr>
            <a:xfrm>
              <a:off x="320040" y="6199632"/>
              <a:ext cx="1005840" cy="201168"/>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RUNTIME</a:t>
              </a:r>
            </a:p>
          </p:txBody>
        </p:sp>
      </p:grpSp>
      <p:cxnSp>
        <p:nvCxnSpPr>
          <p:cNvPr id="14" name="rd124"/>
          <p:cNvCxnSpPr/>
          <p:nvPr/>
        </p:nvCxnSpPr>
        <p:spPr>
          <a:xfrm>
            <a:off x="411480" y="804672"/>
            <a:ext cx="274320" cy="0"/>
          </a:xfrm>
          <a:prstGeom prst="line">
            <a:avLst/>
          </a:pr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15" name="rd125"/>
          <p:cNvSpPr txBox="1"/>
          <p:nvPr/>
        </p:nvSpPr>
        <p:spPr>
          <a:xfrm>
            <a:off x="731520" y="722376"/>
            <a:ext cx="640080" cy="164592"/>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Request</a:t>
            </a:r>
          </a:p>
        </p:txBody>
      </p:sp>
      <p:cxnSp>
        <p:nvCxnSpPr>
          <p:cNvPr id="16" name="rd126"/>
          <p:cNvCxnSpPr/>
          <p:nvPr/>
        </p:nvCxnSpPr>
        <p:spPr>
          <a:xfrm>
            <a:off x="411480" y="1024128"/>
            <a:ext cx="27432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sp>
        <p:nvSpPr>
          <p:cNvPr id="17" name="rd127"/>
          <p:cNvSpPr txBox="1"/>
          <p:nvPr/>
        </p:nvSpPr>
        <p:spPr>
          <a:xfrm>
            <a:off x="731520" y="941832"/>
            <a:ext cx="640080" cy="164592"/>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Response</a:t>
            </a:r>
          </a:p>
        </p:txBody>
      </p:sp>
      <p:cxnSp>
        <p:nvCxnSpPr>
          <p:cNvPr id="18" name="rd128"/>
          <p:cNvCxnSpPr/>
          <p:nvPr/>
        </p:nvCxnSpPr>
        <p:spPr>
          <a:xfrm>
            <a:off x="411480" y="1243584"/>
            <a:ext cx="274320" cy="0"/>
          </a:xfrm>
          <a:prstGeom prst="line">
            <a:avLst/>
          </a:prstGeom>
          <a:ln w="19050">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19" name="rd129"/>
          <p:cNvSpPr txBox="1"/>
          <p:nvPr/>
        </p:nvSpPr>
        <p:spPr>
          <a:xfrm>
            <a:off x="731520" y="1161288"/>
            <a:ext cx="640080" cy="164592"/>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Context</a:t>
            </a:r>
          </a:p>
        </p:txBody>
      </p:sp>
      <p:cxnSp>
        <p:nvCxnSpPr>
          <p:cNvPr id="20" name="rd130"/>
          <p:cNvCxnSpPr/>
          <p:nvPr/>
        </p:nvCxnSpPr>
        <p:spPr>
          <a:xfrm>
            <a:off x="2423160" y="2011680"/>
            <a:ext cx="548640" cy="0"/>
          </a:xfrm>
          <a:prstGeom prst="line">
            <a:avLst/>
          </a:pr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21" name="rd131"/>
          <p:cNvSpPr/>
          <p:nvPr/>
        </p:nvSpPr>
        <p:spPr>
          <a:xfrm>
            <a:off x="1417320" y="621792"/>
            <a:ext cx="5897881" cy="886969"/>
          </a:xfrm>
          <a:custGeom>
            <a:avLst/>
            <a:gdLst/>
            <a:ahLst/>
            <a:cxnLst/>
            <a:rect l="0" t="0" r="0" b="0"/>
            <a:pathLst>
              <a:path w="5897881" h="886969">
                <a:moveTo>
                  <a:pt x="0" y="886968"/>
                </a:moveTo>
                <a:lnTo>
                  <a:pt x="0" y="0"/>
                </a:lnTo>
                <a:lnTo>
                  <a:pt x="5897880" y="0"/>
                </a:lnTo>
                <a:lnTo>
                  <a:pt x="5897880" y="429768"/>
                </a:lnTo>
              </a:path>
            </a:pathLst>
          </a:cu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2" name="rd132"/>
          <p:cNvCxnSpPr/>
          <p:nvPr/>
        </p:nvCxnSpPr>
        <p:spPr>
          <a:xfrm>
            <a:off x="8641080" y="2011680"/>
            <a:ext cx="365760" cy="0"/>
          </a:xfrm>
          <a:prstGeom prst="line">
            <a:avLst/>
          </a:pr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23" name="rd133"/>
          <p:cNvSpPr/>
          <p:nvPr/>
        </p:nvSpPr>
        <p:spPr>
          <a:xfrm>
            <a:off x="2194560" y="2971800"/>
            <a:ext cx="2011681" cy="822961"/>
          </a:xfrm>
          <a:custGeom>
            <a:avLst/>
            <a:gdLst/>
            <a:ahLst/>
            <a:cxnLst/>
            <a:rect l="0" t="0" r="0" b="0"/>
            <a:pathLst>
              <a:path w="2011681" h="822961">
                <a:moveTo>
                  <a:pt x="2011680" y="0"/>
                </a:moveTo>
                <a:lnTo>
                  <a:pt x="2011680" y="594360"/>
                </a:lnTo>
                <a:lnTo>
                  <a:pt x="0" y="594360"/>
                </a:lnTo>
                <a:lnTo>
                  <a:pt x="0" y="822960"/>
                </a:lnTo>
              </a:path>
            </a:pathLst>
          </a:cu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4" name="rd134"/>
          <p:cNvCxnSpPr/>
          <p:nvPr/>
        </p:nvCxnSpPr>
        <p:spPr>
          <a:xfrm>
            <a:off x="2697480" y="4526280"/>
            <a:ext cx="731520" cy="0"/>
          </a:xfrm>
          <a:prstGeom prst="line">
            <a:avLst/>
          </a:pr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rd135"/>
          <p:cNvCxnSpPr/>
          <p:nvPr/>
        </p:nvCxnSpPr>
        <p:spPr>
          <a:xfrm>
            <a:off x="5943600" y="4526280"/>
            <a:ext cx="731520" cy="0"/>
          </a:xfrm>
          <a:prstGeom prst="line">
            <a:avLst/>
          </a:pr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26" name="rd136"/>
          <p:cNvSpPr/>
          <p:nvPr/>
        </p:nvSpPr>
        <p:spPr>
          <a:xfrm>
            <a:off x="8412480" y="2971800"/>
            <a:ext cx="1280161" cy="822961"/>
          </a:xfrm>
          <a:custGeom>
            <a:avLst/>
            <a:gdLst/>
            <a:ahLst/>
            <a:cxnLst/>
            <a:rect l="0" t="0" r="0" b="0"/>
            <a:pathLst>
              <a:path w="1280161" h="822961">
                <a:moveTo>
                  <a:pt x="1280160" y="0"/>
                </a:moveTo>
                <a:lnTo>
                  <a:pt x="1280160" y="594360"/>
                </a:lnTo>
                <a:lnTo>
                  <a:pt x="0" y="594360"/>
                </a:lnTo>
                <a:lnTo>
                  <a:pt x="0" y="822960"/>
                </a:lnTo>
              </a:path>
            </a:pathLst>
          </a:custGeom>
          <a:ln w="19050">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7" name="rd137"/>
          <p:cNvCxnSpPr/>
          <p:nvPr/>
        </p:nvCxnSpPr>
        <p:spPr>
          <a:xfrm>
            <a:off x="9144000" y="4526280"/>
            <a:ext cx="731520" cy="0"/>
          </a:xfrm>
          <a:prstGeom prst="line">
            <a:avLst/>
          </a:prstGeom>
          <a:ln w="19050">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rd138"/>
          <p:cNvCxnSpPr/>
          <p:nvPr/>
        </p:nvCxnSpPr>
        <p:spPr>
          <a:xfrm flipH="1">
            <a:off x="9144000" y="5394960"/>
            <a:ext cx="73152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rd139"/>
          <p:cNvCxnSpPr/>
          <p:nvPr/>
        </p:nvCxnSpPr>
        <p:spPr>
          <a:xfrm flipH="1">
            <a:off x="5943600" y="5394960"/>
            <a:ext cx="73152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rd140"/>
          <p:cNvCxnSpPr/>
          <p:nvPr/>
        </p:nvCxnSpPr>
        <p:spPr>
          <a:xfrm flipH="1">
            <a:off x="2697480" y="5394960"/>
            <a:ext cx="73152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rd141"/>
          <p:cNvCxnSpPr/>
          <p:nvPr/>
        </p:nvCxnSpPr>
        <p:spPr>
          <a:xfrm flipV="1">
            <a:off x="1097280" y="2514600"/>
            <a:ext cx="0" cy="1280160"/>
          </a:xfrm>
          <a:prstGeom prst="line">
            <a:avLst/>
          </a:prstGeom>
          <a:ln w="2540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35" name="rd145"/>
          <p:cNvGrpSpPr/>
          <p:nvPr/>
        </p:nvGrpSpPr>
        <p:grpSpPr>
          <a:xfrm>
            <a:off x="411480" y="1508760"/>
            <a:ext cx="2011680" cy="1005840"/>
            <a:chOff x="411480" y="1508760"/>
            <a:chExt cx="2011680" cy="1005840"/>
          </a:xfrm>
        </p:grpSpPr>
        <p:sp>
          <p:nvSpPr>
            <p:cNvPr id="32" name="rd142"/>
            <p:cNvSpPr/>
            <p:nvPr/>
          </p:nvSpPr>
          <p:spPr>
            <a:xfrm>
              <a:off x="411480" y="1508760"/>
              <a:ext cx="2011680" cy="1005840"/>
            </a:xfrm>
            <a:prstGeom prst="roundRect">
              <a:avLst>
                <a:gd name="adj" fmla="val 8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3" name="rd143"/>
            <p:cNvSpPr txBox="1"/>
            <p:nvPr/>
          </p:nvSpPr>
          <p:spPr>
            <a:xfrm>
              <a:off x="548640" y="1664208"/>
              <a:ext cx="1737360" cy="320040"/>
            </a:xfrm>
            <a:prstGeom prst="rect">
              <a:avLst/>
            </a:prstGeom>
            <a:noFill/>
          </p:spPr>
          <p:txBody>
            <a:bodyPr vert="horz" wrap="square" lIns="0" tIns="0" rIns="0" bIns="0" rtlCol="0" anchor="ctr">
              <a:noAutofit/>
            </a:bodyPr>
            <a:lstStyle/>
            <a:p>
              <a:r>
                <a:rPr lang="en-IN" sz="1300" b="1">
                  <a:solidFill>
                    <a:srgbClr val="FFFFFF"/>
                  </a:solidFill>
                  <a:latin typeface="Raleway" pitchFamily="2" charset="0"/>
                </a:rPr>
                <a:t>Market Leaders</a:t>
              </a:r>
            </a:p>
          </p:txBody>
        </p:sp>
        <p:sp>
          <p:nvSpPr>
            <p:cNvPr id="34" name="rd144"/>
            <p:cNvSpPr txBox="1"/>
            <p:nvPr/>
          </p:nvSpPr>
          <p:spPr>
            <a:xfrm>
              <a:off x="548640" y="1984248"/>
              <a:ext cx="1737360" cy="274320"/>
            </a:xfrm>
            <a:prstGeom prst="rect">
              <a:avLst/>
            </a:prstGeom>
            <a:noFill/>
          </p:spPr>
          <p:txBody>
            <a:bodyPr vert="horz" wrap="square" lIns="0" tIns="0" rIns="0" bIns="0" rtlCol="0" anchor="ctr">
              <a:noAutofit/>
            </a:bodyPr>
            <a:lstStyle/>
            <a:p>
              <a:r>
                <a:rPr lang="en-IN" sz="900">
                  <a:solidFill>
                    <a:srgbClr val="93C3CD"/>
                  </a:solidFill>
                  <a:latin typeface="Raleway" pitchFamily="2" charset="0"/>
                </a:rPr>
                <a:t>Business use cases</a:t>
              </a:r>
            </a:p>
          </p:txBody>
        </p:sp>
      </p:grpSp>
      <p:grpSp>
        <p:nvGrpSpPr>
          <p:cNvPr id="41" name="rd151"/>
          <p:cNvGrpSpPr/>
          <p:nvPr/>
        </p:nvGrpSpPr>
        <p:grpSpPr>
          <a:xfrm>
            <a:off x="2971800" y="1051560"/>
            <a:ext cx="2651760" cy="1920240"/>
            <a:chOff x="2971800" y="1051560"/>
            <a:chExt cx="2651760" cy="1920240"/>
          </a:xfrm>
        </p:grpSpPr>
        <p:sp>
          <p:nvSpPr>
            <p:cNvPr id="36" name="rd146"/>
            <p:cNvSpPr/>
            <p:nvPr/>
          </p:nvSpPr>
          <p:spPr>
            <a:xfrm>
              <a:off x="2971800" y="1051560"/>
              <a:ext cx="2651760" cy="192024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7" name="rd147"/>
            <p:cNvSpPr/>
            <p:nvPr/>
          </p:nvSpPr>
          <p:spPr>
            <a:xfrm>
              <a:off x="4983480" y="1179576"/>
              <a:ext cx="530352" cy="182880"/>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00" b="1">
                  <a:solidFill>
                    <a:srgbClr val="074661"/>
                  </a:solidFill>
                  <a:latin typeface="Raleway" pitchFamily="2" charset="0"/>
                </a:rPr>
                <a:t>STEP 1</a:t>
              </a:r>
            </a:p>
          </p:txBody>
        </p:sp>
        <p:sp>
          <p:nvSpPr>
            <p:cNvPr id="38" name="rd148"/>
            <p:cNvSpPr txBox="1"/>
            <p:nvPr/>
          </p:nvSpPr>
          <p:spPr>
            <a:xfrm>
              <a:off x="3081528" y="1143000"/>
              <a:ext cx="1874520"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Experience Factory</a:t>
              </a:r>
            </a:p>
          </p:txBody>
        </p:sp>
        <p:sp>
          <p:nvSpPr>
            <p:cNvPr id="39" name="rd149"/>
            <p:cNvSpPr txBox="1"/>
            <p:nvPr/>
          </p:nvSpPr>
          <p:spPr>
            <a:xfrm>
              <a:off x="3081528" y="1417320"/>
              <a:ext cx="243230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Conversational experience, build time</a:t>
              </a:r>
            </a:p>
          </p:txBody>
        </p:sp>
        <p:sp>
          <p:nvSpPr>
            <p:cNvPr id="40" name="rd150"/>
            <p:cNvSpPr txBox="1"/>
            <p:nvPr/>
          </p:nvSpPr>
          <p:spPr>
            <a:xfrm>
              <a:off x="3081528" y="1691640"/>
              <a:ext cx="2432304" cy="120700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US" sz="850">
                  <a:solidFill>
                    <a:srgbClr val="231F20"/>
                  </a:solidFill>
                  <a:latin typeface="Raleway" pitchFamily="2" charset="0"/>
                </a:rPr>
                <a:t>GenUI components definition</a:t>
              </a:r>
            </a:p>
            <a:p>
              <a:pPr marL="114300" indent="-114300">
                <a:spcAft>
                  <a:spcPts val="150"/>
                </a:spcAft>
                <a:buClr>
                  <a:srgbClr val="0596AE"/>
                </a:buClr>
                <a:buFont typeface="+mj-lt"/>
                <a:buChar char="•"/>
              </a:pPr>
              <a:r>
                <a:rPr lang="en-US" sz="850">
                  <a:solidFill>
                    <a:srgbClr val="231F20"/>
                  </a:solidFill>
                  <a:latin typeface="Raleway" pitchFamily="2" charset="0"/>
                </a:rPr>
                <a:t>Conversational UI pages</a:t>
              </a:r>
            </a:p>
            <a:p>
              <a:pPr marL="114300" indent="-114300">
                <a:spcAft>
                  <a:spcPts val="150"/>
                </a:spcAft>
                <a:buClr>
                  <a:srgbClr val="0596AE"/>
                </a:buClr>
                <a:buFont typeface="+mj-lt"/>
                <a:buChar char="•"/>
              </a:pPr>
              <a:r>
                <a:rPr lang="en-US" sz="850">
                  <a:solidFill>
                    <a:srgbClr val="231F20"/>
                  </a:solidFill>
                  <a:latin typeface="Raleway" pitchFamily="2" charset="0"/>
                </a:rPr>
                <a:t>Static JSON integration</a:t>
              </a:r>
            </a:p>
            <a:p>
              <a:pPr marL="114300" indent="-114300">
                <a:spcAft>
                  <a:spcPts val="150"/>
                </a:spcAft>
                <a:buClr>
                  <a:srgbClr val="0596AE"/>
                </a:buClr>
                <a:buFont typeface="+mj-lt"/>
                <a:buChar char="•"/>
              </a:pPr>
              <a:r>
                <a:rPr lang="en-US" sz="850">
                  <a:solidFill>
                    <a:srgbClr val="231F20"/>
                  </a:solidFill>
                  <a:latin typeface="Raleway" pitchFamily="2" charset="0"/>
                </a:rPr>
                <a:t>Convert to React app</a:t>
              </a:r>
            </a:p>
            <a:p>
              <a:pPr marL="114300" indent="-114300">
                <a:spcAft>
                  <a:spcPts val="150"/>
                </a:spcAft>
                <a:buClr>
                  <a:srgbClr val="0596AE"/>
                </a:buClr>
                <a:buFont typeface="+mj-lt"/>
                <a:buChar char="•"/>
              </a:pPr>
              <a:r>
                <a:rPr lang="en-US" sz="850">
                  <a:solidFill>
                    <a:srgbClr val="231F20"/>
                  </a:solidFill>
                  <a:latin typeface="Raleway" pitchFamily="2" charset="0"/>
                </a:rPr>
                <a:t>Commit to Git repository</a:t>
              </a:r>
            </a:p>
            <a:p>
              <a:pPr marL="114300" indent="-114300">
                <a:spcAft>
                  <a:spcPts val="150"/>
                </a:spcAft>
                <a:buClr>
                  <a:srgbClr val="0596AE"/>
                </a:buClr>
                <a:buFont typeface="+mj-lt"/>
                <a:buChar char="•"/>
              </a:pPr>
              <a:r>
                <a:rPr lang="en-US" sz="850">
                  <a:solidFill>
                    <a:srgbClr val="231F20"/>
                  </a:solidFill>
                  <a:latin typeface="Raleway" pitchFamily="2" charset="0"/>
                </a:rPr>
                <a:t>Insights API integration</a:t>
              </a:r>
              <a:endParaRPr lang="en-IN" sz="850">
                <a:solidFill>
                  <a:srgbClr val="231F20"/>
                </a:solidFill>
                <a:latin typeface="Raleway" pitchFamily="2" charset="0"/>
              </a:endParaRPr>
            </a:p>
          </p:txBody>
        </p:sp>
      </p:grpSp>
      <p:grpSp>
        <p:nvGrpSpPr>
          <p:cNvPr id="47" name="rd157"/>
          <p:cNvGrpSpPr/>
          <p:nvPr/>
        </p:nvGrpSpPr>
        <p:grpSpPr>
          <a:xfrm>
            <a:off x="5989320" y="1051560"/>
            <a:ext cx="2651760" cy="1920240"/>
            <a:chOff x="5989320" y="1051560"/>
            <a:chExt cx="2651760" cy="1920240"/>
          </a:xfrm>
        </p:grpSpPr>
        <p:sp>
          <p:nvSpPr>
            <p:cNvPr id="42" name="rd152"/>
            <p:cNvSpPr/>
            <p:nvPr/>
          </p:nvSpPr>
          <p:spPr>
            <a:xfrm>
              <a:off x="5989320" y="1051560"/>
              <a:ext cx="2651760" cy="192024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3" name="rd153"/>
            <p:cNvSpPr/>
            <p:nvPr/>
          </p:nvSpPr>
          <p:spPr>
            <a:xfrm>
              <a:off x="8001000" y="1179576"/>
              <a:ext cx="530352" cy="182880"/>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00" b="1">
                  <a:solidFill>
                    <a:srgbClr val="074661"/>
                  </a:solidFill>
                  <a:latin typeface="Raleway" pitchFamily="2" charset="0"/>
                </a:rPr>
                <a:t>STEP 1</a:t>
              </a:r>
            </a:p>
          </p:txBody>
        </p:sp>
        <p:sp>
          <p:nvSpPr>
            <p:cNvPr id="44" name="rd154"/>
            <p:cNvSpPr txBox="1"/>
            <p:nvPr/>
          </p:nvSpPr>
          <p:spPr>
            <a:xfrm>
              <a:off x="6099048" y="1143000"/>
              <a:ext cx="1874520"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Data Factory</a:t>
              </a:r>
            </a:p>
          </p:txBody>
        </p:sp>
        <p:sp>
          <p:nvSpPr>
            <p:cNvPr id="45" name="rd155"/>
            <p:cNvSpPr txBox="1"/>
            <p:nvPr/>
          </p:nvSpPr>
          <p:spPr>
            <a:xfrm>
              <a:off x="6099048" y="1417320"/>
              <a:ext cx="243230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Knowledge gathering, build time</a:t>
              </a:r>
            </a:p>
          </p:txBody>
        </p:sp>
        <p:sp>
          <p:nvSpPr>
            <p:cNvPr id="46" name="rd156"/>
            <p:cNvSpPr txBox="1"/>
            <p:nvPr/>
          </p:nvSpPr>
          <p:spPr>
            <a:xfrm>
              <a:off x="6099048" y="1691640"/>
              <a:ext cx="2432304" cy="120700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IN" sz="850">
                  <a:solidFill>
                    <a:srgbClr val="231F20"/>
                  </a:solidFill>
                  <a:latin typeface="Raleway" pitchFamily="2" charset="0"/>
                </a:rPr>
                <a:t>Domain data modelling</a:t>
              </a:r>
            </a:p>
            <a:p>
              <a:pPr marL="114300" indent="-114300">
                <a:spcAft>
                  <a:spcPts val="150"/>
                </a:spcAft>
                <a:buClr>
                  <a:srgbClr val="0596AE"/>
                </a:buClr>
                <a:buFont typeface="+mj-lt"/>
                <a:buChar char="•"/>
              </a:pPr>
              <a:r>
                <a:rPr lang="en-IN" sz="850">
                  <a:solidFill>
                    <a:srgbClr val="231F20"/>
                  </a:solidFill>
                  <a:latin typeface="Raleway" pitchFamily="2" charset="0"/>
                </a:rPr>
                <a:t>Metadata extraction</a:t>
              </a:r>
            </a:p>
            <a:p>
              <a:pPr marL="114300" indent="-114300">
                <a:spcAft>
                  <a:spcPts val="150"/>
                </a:spcAft>
                <a:buClr>
                  <a:srgbClr val="0596AE"/>
                </a:buClr>
                <a:buFont typeface="+mj-lt"/>
                <a:buChar char="•"/>
              </a:pPr>
              <a:r>
                <a:rPr lang="en-IN" sz="850">
                  <a:solidFill>
                    <a:srgbClr val="231F20"/>
                  </a:solidFill>
                  <a:latin typeface="Raleway" pitchFamily="2" charset="0"/>
                </a:rPr>
                <a:t>Domain enrichment</a:t>
              </a:r>
            </a:p>
            <a:p>
              <a:pPr marL="114300" indent="-114300">
                <a:spcAft>
                  <a:spcPts val="150"/>
                </a:spcAft>
                <a:buClr>
                  <a:srgbClr val="0596AE"/>
                </a:buClr>
                <a:buFont typeface="+mj-lt"/>
                <a:buChar char="•"/>
              </a:pPr>
              <a:r>
                <a:rPr lang="en-IN" sz="850">
                  <a:solidFill>
                    <a:srgbClr val="231F20"/>
                  </a:solidFill>
                  <a:latin typeface="Raleway" pitchFamily="2" charset="0"/>
                </a:rPr>
                <a:t>Synthetic data generation</a:t>
              </a:r>
            </a:p>
            <a:p>
              <a:pPr marL="114300" indent="-114300">
                <a:spcAft>
                  <a:spcPts val="150"/>
                </a:spcAft>
                <a:buClr>
                  <a:srgbClr val="0596AE"/>
                </a:buClr>
                <a:buFont typeface="+mj-lt"/>
                <a:buChar char="•"/>
              </a:pPr>
              <a:r>
                <a:rPr lang="en-IN" sz="850">
                  <a:solidFill>
                    <a:srgbClr val="231F20"/>
                  </a:solidFill>
                  <a:latin typeface="Raleway" pitchFamily="2" charset="0"/>
                </a:rPr>
                <a:t>Lower and upper ontology</a:t>
              </a:r>
            </a:p>
            <a:p>
              <a:pPr marL="114300" indent="-114300">
                <a:spcAft>
                  <a:spcPts val="150"/>
                </a:spcAft>
                <a:buClr>
                  <a:srgbClr val="0596AE"/>
                </a:buClr>
                <a:buFont typeface="+mj-lt"/>
                <a:buChar char="•"/>
              </a:pPr>
              <a:r>
                <a:rPr lang="en-IN" sz="850">
                  <a:solidFill>
                    <a:srgbClr val="231F20"/>
                  </a:solidFill>
                  <a:latin typeface="Raleway" pitchFamily="2" charset="0"/>
                </a:rPr>
                <a:t>Populating KAG</a:t>
              </a:r>
            </a:p>
          </p:txBody>
        </p:sp>
      </p:grpSp>
      <p:grpSp>
        <p:nvGrpSpPr>
          <p:cNvPr id="53" name="rd163"/>
          <p:cNvGrpSpPr/>
          <p:nvPr/>
        </p:nvGrpSpPr>
        <p:grpSpPr>
          <a:xfrm>
            <a:off x="9006840" y="1051560"/>
            <a:ext cx="2606040" cy="1920240"/>
            <a:chOff x="9006840" y="1051560"/>
            <a:chExt cx="2606040" cy="1920240"/>
          </a:xfrm>
        </p:grpSpPr>
        <p:sp>
          <p:nvSpPr>
            <p:cNvPr id="48" name="rd158"/>
            <p:cNvSpPr/>
            <p:nvPr/>
          </p:nvSpPr>
          <p:spPr>
            <a:xfrm>
              <a:off x="9006840" y="1051560"/>
              <a:ext cx="2606040" cy="192024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9" name="rd159"/>
            <p:cNvSpPr/>
            <p:nvPr/>
          </p:nvSpPr>
          <p:spPr>
            <a:xfrm>
              <a:off x="10972800" y="1179576"/>
              <a:ext cx="530352" cy="182880"/>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00" b="1">
                  <a:solidFill>
                    <a:srgbClr val="074661"/>
                  </a:solidFill>
                  <a:latin typeface="Raleway" pitchFamily="2" charset="0"/>
                </a:rPr>
                <a:t>STEP 2</a:t>
              </a:r>
            </a:p>
          </p:txBody>
        </p:sp>
        <p:sp>
          <p:nvSpPr>
            <p:cNvPr id="50" name="rd160"/>
            <p:cNvSpPr txBox="1"/>
            <p:nvPr/>
          </p:nvSpPr>
          <p:spPr>
            <a:xfrm>
              <a:off x="9116568" y="1143000"/>
              <a:ext cx="1828800"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KAG</a:t>
              </a:r>
            </a:p>
          </p:txBody>
        </p:sp>
        <p:sp>
          <p:nvSpPr>
            <p:cNvPr id="51" name="rd161"/>
            <p:cNvSpPr txBox="1"/>
            <p:nvPr/>
          </p:nvSpPr>
          <p:spPr>
            <a:xfrm>
              <a:off x="9116568" y="1417320"/>
              <a:ext cx="238658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Knowledge-Augmented Generation</a:t>
              </a:r>
            </a:p>
          </p:txBody>
        </p:sp>
        <p:sp>
          <p:nvSpPr>
            <p:cNvPr id="52" name="rd162"/>
            <p:cNvSpPr txBox="1"/>
            <p:nvPr/>
          </p:nvSpPr>
          <p:spPr>
            <a:xfrm>
              <a:off x="9116568" y="1691640"/>
              <a:ext cx="2386584" cy="120700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IN" sz="850">
                  <a:solidFill>
                    <a:srgbClr val="231F20"/>
                  </a:solidFill>
                  <a:latin typeface="Raleway" pitchFamily="2" charset="0"/>
                </a:rPr>
                <a:t>Domain model</a:t>
              </a:r>
            </a:p>
            <a:p>
              <a:pPr marL="114300" indent="-114300">
                <a:spcAft>
                  <a:spcPts val="150"/>
                </a:spcAft>
                <a:buClr>
                  <a:srgbClr val="0596AE"/>
                </a:buClr>
                <a:buFont typeface="+mj-lt"/>
                <a:buChar char="•"/>
              </a:pPr>
              <a:r>
                <a:rPr lang="en-IN" sz="850">
                  <a:solidFill>
                    <a:srgbClr val="231F20"/>
                  </a:solidFill>
                  <a:latin typeface="Raleway" pitchFamily="2" charset="0"/>
                </a:rPr>
                <a:t>Metadata</a:t>
              </a:r>
            </a:p>
            <a:p>
              <a:pPr marL="114300" indent="-114300">
                <a:spcAft>
                  <a:spcPts val="150"/>
                </a:spcAft>
                <a:buClr>
                  <a:srgbClr val="0596AE"/>
                </a:buClr>
                <a:buFont typeface="+mj-lt"/>
                <a:buChar char="•"/>
              </a:pPr>
              <a:r>
                <a:rPr lang="en-IN" sz="850">
                  <a:solidFill>
                    <a:srgbClr val="231F20"/>
                  </a:solidFill>
                  <a:latin typeface="Raleway" pitchFamily="2" charset="0"/>
                </a:rPr>
                <a:t>Lower ontology</a:t>
              </a:r>
            </a:p>
            <a:p>
              <a:pPr marL="114300" indent="-114300">
                <a:spcAft>
                  <a:spcPts val="150"/>
                </a:spcAft>
                <a:buClr>
                  <a:srgbClr val="0596AE"/>
                </a:buClr>
                <a:buFont typeface="+mj-lt"/>
                <a:buChar char="•"/>
              </a:pPr>
              <a:r>
                <a:rPr lang="en-IN" sz="850">
                  <a:solidFill>
                    <a:srgbClr val="231F20"/>
                  </a:solidFill>
                  <a:latin typeface="Raleway" pitchFamily="2" charset="0"/>
                </a:rPr>
                <a:t>Upper ontology</a:t>
              </a:r>
            </a:p>
          </p:txBody>
        </p:sp>
      </p:grpSp>
      <p:grpSp>
        <p:nvGrpSpPr>
          <p:cNvPr id="59" name="rd169"/>
          <p:cNvGrpSpPr/>
          <p:nvPr/>
        </p:nvGrpSpPr>
        <p:grpSpPr>
          <a:xfrm>
            <a:off x="502920" y="3794760"/>
            <a:ext cx="2194560" cy="2286000"/>
            <a:chOff x="502920" y="3794760"/>
            <a:chExt cx="2194560" cy="2286000"/>
          </a:xfrm>
        </p:grpSpPr>
        <p:sp>
          <p:nvSpPr>
            <p:cNvPr id="54" name="rd164"/>
            <p:cNvSpPr/>
            <p:nvPr/>
          </p:nvSpPr>
          <p:spPr>
            <a:xfrm>
              <a:off x="502920" y="3794760"/>
              <a:ext cx="2194560" cy="228600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5" name="rd165"/>
            <p:cNvSpPr/>
            <p:nvPr/>
          </p:nvSpPr>
          <p:spPr>
            <a:xfrm>
              <a:off x="2057400" y="3922776"/>
              <a:ext cx="530352" cy="182880"/>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00" b="1">
                  <a:solidFill>
                    <a:srgbClr val="074661"/>
                  </a:solidFill>
                  <a:latin typeface="Raleway" pitchFamily="2" charset="0"/>
                </a:rPr>
                <a:t>STEP 2</a:t>
              </a:r>
            </a:p>
          </p:txBody>
        </p:sp>
        <p:sp>
          <p:nvSpPr>
            <p:cNvPr id="56" name="rd166"/>
            <p:cNvSpPr txBox="1"/>
            <p:nvPr/>
          </p:nvSpPr>
          <p:spPr>
            <a:xfrm>
              <a:off x="612648" y="3886200"/>
              <a:ext cx="1417320"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React Application</a:t>
              </a:r>
            </a:p>
          </p:txBody>
        </p:sp>
        <p:sp>
          <p:nvSpPr>
            <p:cNvPr id="57" name="rd167"/>
            <p:cNvSpPr txBox="1"/>
            <p:nvPr/>
          </p:nvSpPr>
          <p:spPr>
            <a:xfrm>
              <a:off x="612648" y="4160520"/>
              <a:ext cx="197510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Use-case specific UI</a:t>
              </a:r>
            </a:p>
          </p:txBody>
        </p:sp>
        <p:sp>
          <p:nvSpPr>
            <p:cNvPr id="58" name="rd168"/>
            <p:cNvSpPr txBox="1"/>
            <p:nvPr/>
          </p:nvSpPr>
          <p:spPr>
            <a:xfrm>
              <a:off x="612648" y="4434840"/>
              <a:ext cx="1975104" cy="157276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US" sz="850">
                  <a:solidFill>
                    <a:srgbClr val="231F20"/>
                  </a:solidFill>
                  <a:latin typeface="Raleway" pitchFamily="2" charset="0"/>
                </a:rPr>
                <a:t>Integrates with Insights API</a:t>
              </a:r>
            </a:p>
            <a:p>
              <a:pPr marL="114300" indent="-114300">
                <a:spcAft>
                  <a:spcPts val="150"/>
                </a:spcAft>
                <a:buClr>
                  <a:srgbClr val="0596AE"/>
                </a:buClr>
                <a:buFont typeface="+mj-lt"/>
                <a:buChar char="•"/>
              </a:pPr>
              <a:r>
                <a:rPr lang="en-US" sz="850">
                  <a:solidFill>
                    <a:srgbClr val="231F20"/>
                  </a:solidFill>
                  <a:latin typeface="Raleway" pitchFamily="2" charset="0"/>
                </a:rPr>
                <a:t>Conversational UI</a:t>
              </a:r>
            </a:p>
            <a:p>
              <a:pPr marL="114300" indent="-114300">
                <a:spcAft>
                  <a:spcPts val="150"/>
                </a:spcAft>
                <a:buClr>
                  <a:srgbClr val="0596AE"/>
                </a:buClr>
                <a:buFont typeface="+mj-lt"/>
                <a:buChar char="•"/>
              </a:pPr>
              <a:r>
                <a:rPr lang="en-US" sz="850">
                  <a:solidFill>
                    <a:srgbClr val="231F20"/>
                  </a:solidFill>
                  <a:latin typeface="Raleway" pitchFamily="2" charset="0"/>
                </a:rPr>
                <a:t>Renders GenUI responses</a:t>
              </a:r>
            </a:p>
            <a:p>
              <a:pPr marL="114300" indent="-114300">
                <a:spcAft>
                  <a:spcPts val="150"/>
                </a:spcAft>
                <a:buClr>
                  <a:srgbClr val="0596AE"/>
                </a:buClr>
                <a:buFont typeface="+mj-lt"/>
                <a:buChar char="•"/>
              </a:pPr>
              <a:r>
                <a:rPr lang="en-US" sz="850">
                  <a:solidFill>
                    <a:srgbClr val="231F20"/>
                  </a:solidFill>
                  <a:latin typeface="Raleway" pitchFamily="2" charset="0"/>
                </a:rPr>
                <a:t>GenUI component JSON</a:t>
              </a:r>
              <a:endParaRPr lang="en-IN" sz="850">
                <a:solidFill>
                  <a:srgbClr val="231F20"/>
                </a:solidFill>
                <a:latin typeface="Raleway" pitchFamily="2" charset="0"/>
              </a:endParaRPr>
            </a:p>
          </p:txBody>
        </p:sp>
      </p:grpSp>
      <p:grpSp>
        <p:nvGrpSpPr>
          <p:cNvPr id="65" name="rd175"/>
          <p:cNvGrpSpPr/>
          <p:nvPr/>
        </p:nvGrpSpPr>
        <p:grpSpPr>
          <a:xfrm>
            <a:off x="3429000" y="3794760"/>
            <a:ext cx="2514600" cy="2286000"/>
            <a:chOff x="3429000" y="3794760"/>
            <a:chExt cx="2514600" cy="2286000"/>
          </a:xfrm>
        </p:grpSpPr>
        <p:sp>
          <p:nvSpPr>
            <p:cNvPr id="60" name="rd170"/>
            <p:cNvSpPr/>
            <p:nvPr/>
          </p:nvSpPr>
          <p:spPr>
            <a:xfrm>
              <a:off x="3429000" y="3794760"/>
              <a:ext cx="2514600" cy="228600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1" name="rd171"/>
            <p:cNvSpPr/>
            <p:nvPr/>
          </p:nvSpPr>
          <p:spPr>
            <a:xfrm>
              <a:off x="5303520" y="3922776"/>
              <a:ext cx="530352" cy="182880"/>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00" b="1">
                  <a:solidFill>
                    <a:srgbClr val="074661"/>
                  </a:solidFill>
                  <a:latin typeface="Raleway" pitchFamily="2" charset="0"/>
                </a:rPr>
                <a:t>STEP 2</a:t>
              </a:r>
            </a:p>
          </p:txBody>
        </p:sp>
        <p:sp>
          <p:nvSpPr>
            <p:cNvPr id="62" name="rd172"/>
            <p:cNvSpPr txBox="1"/>
            <p:nvPr/>
          </p:nvSpPr>
          <p:spPr>
            <a:xfrm>
              <a:off x="3538728" y="3886200"/>
              <a:ext cx="1737360"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Insights Factory</a:t>
              </a:r>
            </a:p>
          </p:txBody>
        </p:sp>
        <p:sp>
          <p:nvSpPr>
            <p:cNvPr id="63" name="rd173"/>
            <p:cNvSpPr txBox="1"/>
            <p:nvPr/>
          </p:nvSpPr>
          <p:spPr>
            <a:xfrm>
              <a:off x="3538728" y="4160520"/>
              <a:ext cx="229514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Data Insights API</a:t>
              </a:r>
            </a:p>
          </p:txBody>
        </p:sp>
        <p:sp>
          <p:nvSpPr>
            <p:cNvPr id="64" name="rd174"/>
            <p:cNvSpPr txBox="1"/>
            <p:nvPr/>
          </p:nvSpPr>
          <p:spPr>
            <a:xfrm>
              <a:off x="3538728" y="4434840"/>
              <a:ext cx="2295144" cy="157276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US" sz="850">
                  <a:solidFill>
                    <a:srgbClr val="231F20"/>
                  </a:solidFill>
                  <a:latin typeface="Raleway" pitchFamily="2" charset="0"/>
                </a:rPr>
                <a:t>5 standard APIs</a:t>
              </a:r>
            </a:p>
            <a:p>
              <a:pPr marL="114300" indent="-114300">
                <a:spcAft>
                  <a:spcPts val="150"/>
                </a:spcAft>
                <a:buClr>
                  <a:srgbClr val="0596AE"/>
                </a:buClr>
                <a:buFont typeface="+mj-lt"/>
                <a:buChar char="•"/>
              </a:pPr>
              <a:r>
                <a:rPr lang="en-US" sz="850">
                  <a:solidFill>
                    <a:srgbClr val="231F20"/>
                  </a:solidFill>
                  <a:latin typeface="Raleway" pitchFamily="2" charset="0"/>
                </a:rPr>
                <a:t>GenUI JSON structure</a:t>
              </a:r>
            </a:p>
            <a:p>
              <a:pPr marL="114300" indent="-114300">
                <a:spcAft>
                  <a:spcPts val="150"/>
                </a:spcAft>
                <a:buClr>
                  <a:srgbClr val="0596AE"/>
                </a:buClr>
                <a:buFont typeface="+mj-lt"/>
                <a:buChar char="•"/>
              </a:pPr>
              <a:r>
                <a:rPr lang="en-US" sz="850">
                  <a:solidFill>
                    <a:srgbClr val="231F20"/>
                  </a:solidFill>
                  <a:latin typeface="Raleway" pitchFamily="2" charset="0"/>
                </a:rPr>
                <a:t>Component, Variant payload</a:t>
              </a:r>
            </a:p>
            <a:p>
              <a:pPr marL="114300" indent="-114300">
                <a:spcAft>
                  <a:spcPts val="150"/>
                </a:spcAft>
                <a:buClr>
                  <a:srgbClr val="0596AE"/>
                </a:buClr>
                <a:buFont typeface="+mj-lt"/>
                <a:buChar char="•"/>
              </a:pPr>
              <a:r>
                <a:rPr lang="en-US" sz="850">
                  <a:solidFill>
                    <a:srgbClr val="231F20"/>
                  </a:solidFill>
                  <a:latin typeface="Raleway" pitchFamily="2" charset="0"/>
                </a:rPr>
                <a:t>Calls Insights Server</a:t>
              </a:r>
            </a:p>
            <a:p>
              <a:pPr marL="114300" indent="-114300">
                <a:spcAft>
                  <a:spcPts val="150"/>
                </a:spcAft>
                <a:buClr>
                  <a:srgbClr val="0596AE"/>
                </a:buClr>
                <a:buFont typeface="+mj-lt"/>
                <a:buChar char="•"/>
              </a:pPr>
              <a:r>
                <a:rPr lang="en-US" sz="850">
                  <a:solidFill>
                    <a:srgbClr val="231F20"/>
                  </a:solidFill>
                  <a:latin typeface="Raleway" pitchFamily="2" charset="0"/>
                </a:rPr>
                <a:t>Retrieves result set</a:t>
              </a:r>
            </a:p>
            <a:p>
              <a:pPr marL="114300" indent="-114300">
                <a:spcAft>
                  <a:spcPts val="150"/>
                </a:spcAft>
                <a:buClr>
                  <a:srgbClr val="0596AE"/>
                </a:buClr>
                <a:buFont typeface="+mj-lt"/>
                <a:buChar char="•"/>
              </a:pPr>
              <a:r>
                <a:rPr lang="en-US" sz="850">
                  <a:solidFill>
                    <a:srgbClr val="231F20"/>
                  </a:solidFill>
                  <a:latin typeface="Raleway" pitchFamily="2" charset="0"/>
                </a:rPr>
                <a:t>Transform utility to JSON</a:t>
              </a:r>
              <a:endParaRPr lang="en-IN" sz="850">
                <a:solidFill>
                  <a:srgbClr val="231F20"/>
                </a:solidFill>
                <a:latin typeface="Raleway" pitchFamily="2" charset="0"/>
              </a:endParaRPr>
            </a:p>
          </p:txBody>
        </p:sp>
      </p:grpSp>
      <p:grpSp>
        <p:nvGrpSpPr>
          <p:cNvPr id="71" name="rd181"/>
          <p:cNvGrpSpPr/>
          <p:nvPr/>
        </p:nvGrpSpPr>
        <p:grpSpPr>
          <a:xfrm>
            <a:off x="6675120" y="3794760"/>
            <a:ext cx="2468880" cy="2286000"/>
            <a:chOff x="6675120" y="3794760"/>
            <a:chExt cx="2468880" cy="2286000"/>
          </a:xfrm>
        </p:grpSpPr>
        <p:sp>
          <p:nvSpPr>
            <p:cNvPr id="66" name="rd176"/>
            <p:cNvSpPr/>
            <p:nvPr/>
          </p:nvSpPr>
          <p:spPr>
            <a:xfrm>
              <a:off x="6675120" y="3794760"/>
              <a:ext cx="2468880" cy="228600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7" name="rd177"/>
            <p:cNvSpPr/>
            <p:nvPr/>
          </p:nvSpPr>
          <p:spPr>
            <a:xfrm>
              <a:off x="8503920" y="3922776"/>
              <a:ext cx="530352" cy="182880"/>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00" b="1">
                  <a:solidFill>
                    <a:srgbClr val="074661"/>
                  </a:solidFill>
                  <a:latin typeface="Raleway" pitchFamily="2" charset="0"/>
                </a:rPr>
                <a:t>STEP 3</a:t>
              </a:r>
            </a:p>
          </p:txBody>
        </p:sp>
        <p:sp>
          <p:nvSpPr>
            <p:cNvPr id="68" name="rd178"/>
            <p:cNvSpPr txBox="1"/>
            <p:nvPr/>
          </p:nvSpPr>
          <p:spPr>
            <a:xfrm>
              <a:off x="6784848" y="3886200"/>
              <a:ext cx="1691640"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Insights Server</a:t>
              </a:r>
            </a:p>
          </p:txBody>
        </p:sp>
        <p:sp>
          <p:nvSpPr>
            <p:cNvPr id="69" name="rd179"/>
            <p:cNvSpPr txBox="1"/>
            <p:nvPr/>
          </p:nvSpPr>
          <p:spPr>
            <a:xfrm>
              <a:off x="6784848" y="4160520"/>
              <a:ext cx="224942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LLM-powered runtime workflow</a:t>
              </a:r>
            </a:p>
          </p:txBody>
        </p:sp>
        <p:sp>
          <p:nvSpPr>
            <p:cNvPr id="70" name="rd180"/>
            <p:cNvSpPr txBox="1"/>
            <p:nvPr/>
          </p:nvSpPr>
          <p:spPr>
            <a:xfrm>
              <a:off x="6784848" y="4434840"/>
              <a:ext cx="2249424" cy="157276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US" sz="800">
                  <a:solidFill>
                    <a:srgbClr val="231F20"/>
                  </a:solidFill>
                  <a:latin typeface="Raleway" pitchFamily="2" charset="0"/>
                </a:rPr>
                <a:t>Cache lookup</a:t>
              </a:r>
            </a:p>
            <a:p>
              <a:pPr marL="114300" indent="-114300">
                <a:spcAft>
                  <a:spcPts val="150"/>
                </a:spcAft>
                <a:buClr>
                  <a:srgbClr val="0596AE"/>
                </a:buClr>
                <a:buFont typeface="+mj-lt"/>
                <a:buChar char="•"/>
              </a:pPr>
              <a:r>
                <a:rPr lang="en-US" sz="800">
                  <a:solidFill>
                    <a:srgbClr val="231F20"/>
                  </a:solidFill>
                  <a:latin typeface="Raleway" pitchFamily="2" charset="0"/>
                </a:rPr>
                <a:t>Intent classification</a:t>
              </a:r>
            </a:p>
            <a:p>
              <a:pPr marL="114300" indent="-114300">
                <a:spcAft>
                  <a:spcPts val="150"/>
                </a:spcAft>
                <a:buClr>
                  <a:srgbClr val="0596AE"/>
                </a:buClr>
                <a:buFont typeface="+mj-lt"/>
                <a:buChar char="•"/>
              </a:pPr>
              <a:r>
                <a:rPr lang="en-US" sz="800">
                  <a:solidFill>
                    <a:srgbClr val="231F20"/>
                  </a:solidFill>
                  <a:latin typeface="Raleway" pitchFamily="2" charset="0"/>
                </a:rPr>
                <a:t>Clarification gate</a:t>
              </a:r>
            </a:p>
            <a:p>
              <a:pPr marL="114300" indent="-114300">
                <a:spcAft>
                  <a:spcPts val="150"/>
                </a:spcAft>
                <a:buClr>
                  <a:srgbClr val="0596AE"/>
                </a:buClr>
                <a:buFont typeface="+mj-lt"/>
                <a:buChar char="•"/>
              </a:pPr>
              <a:r>
                <a:rPr lang="en-US" sz="800">
                  <a:solidFill>
                    <a:srgbClr val="231F20"/>
                  </a:solidFill>
                  <a:latin typeface="Raleway" pitchFamily="2" charset="0"/>
                </a:rPr>
                <a:t>Data retrieval</a:t>
              </a:r>
            </a:p>
            <a:p>
              <a:pPr marL="114300" indent="-114300">
                <a:spcAft>
                  <a:spcPts val="150"/>
                </a:spcAft>
                <a:buClr>
                  <a:srgbClr val="0596AE"/>
                </a:buClr>
                <a:buFont typeface="+mj-lt"/>
                <a:buChar char="•"/>
              </a:pPr>
              <a:r>
                <a:rPr lang="en-US" sz="800">
                  <a:solidFill>
                    <a:srgbClr val="231F20"/>
                  </a:solidFill>
                  <a:latin typeface="Raleway" pitchFamily="2" charset="0"/>
                </a:rPr>
                <a:t>Data intelligence</a:t>
              </a:r>
            </a:p>
            <a:p>
              <a:pPr marL="114300" indent="-114300">
                <a:spcAft>
                  <a:spcPts val="150"/>
                </a:spcAft>
                <a:buClr>
                  <a:srgbClr val="0596AE"/>
                </a:buClr>
                <a:buFont typeface="+mj-lt"/>
                <a:buChar char="•"/>
              </a:pPr>
              <a:r>
                <a:rPr lang="en-US" sz="800">
                  <a:solidFill>
                    <a:srgbClr val="231F20"/>
                  </a:solidFill>
                  <a:latin typeface="Raleway" pitchFamily="2" charset="0"/>
                </a:rPr>
                <a:t>Report generation</a:t>
              </a:r>
            </a:p>
            <a:p>
              <a:pPr marL="114300" indent="-114300">
                <a:spcAft>
                  <a:spcPts val="150"/>
                </a:spcAft>
                <a:buClr>
                  <a:srgbClr val="0596AE"/>
                </a:buClr>
                <a:buFont typeface="+mj-lt"/>
                <a:buChar char="•"/>
              </a:pPr>
              <a:r>
                <a:rPr lang="en-US" sz="800">
                  <a:solidFill>
                    <a:srgbClr val="231F20"/>
                  </a:solidFill>
                  <a:latin typeface="Raleway" pitchFamily="2" charset="0"/>
                </a:rPr>
                <a:t>Hydrate + casting</a:t>
              </a:r>
            </a:p>
            <a:p>
              <a:pPr marL="114300" indent="-114300">
                <a:spcAft>
                  <a:spcPts val="150"/>
                </a:spcAft>
                <a:buClr>
                  <a:srgbClr val="0596AE"/>
                </a:buClr>
                <a:buFont typeface="+mj-lt"/>
                <a:buChar char="•"/>
              </a:pPr>
              <a:r>
                <a:rPr lang="en-US" sz="800">
                  <a:solidFill>
                    <a:srgbClr val="231F20"/>
                  </a:solidFill>
                  <a:latin typeface="Raleway" pitchFamily="2" charset="0"/>
                </a:rPr>
                <a:t>Streaming and rendering</a:t>
              </a:r>
              <a:endParaRPr lang="en-IN" sz="800">
                <a:solidFill>
                  <a:srgbClr val="231F20"/>
                </a:solidFill>
                <a:latin typeface="Raleway" pitchFamily="2" charset="0"/>
              </a:endParaRPr>
            </a:p>
          </p:txBody>
        </p:sp>
      </p:grpSp>
      <p:grpSp>
        <p:nvGrpSpPr>
          <p:cNvPr id="76" name="rd186"/>
          <p:cNvGrpSpPr/>
          <p:nvPr/>
        </p:nvGrpSpPr>
        <p:grpSpPr>
          <a:xfrm>
            <a:off x="9875520" y="3794760"/>
            <a:ext cx="1828800" cy="2286000"/>
            <a:chOff x="9875520" y="3794760"/>
            <a:chExt cx="1828800" cy="2286000"/>
          </a:xfrm>
        </p:grpSpPr>
        <p:sp>
          <p:nvSpPr>
            <p:cNvPr id="72" name="rd182"/>
            <p:cNvSpPr/>
            <p:nvPr/>
          </p:nvSpPr>
          <p:spPr>
            <a:xfrm>
              <a:off x="9875520" y="3794760"/>
              <a:ext cx="1828800" cy="2286000"/>
            </a:xfrm>
            <a:prstGeom prst="roundRect">
              <a:avLst>
                <a:gd name="adj" fmla="val 5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73" name="rd183"/>
            <p:cNvSpPr txBox="1"/>
            <p:nvPr/>
          </p:nvSpPr>
          <p:spPr>
            <a:xfrm>
              <a:off x="9985248" y="3886200"/>
              <a:ext cx="1609344" cy="274320"/>
            </a:xfrm>
            <a:prstGeom prst="rect">
              <a:avLst/>
            </a:prstGeom>
            <a:noFill/>
          </p:spPr>
          <p:txBody>
            <a:bodyPr vert="horz" wrap="square" lIns="0" tIns="0" rIns="0" bIns="0" rtlCol="0" anchor="ctr">
              <a:noAutofit/>
            </a:bodyPr>
            <a:lstStyle/>
            <a:p>
              <a:r>
                <a:rPr lang="en-IN" sz="1200" b="1">
                  <a:solidFill>
                    <a:srgbClr val="074661"/>
                  </a:solidFill>
                  <a:latin typeface="Raleway" pitchFamily="2" charset="0"/>
                </a:rPr>
                <a:t>Data Sources</a:t>
              </a:r>
            </a:p>
          </p:txBody>
        </p:sp>
        <p:sp>
          <p:nvSpPr>
            <p:cNvPr id="74" name="rd184"/>
            <p:cNvSpPr txBox="1"/>
            <p:nvPr/>
          </p:nvSpPr>
          <p:spPr>
            <a:xfrm>
              <a:off x="9985248" y="4160520"/>
              <a:ext cx="1609344" cy="201168"/>
            </a:xfrm>
            <a:prstGeom prst="rect">
              <a:avLst/>
            </a:prstGeom>
            <a:noFill/>
          </p:spPr>
          <p:txBody>
            <a:bodyPr vert="horz" wrap="square" lIns="0" tIns="0" rIns="0" bIns="0" rtlCol="0" anchor="ctr">
              <a:noAutofit/>
            </a:bodyPr>
            <a:lstStyle/>
            <a:p>
              <a:r>
                <a:rPr lang="en-IN" sz="800">
                  <a:solidFill>
                    <a:srgbClr val="5B6B73"/>
                  </a:solidFill>
                  <a:latin typeface="Raleway" pitchFamily="2" charset="0"/>
                </a:rPr>
                <a:t>Internal and external</a:t>
              </a:r>
            </a:p>
          </p:txBody>
        </p:sp>
        <p:sp>
          <p:nvSpPr>
            <p:cNvPr id="75" name="rd185"/>
            <p:cNvSpPr txBox="1"/>
            <p:nvPr/>
          </p:nvSpPr>
          <p:spPr>
            <a:xfrm>
              <a:off x="9985248" y="4434840"/>
              <a:ext cx="1609344" cy="1572768"/>
            </a:xfrm>
            <a:prstGeom prst="rect">
              <a:avLst/>
            </a:prstGeom>
            <a:noFill/>
          </p:spPr>
          <p:txBody>
            <a:bodyPr vert="horz" wrap="square" lIns="0" tIns="0" rIns="0" bIns="0" rtlCol="0" anchor="t">
              <a:noAutofit/>
            </a:bodyPr>
            <a:lstStyle/>
            <a:p>
              <a:pPr marL="114300" indent="-114300">
                <a:spcAft>
                  <a:spcPts val="150"/>
                </a:spcAft>
                <a:buClr>
                  <a:srgbClr val="0596AE"/>
                </a:buClr>
                <a:buFont typeface="+mj-lt"/>
                <a:buChar char="•"/>
              </a:pPr>
              <a:r>
                <a:rPr lang="en-IN" sz="850">
                  <a:solidFill>
                    <a:srgbClr val="231F20"/>
                  </a:solidFill>
                  <a:latin typeface="Raleway" pitchFamily="2" charset="0"/>
                </a:rPr>
                <a:t>Internal data sources</a:t>
              </a:r>
            </a:p>
            <a:p>
              <a:pPr marL="114300" indent="-114300">
                <a:spcAft>
                  <a:spcPts val="150"/>
                </a:spcAft>
                <a:buClr>
                  <a:srgbClr val="0596AE"/>
                </a:buClr>
                <a:buFont typeface="+mj-lt"/>
                <a:buChar char="•"/>
              </a:pPr>
              <a:r>
                <a:rPr lang="en-IN" sz="850">
                  <a:solidFill>
                    <a:srgbClr val="231F20"/>
                  </a:solidFill>
                  <a:latin typeface="Raleway" pitchFamily="2" charset="0"/>
                </a:rPr>
                <a:t>External data sources</a:t>
              </a:r>
            </a:p>
          </p:txBody>
        </p:sp>
      </p:grpSp>
      <p:sp>
        <p:nvSpPr>
          <p:cNvPr id="77" name="rd187"/>
          <p:cNvSpPr/>
          <p:nvPr/>
        </p:nvSpPr>
        <p:spPr>
          <a:xfrm>
            <a:off x="2574036" y="1888236"/>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1</a:t>
            </a:r>
          </a:p>
        </p:txBody>
      </p:sp>
      <p:sp>
        <p:nvSpPr>
          <p:cNvPr id="78" name="rd188"/>
          <p:cNvSpPr/>
          <p:nvPr/>
        </p:nvSpPr>
        <p:spPr>
          <a:xfrm>
            <a:off x="7191756" y="713232"/>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1</a:t>
            </a:r>
          </a:p>
        </p:txBody>
      </p:sp>
      <p:sp>
        <p:nvSpPr>
          <p:cNvPr id="79" name="rd189"/>
          <p:cNvSpPr/>
          <p:nvPr/>
        </p:nvSpPr>
        <p:spPr>
          <a:xfrm>
            <a:off x="8700516" y="1888236"/>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2</a:t>
            </a:r>
          </a:p>
        </p:txBody>
      </p:sp>
      <p:sp>
        <p:nvSpPr>
          <p:cNvPr id="80" name="rd190"/>
          <p:cNvSpPr/>
          <p:nvPr/>
        </p:nvSpPr>
        <p:spPr>
          <a:xfrm>
            <a:off x="3076956" y="3442716"/>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3</a:t>
            </a:r>
          </a:p>
        </p:txBody>
      </p:sp>
      <p:sp>
        <p:nvSpPr>
          <p:cNvPr id="81" name="rd191"/>
          <p:cNvSpPr txBox="1"/>
          <p:nvPr/>
        </p:nvSpPr>
        <p:spPr>
          <a:xfrm>
            <a:off x="2240280" y="3602736"/>
            <a:ext cx="822960" cy="182880"/>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React app via Git</a:t>
            </a:r>
          </a:p>
        </p:txBody>
      </p:sp>
      <p:sp>
        <p:nvSpPr>
          <p:cNvPr id="82" name="rd192"/>
          <p:cNvSpPr/>
          <p:nvPr/>
        </p:nvSpPr>
        <p:spPr>
          <a:xfrm>
            <a:off x="2939796" y="4402836"/>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4</a:t>
            </a:r>
          </a:p>
        </p:txBody>
      </p:sp>
      <p:sp>
        <p:nvSpPr>
          <p:cNvPr id="83" name="rd193"/>
          <p:cNvSpPr txBox="1"/>
          <p:nvPr/>
        </p:nvSpPr>
        <p:spPr>
          <a:xfrm>
            <a:off x="2651760" y="4078224"/>
            <a:ext cx="822960" cy="310896"/>
          </a:xfrm>
          <a:prstGeom prst="rect">
            <a:avLst/>
          </a:prstGeom>
          <a:noFill/>
        </p:spPr>
        <p:txBody>
          <a:bodyPr vert="horz" wrap="square" lIns="0" tIns="0" rIns="0" bIns="0" rtlCol="0" anchor="b">
            <a:noAutofit/>
          </a:bodyPr>
          <a:lstStyle/>
          <a:p>
            <a:pPr algn="ctr"/>
            <a:r>
              <a:rPr lang="en-IN" sz="700">
                <a:solidFill>
                  <a:srgbClr val="5B6B73"/>
                </a:solidFill>
                <a:latin typeface="Raleway" pitchFamily="2" charset="0"/>
              </a:rPr>
              <a:t>Component, Variant, Ask</a:t>
            </a:r>
          </a:p>
        </p:txBody>
      </p:sp>
      <p:sp>
        <p:nvSpPr>
          <p:cNvPr id="84" name="rd194"/>
          <p:cNvSpPr/>
          <p:nvPr/>
        </p:nvSpPr>
        <p:spPr>
          <a:xfrm>
            <a:off x="6185916" y="4402836"/>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5</a:t>
            </a:r>
          </a:p>
        </p:txBody>
      </p:sp>
      <p:sp>
        <p:nvSpPr>
          <p:cNvPr id="85" name="rd195"/>
          <p:cNvSpPr txBox="1"/>
          <p:nvPr/>
        </p:nvSpPr>
        <p:spPr>
          <a:xfrm>
            <a:off x="5897880" y="4078224"/>
            <a:ext cx="822960" cy="310896"/>
          </a:xfrm>
          <a:prstGeom prst="rect">
            <a:avLst/>
          </a:prstGeom>
          <a:noFill/>
        </p:spPr>
        <p:txBody>
          <a:bodyPr vert="horz" wrap="square" lIns="0" tIns="0" rIns="0" bIns="0" rtlCol="0" anchor="b">
            <a:noAutofit/>
          </a:bodyPr>
          <a:lstStyle/>
          <a:p>
            <a:pPr algn="ctr"/>
            <a:r>
              <a:rPr lang="en-IN" sz="700">
                <a:solidFill>
                  <a:srgbClr val="5B6B73"/>
                </a:solidFill>
                <a:latin typeface="Raleway" pitchFamily="2" charset="0"/>
              </a:rPr>
              <a:t>Component, Variant, Ask</a:t>
            </a:r>
          </a:p>
        </p:txBody>
      </p:sp>
      <p:sp>
        <p:nvSpPr>
          <p:cNvPr id="86" name="rd196"/>
          <p:cNvSpPr/>
          <p:nvPr/>
        </p:nvSpPr>
        <p:spPr>
          <a:xfrm>
            <a:off x="9569196" y="3145536"/>
            <a:ext cx="246888" cy="24688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6</a:t>
            </a:r>
          </a:p>
        </p:txBody>
      </p:sp>
      <p:sp>
        <p:nvSpPr>
          <p:cNvPr id="87" name="rd197"/>
          <p:cNvSpPr txBox="1"/>
          <p:nvPr/>
        </p:nvSpPr>
        <p:spPr>
          <a:xfrm>
            <a:off x="8503920" y="3602736"/>
            <a:ext cx="822960" cy="182880"/>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Context</a:t>
            </a:r>
          </a:p>
        </p:txBody>
      </p:sp>
      <p:sp>
        <p:nvSpPr>
          <p:cNvPr id="88" name="rd198"/>
          <p:cNvSpPr/>
          <p:nvPr/>
        </p:nvSpPr>
        <p:spPr>
          <a:xfrm>
            <a:off x="9386316" y="4402836"/>
            <a:ext cx="246888" cy="24688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7</a:t>
            </a:r>
          </a:p>
        </p:txBody>
      </p:sp>
      <p:sp>
        <p:nvSpPr>
          <p:cNvPr id="89" name="rd199"/>
          <p:cNvSpPr txBox="1"/>
          <p:nvPr/>
        </p:nvSpPr>
        <p:spPr>
          <a:xfrm>
            <a:off x="9098280" y="4133088"/>
            <a:ext cx="822960" cy="256032"/>
          </a:xfrm>
          <a:prstGeom prst="rect">
            <a:avLst/>
          </a:prstGeom>
          <a:noFill/>
        </p:spPr>
        <p:txBody>
          <a:bodyPr vert="horz" wrap="square" lIns="0" tIns="0" rIns="0" bIns="0" rtlCol="0" anchor="b">
            <a:noAutofit/>
          </a:bodyPr>
          <a:lstStyle/>
          <a:p>
            <a:pPr algn="ctr"/>
            <a:r>
              <a:rPr lang="en-IN" sz="700">
                <a:solidFill>
                  <a:srgbClr val="5B6B73"/>
                </a:solidFill>
                <a:latin typeface="Raleway" pitchFamily="2" charset="0"/>
              </a:rPr>
              <a:t>Cypher query</a:t>
            </a:r>
          </a:p>
        </p:txBody>
      </p:sp>
      <p:sp>
        <p:nvSpPr>
          <p:cNvPr id="90" name="rd200"/>
          <p:cNvSpPr/>
          <p:nvPr/>
        </p:nvSpPr>
        <p:spPr>
          <a:xfrm>
            <a:off x="9386316" y="5271516"/>
            <a:ext cx="246888" cy="24688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8</a:t>
            </a:r>
          </a:p>
        </p:txBody>
      </p:sp>
      <p:sp>
        <p:nvSpPr>
          <p:cNvPr id="91" name="rd201"/>
          <p:cNvSpPr txBox="1"/>
          <p:nvPr/>
        </p:nvSpPr>
        <p:spPr>
          <a:xfrm>
            <a:off x="9098280" y="5550408"/>
            <a:ext cx="822960" cy="256032"/>
          </a:xfrm>
          <a:prstGeom prst="rect">
            <a:avLst/>
          </a:prstGeom>
          <a:noFill/>
        </p:spPr>
        <p:txBody>
          <a:bodyPr vert="horz" wrap="square" lIns="0" tIns="0" rIns="0" bIns="0" rtlCol="0" anchor="t">
            <a:noAutofit/>
          </a:bodyPr>
          <a:lstStyle/>
          <a:p>
            <a:pPr algn="ctr"/>
            <a:r>
              <a:rPr lang="en-IN" sz="700">
                <a:solidFill>
                  <a:srgbClr val="5B6B73"/>
                </a:solidFill>
                <a:latin typeface="Raleway" pitchFamily="2" charset="0"/>
              </a:rPr>
              <a:t>Raw data</a:t>
            </a:r>
          </a:p>
        </p:txBody>
      </p:sp>
      <p:sp>
        <p:nvSpPr>
          <p:cNvPr id="92" name="rd202"/>
          <p:cNvSpPr/>
          <p:nvPr/>
        </p:nvSpPr>
        <p:spPr>
          <a:xfrm>
            <a:off x="6185916" y="5271516"/>
            <a:ext cx="246888" cy="24688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9</a:t>
            </a:r>
          </a:p>
        </p:txBody>
      </p:sp>
      <p:sp>
        <p:nvSpPr>
          <p:cNvPr id="93" name="rd203"/>
          <p:cNvSpPr txBox="1"/>
          <p:nvPr/>
        </p:nvSpPr>
        <p:spPr>
          <a:xfrm>
            <a:off x="5897880" y="5550408"/>
            <a:ext cx="822960" cy="256032"/>
          </a:xfrm>
          <a:prstGeom prst="rect">
            <a:avLst/>
          </a:prstGeom>
          <a:noFill/>
        </p:spPr>
        <p:txBody>
          <a:bodyPr vert="horz" wrap="square" lIns="0" tIns="0" rIns="0" bIns="0" rtlCol="0" anchor="t">
            <a:noAutofit/>
          </a:bodyPr>
          <a:lstStyle/>
          <a:p>
            <a:pPr algn="ctr"/>
            <a:r>
              <a:rPr lang="en-IN" sz="700">
                <a:solidFill>
                  <a:srgbClr val="5B6B73"/>
                </a:solidFill>
                <a:latin typeface="Raleway" pitchFamily="2" charset="0"/>
              </a:rPr>
              <a:t>Result set data</a:t>
            </a:r>
          </a:p>
        </p:txBody>
      </p:sp>
      <p:sp>
        <p:nvSpPr>
          <p:cNvPr id="94" name="rd204"/>
          <p:cNvSpPr/>
          <p:nvPr/>
        </p:nvSpPr>
        <p:spPr>
          <a:xfrm>
            <a:off x="2939796" y="5271516"/>
            <a:ext cx="246888" cy="24688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10</a:t>
            </a:r>
          </a:p>
        </p:txBody>
      </p:sp>
      <p:sp>
        <p:nvSpPr>
          <p:cNvPr id="95" name="rd205"/>
          <p:cNvSpPr txBox="1"/>
          <p:nvPr/>
        </p:nvSpPr>
        <p:spPr>
          <a:xfrm>
            <a:off x="2651760" y="5550408"/>
            <a:ext cx="822960" cy="256032"/>
          </a:xfrm>
          <a:prstGeom prst="rect">
            <a:avLst/>
          </a:prstGeom>
          <a:noFill/>
        </p:spPr>
        <p:txBody>
          <a:bodyPr vert="horz" wrap="square" lIns="0" tIns="0" rIns="0" bIns="0" rtlCol="0" anchor="t">
            <a:noAutofit/>
          </a:bodyPr>
          <a:lstStyle/>
          <a:p>
            <a:pPr algn="ctr"/>
            <a:r>
              <a:rPr lang="en-IN" sz="700">
                <a:solidFill>
                  <a:srgbClr val="5B6B73"/>
                </a:solidFill>
                <a:latin typeface="Raleway" pitchFamily="2" charset="0"/>
              </a:rPr>
              <a:t>Response JSON</a:t>
            </a:r>
          </a:p>
        </p:txBody>
      </p:sp>
      <p:sp>
        <p:nvSpPr>
          <p:cNvPr id="96" name="rd206"/>
          <p:cNvSpPr/>
          <p:nvPr/>
        </p:nvSpPr>
        <p:spPr>
          <a:xfrm>
            <a:off x="973836" y="3031236"/>
            <a:ext cx="246888" cy="24688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11</a:t>
            </a:r>
          </a:p>
        </p:txBody>
      </p:sp>
      <p:sp>
        <p:nvSpPr>
          <p:cNvPr id="97" name="rd207"/>
          <p:cNvSpPr txBox="1"/>
          <p:nvPr/>
        </p:nvSpPr>
        <p:spPr>
          <a:xfrm>
            <a:off x="274320" y="3054096"/>
            <a:ext cx="676656" cy="201168"/>
          </a:xfrm>
          <a:prstGeom prst="rect">
            <a:avLst/>
          </a:prstGeom>
          <a:noFill/>
        </p:spPr>
        <p:txBody>
          <a:bodyPr vert="horz" wrap="square" lIns="0" tIns="0" rIns="0" bIns="0" rtlCol="0" anchor="ctr">
            <a:noAutofit/>
          </a:bodyPr>
          <a:lstStyle/>
          <a:p>
            <a:pPr algn="r"/>
            <a:r>
              <a:rPr lang="en-IN" sz="700" b="1">
                <a:solidFill>
                  <a:srgbClr val="5B6B73"/>
                </a:solidFill>
                <a:latin typeface="Raleway" pitchFamily="2" charset="0"/>
              </a:rPr>
              <a:t>Demo ready</a:t>
            </a:r>
          </a:p>
        </p:txBody>
      </p:sp>
    </p:spTree>
    <p:extLst>
      <p:ext uri="{BB962C8B-B14F-4D97-AF65-F5344CB8AC3E}">
        <p14:creationId xmlns:p14="http://schemas.microsoft.com/office/powerpoint/2010/main" val="400459978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childTnLst>
                                </p:cTn>
                              </p:par>
                            </p:childTnLst>
                          </p:cTn>
                        </p:par>
                        <p:par>
                          <p:cTn id="13" fill="hold">
                            <p:stCondLst>
                              <p:cond delay="400"/>
                            </p:stCondLst>
                            <p:childTnLst>
                              <p:par>
                                <p:cTn id="14" presetID="22" presetClass="entr" presetSubtype="8"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300"/>
                                        <p:tgtEl>
                                          <p:spTgt spid="20"/>
                                        </p:tgtEl>
                                      </p:cBhvr>
                                    </p:animEffect>
                                  </p:childTnLst>
                                </p:cTn>
                              </p:par>
                              <p:par>
                                <p:cTn id="17" presetID="58" presetClass="entr" presetSubtype="0" accel="10000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anim calcmode="lin" valueType="num">
                                      <p:cBhvr>
                                        <p:cTn id="19" dur="300" fill="hold"/>
                                        <p:tgtEl>
                                          <p:spTgt spid="77"/>
                                        </p:tgtEl>
                                        <p:attrNameLst>
                                          <p:attrName>ppt_w</p:attrName>
                                        </p:attrNameLst>
                                      </p:cBhvr>
                                      <p:tavLst>
                                        <p:tav tm="0">
                                          <p:val>
                                            <p:strVal val="#ppt_w*2.5"/>
                                          </p:val>
                                        </p:tav>
                                        <p:tav tm="100000">
                                          <p:val>
                                            <p:strVal val="#ppt_w"/>
                                          </p:val>
                                        </p:tav>
                                      </p:tavLst>
                                    </p:anim>
                                    <p:anim calcmode="lin" valueType="num">
                                      <p:cBhvr>
                                        <p:cTn id="20" dur="300" fill="hold"/>
                                        <p:tgtEl>
                                          <p:spTgt spid="77"/>
                                        </p:tgtEl>
                                        <p:attrNameLst>
                                          <p:attrName>ppt_h</p:attrName>
                                        </p:attrNameLst>
                                      </p:cBhvr>
                                      <p:tavLst>
                                        <p:tav tm="0">
                                          <p:val>
                                            <p:strVal val="#ppt_h*0.01"/>
                                          </p:val>
                                        </p:tav>
                                        <p:tav tm="100000">
                                          <p:val>
                                            <p:strVal val="#ppt_h"/>
                                          </p:val>
                                        </p:tav>
                                      </p:tavLst>
                                    </p:anim>
                                    <p:anim calcmode="lin" valueType="num">
                                      <p:cBhvr>
                                        <p:cTn id="21" dur="300" fill="hold"/>
                                        <p:tgtEl>
                                          <p:spTgt spid="77"/>
                                        </p:tgtEl>
                                        <p:attrNameLst>
                                          <p:attrName>ppt_x</p:attrName>
                                        </p:attrNameLst>
                                      </p:cBhvr>
                                      <p:tavLst>
                                        <p:tav tm="0">
                                          <p:val>
                                            <p:strVal val="#ppt_x"/>
                                          </p:val>
                                        </p:tav>
                                        <p:tav tm="100000">
                                          <p:val>
                                            <p:strVal val="#ppt_x"/>
                                          </p:val>
                                        </p:tav>
                                      </p:tavLst>
                                    </p:anim>
                                    <p:anim calcmode="lin" valueType="num">
                                      <p:cBhvr>
                                        <p:cTn id="22" dur="300" fill="hold"/>
                                        <p:tgtEl>
                                          <p:spTgt spid="77"/>
                                        </p:tgtEl>
                                        <p:attrNameLst>
                                          <p:attrName>ppt_y</p:attrName>
                                        </p:attrNameLst>
                                      </p:cBhvr>
                                      <p:tavLst>
                                        <p:tav tm="0">
                                          <p:val>
                                            <p:strVal val="#ppt_h+1"/>
                                          </p:val>
                                        </p:tav>
                                        <p:tav tm="100000">
                                          <p:val>
                                            <p:strVal val="#ppt_y"/>
                                          </p:val>
                                        </p:tav>
                                      </p:tavLst>
                                    </p:anim>
                                    <p:animEffect transition="in" filter="fade">
                                      <p:cBhvr>
                                        <p:cTn id="23" dur="300"/>
                                        <p:tgtEl>
                                          <p:spTgt spid="7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600"/>
                                        <p:tgtEl>
                                          <p:spTgt spid="21"/>
                                        </p:tgtEl>
                                      </p:cBhvr>
                                    </p:animEffect>
                                  </p:childTnLst>
                                </p:cTn>
                              </p:par>
                            </p:childTnLst>
                          </p:cTn>
                        </p:par>
                        <p:par>
                          <p:cTn id="27" fill="hold">
                            <p:stCondLst>
                              <p:cond delay="1000"/>
                            </p:stCondLst>
                            <p:childTnLst>
                              <p:par>
                                <p:cTn id="28" presetID="58" presetClass="entr" presetSubtype="0" accel="100000" fill="hold" grpId="0" nodeType="afterEffect">
                                  <p:stCondLst>
                                    <p:cond delay="0"/>
                                  </p:stCondLst>
                                  <p:childTnLst>
                                    <p:set>
                                      <p:cBhvr>
                                        <p:cTn id="29" dur="1" fill="hold">
                                          <p:stCondLst>
                                            <p:cond delay="0"/>
                                          </p:stCondLst>
                                        </p:cTn>
                                        <p:tgtEl>
                                          <p:spTgt spid="78"/>
                                        </p:tgtEl>
                                        <p:attrNameLst>
                                          <p:attrName>style.visibility</p:attrName>
                                        </p:attrNameLst>
                                      </p:cBhvr>
                                      <p:to>
                                        <p:strVal val="visible"/>
                                      </p:to>
                                    </p:set>
                                    <p:anim calcmode="lin" valueType="num">
                                      <p:cBhvr>
                                        <p:cTn id="30" dur="250" fill="hold"/>
                                        <p:tgtEl>
                                          <p:spTgt spid="78"/>
                                        </p:tgtEl>
                                        <p:attrNameLst>
                                          <p:attrName>ppt_w</p:attrName>
                                        </p:attrNameLst>
                                      </p:cBhvr>
                                      <p:tavLst>
                                        <p:tav tm="0">
                                          <p:val>
                                            <p:strVal val="#ppt_w*2.5"/>
                                          </p:val>
                                        </p:tav>
                                        <p:tav tm="100000">
                                          <p:val>
                                            <p:strVal val="#ppt_w"/>
                                          </p:val>
                                        </p:tav>
                                      </p:tavLst>
                                    </p:anim>
                                    <p:anim calcmode="lin" valueType="num">
                                      <p:cBhvr>
                                        <p:cTn id="31" dur="250" fill="hold"/>
                                        <p:tgtEl>
                                          <p:spTgt spid="78"/>
                                        </p:tgtEl>
                                        <p:attrNameLst>
                                          <p:attrName>ppt_h</p:attrName>
                                        </p:attrNameLst>
                                      </p:cBhvr>
                                      <p:tavLst>
                                        <p:tav tm="0">
                                          <p:val>
                                            <p:strVal val="#ppt_h*0.01"/>
                                          </p:val>
                                        </p:tav>
                                        <p:tav tm="100000">
                                          <p:val>
                                            <p:strVal val="#ppt_h"/>
                                          </p:val>
                                        </p:tav>
                                      </p:tavLst>
                                    </p:anim>
                                    <p:anim calcmode="lin" valueType="num">
                                      <p:cBhvr>
                                        <p:cTn id="32" dur="250" fill="hold"/>
                                        <p:tgtEl>
                                          <p:spTgt spid="78"/>
                                        </p:tgtEl>
                                        <p:attrNameLst>
                                          <p:attrName>ppt_x</p:attrName>
                                        </p:attrNameLst>
                                      </p:cBhvr>
                                      <p:tavLst>
                                        <p:tav tm="0">
                                          <p:val>
                                            <p:strVal val="#ppt_x"/>
                                          </p:val>
                                        </p:tav>
                                        <p:tav tm="100000">
                                          <p:val>
                                            <p:strVal val="#ppt_x"/>
                                          </p:val>
                                        </p:tav>
                                      </p:tavLst>
                                    </p:anim>
                                    <p:anim calcmode="lin" valueType="num">
                                      <p:cBhvr>
                                        <p:cTn id="33" dur="250" fill="hold"/>
                                        <p:tgtEl>
                                          <p:spTgt spid="78"/>
                                        </p:tgtEl>
                                        <p:attrNameLst>
                                          <p:attrName>ppt_y</p:attrName>
                                        </p:attrNameLst>
                                      </p:cBhvr>
                                      <p:tavLst>
                                        <p:tav tm="0">
                                          <p:val>
                                            <p:strVal val="#ppt_h+1"/>
                                          </p:val>
                                        </p:tav>
                                        <p:tav tm="100000">
                                          <p:val>
                                            <p:strVal val="#ppt_y"/>
                                          </p:val>
                                        </p:tav>
                                      </p:tavLst>
                                    </p:anim>
                                    <p:animEffect transition="in" filter="fade">
                                      <p:cBhvr>
                                        <p:cTn id="34" dur="250"/>
                                        <p:tgtEl>
                                          <p:spTgt spid="78"/>
                                        </p:tgtEl>
                                      </p:cBhvr>
                                    </p:animEffect>
                                  </p:childTnLst>
                                </p:cTn>
                              </p:par>
                            </p:childTnLst>
                          </p:cTn>
                        </p:par>
                        <p:par>
                          <p:cTn id="35" fill="hold">
                            <p:stCondLst>
                              <p:cond delay="1250"/>
                            </p:stCondLst>
                            <p:childTnLst>
                              <p:par>
                                <p:cTn id="36" presetID="10" presetClass="entr" presetSubtype="0"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400"/>
                                        <p:tgtEl>
                                          <p:spTgt spid="41"/>
                                        </p:tgtEl>
                                      </p:cBhvr>
                                    </p:animEffect>
                                  </p:childTnLst>
                                </p:cTn>
                              </p:par>
                              <p:par>
                                <p:cTn id="39" presetID="10"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4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300"/>
                                        <p:tgtEl>
                                          <p:spTgt spid="22"/>
                                        </p:tgtEl>
                                      </p:cBhvr>
                                    </p:animEffect>
                                  </p:childTnLst>
                                </p:cTn>
                              </p:par>
                              <p:par>
                                <p:cTn id="47" presetID="58" presetClass="entr" presetSubtype="0" accel="100000" fill="hold" grpId="0" nodeType="withEffect">
                                  <p:stCondLst>
                                    <p:cond delay="0"/>
                                  </p:stCondLst>
                                  <p:childTnLst>
                                    <p:set>
                                      <p:cBhvr>
                                        <p:cTn id="48" dur="1" fill="hold">
                                          <p:stCondLst>
                                            <p:cond delay="0"/>
                                          </p:stCondLst>
                                        </p:cTn>
                                        <p:tgtEl>
                                          <p:spTgt spid="79"/>
                                        </p:tgtEl>
                                        <p:attrNameLst>
                                          <p:attrName>style.visibility</p:attrName>
                                        </p:attrNameLst>
                                      </p:cBhvr>
                                      <p:to>
                                        <p:strVal val="visible"/>
                                      </p:to>
                                    </p:set>
                                    <p:anim calcmode="lin" valueType="num">
                                      <p:cBhvr>
                                        <p:cTn id="49" dur="300" fill="hold"/>
                                        <p:tgtEl>
                                          <p:spTgt spid="79"/>
                                        </p:tgtEl>
                                        <p:attrNameLst>
                                          <p:attrName>ppt_w</p:attrName>
                                        </p:attrNameLst>
                                      </p:cBhvr>
                                      <p:tavLst>
                                        <p:tav tm="0">
                                          <p:val>
                                            <p:strVal val="#ppt_w*2.5"/>
                                          </p:val>
                                        </p:tav>
                                        <p:tav tm="100000">
                                          <p:val>
                                            <p:strVal val="#ppt_w"/>
                                          </p:val>
                                        </p:tav>
                                      </p:tavLst>
                                    </p:anim>
                                    <p:anim calcmode="lin" valueType="num">
                                      <p:cBhvr>
                                        <p:cTn id="50" dur="300" fill="hold"/>
                                        <p:tgtEl>
                                          <p:spTgt spid="79"/>
                                        </p:tgtEl>
                                        <p:attrNameLst>
                                          <p:attrName>ppt_h</p:attrName>
                                        </p:attrNameLst>
                                      </p:cBhvr>
                                      <p:tavLst>
                                        <p:tav tm="0">
                                          <p:val>
                                            <p:strVal val="#ppt_h*0.01"/>
                                          </p:val>
                                        </p:tav>
                                        <p:tav tm="100000">
                                          <p:val>
                                            <p:strVal val="#ppt_h"/>
                                          </p:val>
                                        </p:tav>
                                      </p:tavLst>
                                    </p:anim>
                                    <p:anim calcmode="lin" valueType="num">
                                      <p:cBhvr>
                                        <p:cTn id="51" dur="300" fill="hold"/>
                                        <p:tgtEl>
                                          <p:spTgt spid="79"/>
                                        </p:tgtEl>
                                        <p:attrNameLst>
                                          <p:attrName>ppt_x</p:attrName>
                                        </p:attrNameLst>
                                      </p:cBhvr>
                                      <p:tavLst>
                                        <p:tav tm="0">
                                          <p:val>
                                            <p:strVal val="#ppt_x"/>
                                          </p:val>
                                        </p:tav>
                                        <p:tav tm="100000">
                                          <p:val>
                                            <p:strVal val="#ppt_x"/>
                                          </p:val>
                                        </p:tav>
                                      </p:tavLst>
                                    </p:anim>
                                    <p:anim calcmode="lin" valueType="num">
                                      <p:cBhvr>
                                        <p:cTn id="52" dur="300" fill="hold"/>
                                        <p:tgtEl>
                                          <p:spTgt spid="79"/>
                                        </p:tgtEl>
                                        <p:attrNameLst>
                                          <p:attrName>ppt_y</p:attrName>
                                        </p:attrNameLst>
                                      </p:cBhvr>
                                      <p:tavLst>
                                        <p:tav tm="0">
                                          <p:val>
                                            <p:strVal val="#ppt_h+1"/>
                                          </p:val>
                                        </p:tav>
                                        <p:tav tm="100000">
                                          <p:val>
                                            <p:strVal val="#ppt_y"/>
                                          </p:val>
                                        </p:tav>
                                      </p:tavLst>
                                    </p:anim>
                                    <p:animEffect transition="in" filter="fade">
                                      <p:cBhvr>
                                        <p:cTn id="53" dur="300"/>
                                        <p:tgtEl>
                                          <p:spTgt spid="79"/>
                                        </p:tgtEl>
                                      </p:cBhvr>
                                    </p:animEffect>
                                  </p:childTnLst>
                                </p:cTn>
                              </p:par>
                            </p:childTnLst>
                          </p:cTn>
                        </p:par>
                        <p:par>
                          <p:cTn id="54" fill="hold">
                            <p:stCondLst>
                              <p:cond delay="300"/>
                            </p:stCondLst>
                            <p:childTnLst>
                              <p:par>
                                <p:cTn id="55" presetID="10" presetClass="entr" presetSubtype="0" fill="hold"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400"/>
                                        <p:tgtEl>
                                          <p:spTgt spid="5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00"/>
                                        <p:tgtEl>
                                          <p:spTgt spid="13"/>
                                        </p:tgtEl>
                                      </p:cBhvr>
                                    </p:animEffect>
                                  </p:childTnLst>
                                </p:cTn>
                              </p:par>
                            </p:childTnLst>
                          </p:cTn>
                        </p:par>
                        <p:par>
                          <p:cTn id="63" fill="hold">
                            <p:stCondLst>
                              <p:cond delay="40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par>
                                <p:cTn id="67" presetID="58" presetClass="entr" presetSubtype="0" accel="100000" fill="hold" grpId="0" nodeType="withEffect">
                                  <p:stCondLst>
                                    <p:cond delay="0"/>
                                  </p:stCondLst>
                                  <p:childTnLst>
                                    <p:set>
                                      <p:cBhvr>
                                        <p:cTn id="68" dur="1" fill="hold">
                                          <p:stCondLst>
                                            <p:cond delay="0"/>
                                          </p:stCondLst>
                                        </p:cTn>
                                        <p:tgtEl>
                                          <p:spTgt spid="80"/>
                                        </p:tgtEl>
                                        <p:attrNameLst>
                                          <p:attrName>style.visibility</p:attrName>
                                        </p:attrNameLst>
                                      </p:cBhvr>
                                      <p:to>
                                        <p:strVal val="visible"/>
                                      </p:to>
                                    </p:set>
                                    <p:anim calcmode="lin" valueType="num">
                                      <p:cBhvr>
                                        <p:cTn id="69" dur="300" fill="hold"/>
                                        <p:tgtEl>
                                          <p:spTgt spid="80"/>
                                        </p:tgtEl>
                                        <p:attrNameLst>
                                          <p:attrName>ppt_w</p:attrName>
                                        </p:attrNameLst>
                                      </p:cBhvr>
                                      <p:tavLst>
                                        <p:tav tm="0">
                                          <p:val>
                                            <p:strVal val="#ppt_w*2.5"/>
                                          </p:val>
                                        </p:tav>
                                        <p:tav tm="100000">
                                          <p:val>
                                            <p:strVal val="#ppt_w"/>
                                          </p:val>
                                        </p:tav>
                                      </p:tavLst>
                                    </p:anim>
                                    <p:anim calcmode="lin" valueType="num">
                                      <p:cBhvr>
                                        <p:cTn id="70" dur="300" fill="hold"/>
                                        <p:tgtEl>
                                          <p:spTgt spid="80"/>
                                        </p:tgtEl>
                                        <p:attrNameLst>
                                          <p:attrName>ppt_h</p:attrName>
                                        </p:attrNameLst>
                                      </p:cBhvr>
                                      <p:tavLst>
                                        <p:tav tm="0">
                                          <p:val>
                                            <p:strVal val="#ppt_h*0.01"/>
                                          </p:val>
                                        </p:tav>
                                        <p:tav tm="100000">
                                          <p:val>
                                            <p:strVal val="#ppt_h"/>
                                          </p:val>
                                        </p:tav>
                                      </p:tavLst>
                                    </p:anim>
                                    <p:anim calcmode="lin" valueType="num">
                                      <p:cBhvr>
                                        <p:cTn id="71" dur="300" fill="hold"/>
                                        <p:tgtEl>
                                          <p:spTgt spid="80"/>
                                        </p:tgtEl>
                                        <p:attrNameLst>
                                          <p:attrName>ppt_x</p:attrName>
                                        </p:attrNameLst>
                                      </p:cBhvr>
                                      <p:tavLst>
                                        <p:tav tm="0">
                                          <p:val>
                                            <p:strVal val="#ppt_x"/>
                                          </p:val>
                                        </p:tav>
                                        <p:tav tm="100000">
                                          <p:val>
                                            <p:strVal val="#ppt_x"/>
                                          </p:val>
                                        </p:tav>
                                      </p:tavLst>
                                    </p:anim>
                                    <p:anim calcmode="lin" valueType="num">
                                      <p:cBhvr>
                                        <p:cTn id="72" dur="300" fill="hold"/>
                                        <p:tgtEl>
                                          <p:spTgt spid="80"/>
                                        </p:tgtEl>
                                        <p:attrNameLst>
                                          <p:attrName>ppt_y</p:attrName>
                                        </p:attrNameLst>
                                      </p:cBhvr>
                                      <p:tavLst>
                                        <p:tav tm="0">
                                          <p:val>
                                            <p:strVal val="#ppt_h+1"/>
                                          </p:val>
                                        </p:tav>
                                        <p:tav tm="100000">
                                          <p:val>
                                            <p:strVal val="#ppt_y"/>
                                          </p:val>
                                        </p:tav>
                                      </p:tavLst>
                                    </p:anim>
                                    <p:animEffect transition="in" filter="fade">
                                      <p:cBhvr>
                                        <p:cTn id="73" dur="300"/>
                                        <p:tgtEl>
                                          <p:spTgt spid="8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1"/>
                                        </p:tgtEl>
                                        <p:attrNameLst>
                                          <p:attrName>style.visibility</p:attrName>
                                        </p:attrNameLst>
                                      </p:cBhvr>
                                      <p:to>
                                        <p:strVal val="visible"/>
                                      </p:to>
                                    </p:set>
                                    <p:animEffect transition="in" filter="fade">
                                      <p:cBhvr>
                                        <p:cTn id="76" dur="300"/>
                                        <p:tgtEl>
                                          <p:spTgt spid="81"/>
                                        </p:tgtEl>
                                      </p:cBhvr>
                                    </p:animEffect>
                                  </p:childTnLst>
                                </p:cTn>
                              </p:par>
                            </p:childTnLst>
                          </p:cTn>
                        </p:par>
                        <p:par>
                          <p:cTn id="77" fill="hold">
                            <p:stCondLst>
                              <p:cond delay="800"/>
                            </p:stCondLst>
                            <p:childTnLst>
                              <p:par>
                                <p:cTn id="78" presetID="10" presetClass="entr" presetSubtype="0" fill="hold" nodeType="afterEffect">
                                  <p:stCondLst>
                                    <p:cond delay="0"/>
                                  </p:stCondLst>
                                  <p:childTnLst>
                                    <p:set>
                                      <p:cBhvr>
                                        <p:cTn id="79" dur="1" fill="hold">
                                          <p:stCondLst>
                                            <p:cond delay="0"/>
                                          </p:stCondLst>
                                        </p:cTn>
                                        <p:tgtEl>
                                          <p:spTgt spid="59"/>
                                        </p:tgtEl>
                                        <p:attrNameLst>
                                          <p:attrName>style.visibility</p:attrName>
                                        </p:attrNameLst>
                                      </p:cBhvr>
                                      <p:to>
                                        <p:strVal val="visible"/>
                                      </p:to>
                                    </p:set>
                                    <p:animEffect transition="in" filter="fade">
                                      <p:cBhvr>
                                        <p:cTn id="80" dur="400"/>
                                        <p:tgtEl>
                                          <p:spTgt spid="5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wipe(left)">
                                      <p:cBhvr>
                                        <p:cTn id="85" dur="300"/>
                                        <p:tgtEl>
                                          <p:spTgt spid="24"/>
                                        </p:tgtEl>
                                      </p:cBhvr>
                                    </p:animEffect>
                                  </p:childTnLst>
                                </p:cTn>
                              </p:par>
                              <p:par>
                                <p:cTn id="86" presetID="58" presetClass="entr" presetSubtype="0" accel="100000" fill="hold" grpId="0" nodeType="withEffect">
                                  <p:stCondLst>
                                    <p:cond delay="0"/>
                                  </p:stCondLst>
                                  <p:childTnLst>
                                    <p:set>
                                      <p:cBhvr>
                                        <p:cTn id="87" dur="1" fill="hold">
                                          <p:stCondLst>
                                            <p:cond delay="0"/>
                                          </p:stCondLst>
                                        </p:cTn>
                                        <p:tgtEl>
                                          <p:spTgt spid="82"/>
                                        </p:tgtEl>
                                        <p:attrNameLst>
                                          <p:attrName>style.visibility</p:attrName>
                                        </p:attrNameLst>
                                      </p:cBhvr>
                                      <p:to>
                                        <p:strVal val="visible"/>
                                      </p:to>
                                    </p:set>
                                    <p:anim calcmode="lin" valueType="num">
                                      <p:cBhvr>
                                        <p:cTn id="88" dur="300" fill="hold"/>
                                        <p:tgtEl>
                                          <p:spTgt spid="82"/>
                                        </p:tgtEl>
                                        <p:attrNameLst>
                                          <p:attrName>ppt_w</p:attrName>
                                        </p:attrNameLst>
                                      </p:cBhvr>
                                      <p:tavLst>
                                        <p:tav tm="0">
                                          <p:val>
                                            <p:strVal val="#ppt_w*2.5"/>
                                          </p:val>
                                        </p:tav>
                                        <p:tav tm="100000">
                                          <p:val>
                                            <p:strVal val="#ppt_w"/>
                                          </p:val>
                                        </p:tav>
                                      </p:tavLst>
                                    </p:anim>
                                    <p:anim calcmode="lin" valueType="num">
                                      <p:cBhvr>
                                        <p:cTn id="89" dur="300" fill="hold"/>
                                        <p:tgtEl>
                                          <p:spTgt spid="82"/>
                                        </p:tgtEl>
                                        <p:attrNameLst>
                                          <p:attrName>ppt_h</p:attrName>
                                        </p:attrNameLst>
                                      </p:cBhvr>
                                      <p:tavLst>
                                        <p:tav tm="0">
                                          <p:val>
                                            <p:strVal val="#ppt_h*0.01"/>
                                          </p:val>
                                        </p:tav>
                                        <p:tav tm="100000">
                                          <p:val>
                                            <p:strVal val="#ppt_h"/>
                                          </p:val>
                                        </p:tav>
                                      </p:tavLst>
                                    </p:anim>
                                    <p:anim calcmode="lin" valueType="num">
                                      <p:cBhvr>
                                        <p:cTn id="90" dur="300" fill="hold"/>
                                        <p:tgtEl>
                                          <p:spTgt spid="82"/>
                                        </p:tgtEl>
                                        <p:attrNameLst>
                                          <p:attrName>ppt_x</p:attrName>
                                        </p:attrNameLst>
                                      </p:cBhvr>
                                      <p:tavLst>
                                        <p:tav tm="0">
                                          <p:val>
                                            <p:strVal val="#ppt_x"/>
                                          </p:val>
                                        </p:tav>
                                        <p:tav tm="100000">
                                          <p:val>
                                            <p:strVal val="#ppt_x"/>
                                          </p:val>
                                        </p:tav>
                                      </p:tavLst>
                                    </p:anim>
                                    <p:anim calcmode="lin" valueType="num">
                                      <p:cBhvr>
                                        <p:cTn id="91" dur="300" fill="hold"/>
                                        <p:tgtEl>
                                          <p:spTgt spid="82"/>
                                        </p:tgtEl>
                                        <p:attrNameLst>
                                          <p:attrName>ppt_y</p:attrName>
                                        </p:attrNameLst>
                                      </p:cBhvr>
                                      <p:tavLst>
                                        <p:tav tm="0">
                                          <p:val>
                                            <p:strVal val="#ppt_h+1"/>
                                          </p:val>
                                        </p:tav>
                                        <p:tav tm="100000">
                                          <p:val>
                                            <p:strVal val="#ppt_y"/>
                                          </p:val>
                                        </p:tav>
                                      </p:tavLst>
                                    </p:anim>
                                    <p:animEffect transition="in" filter="fade">
                                      <p:cBhvr>
                                        <p:cTn id="92" dur="300"/>
                                        <p:tgtEl>
                                          <p:spTgt spid="8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83"/>
                                        </p:tgtEl>
                                        <p:attrNameLst>
                                          <p:attrName>style.visibility</p:attrName>
                                        </p:attrNameLst>
                                      </p:cBhvr>
                                      <p:to>
                                        <p:strVal val="visible"/>
                                      </p:to>
                                    </p:set>
                                    <p:animEffect transition="in" filter="fade">
                                      <p:cBhvr>
                                        <p:cTn id="95" dur="300"/>
                                        <p:tgtEl>
                                          <p:spTgt spid="83"/>
                                        </p:tgtEl>
                                      </p:cBhvr>
                                    </p:animEffect>
                                  </p:childTnLst>
                                </p:cTn>
                              </p:par>
                            </p:childTnLst>
                          </p:cTn>
                        </p:par>
                        <p:par>
                          <p:cTn id="96" fill="hold">
                            <p:stCondLst>
                              <p:cond delay="300"/>
                            </p:stCondLst>
                            <p:childTnLst>
                              <p:par>
                                <p:cTn id="97" presetID="10" presetClass="entr" presetSubtype="0" fill="hold" nodeType="afterEffect">
                                  <p:stCondLst>
                                    <p:cond delay="0"/>
                                  </p:stCondLst>
                                  <p:childTnLst>
                                    <p:set>
                                      <p:cBhvr>
                                        <p:cTn id="98" dur="1" fill="hold">
                                          <p:stCondLst>
                                            <p:cond delay="0"/>
                                          </p:stCondLst>
                                        </p:cTn>
                                        <p:tgtEl>
                                          <p:spTgt spid="65"/>
                                        </p:tgtEl>
                                        <p:attrNameLst>
                                          <p:attrName>style.visibility</p:attrName>
                                        </p:attrNameLst>
                                      </p:cBhvr>
                                      <p:to>
                                        <p:strVal val="visible"/>
                                      </p:to>
                                    </p:set>
                                    <p:animEffect transition="in" filter="fade">
                                      <p:cBhvr>
                                        <p:cTn id="99" dur="400"/>
                                        <p:tgtEl>
                                          <p:spTgt spid="6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wipe(left)">
                                      <p:cBhvr>
                                        <p:cTn id="104" dur="300"/>
                                        <p:tgtEl>
                                          <p:spTgt spid="25"/>
                                        </p:tgtEl>
                                      </p:cBhvr>
                                    </p:animEffect>
                                  </p:childTnLst>
                                </p:cTn>
                              </p:par>
                              <p:par>
                                <p:cTn id="105" presetID="58" presetClass="entr" presetSubtype="0" accel="100000" fill="hold" grpId="0" nodeType="withEffect">
                                  <p:stCondLst>
                                    <p:cond delay="0"/>
                                  </p:stCondLst>
                                  <p:childTnLst>
                                    <p:set>
                                      <p:cBhvr>
                                        <p:cTn id="106" dur="1" fill="hold">
                                          <p:stCondLst>
                                            <p:cond delay="0"/>
                                          </p:stCondLst>
                                        </p:cTn>
                                        <p:tgtEl>
                                          <p:spTgt spid="84"/>
                                        </p:tgtEl>
                                        <p:attrNameLst>
                                          <p:attrName>style.visibility</p:attrName>
                                        </p:attrNameLst>
                                      </p:cBhvr>
                                      <p:to>
                                        <p:strVal val="visible"/>
                                      </p:to>
                                    </p:set>
                                    <p:anim calcmode="lin" valueType="num">
                                      <p:cBhvr>
                                        <p:cTn id="107" dur="300" fill="hold"/>
                                        <p:tgtEl>
                                          <p:spTgt spid="84"/>
                                        </p:tgtEl>
                                        <p:attrNameLst>
                                          <p:attrName>ppt_w</p:attrName>
                                        </p:attrNameLst>
                                      </p:cBhvr>
                                      <p:tavLst>
                                        <p:tav tm="0">
                                          <p:val>
                                            <p:strVal val="#ppt_w*2.5"/>
                                          </p:val>
                                        </p:tav>
                                        <p:tav tm="100000">
                                          <p:val>
                                            <p:strVal val="#ppt_w"/>
                                          </p:val>
                                        </p:tav>
                                      </p:tavLst>
                                    </p:anim>
                                    <p:anim calcmode="lin" valueType="num">
                                      <p:cBhvr>
                                        <p:cTn id="108" dur="300" fill="hold"/>
                                        <p:tgtEl>
                                          <p:spTgt spid="84"/>
                                        </p:tgtEl>
                                        <p:attrNameLst>
                                          <p:attrName>ppt_h</p:attrName>
                                        </p:attrNameLst>
                                      </p:cBhvr>
                                      <p:tavLst>
                                        <p:tav tm="0">
                                          <p:val>
                                            <p:strVal val="#ppt_h*0.01"/>
                                          </p:val>
                                        </p:tav>
                                        <p:tav tm="100000">
                                          <p:val>
                                            <p:strVal val="#ppt_h"/>
                                          </p:val>
                                        </p:tav>
                                      </p:tavLst>
                                    </p:anim>
                                    <p:anim calcmode="lin" valueType="num">
                                      <p:cBhvr>
                                        <p:cTn id="109" dur="300" fill="hold"/>
                                        <p:tgtEl>
                                          <p:spTgt spid="84"/>
                                        </p:tgtEl>
                                        <p:attrNameLst>
                                          <p:attrName>ppt_x</p:attrName>
                                        </p:attrNameLst>
                                      </p:cBhvr>
                                      <p:tavLst>
                                        <p:tav tm="0">
                                          <p:val>
                                            <p:strVal val="#ppt_x"/>
                                          </p:val>
                                        </p:tav>
                                        <p:tav tm="100000">
                                          <p:val>
                                            <p:strVal val="#ppt_x"/>
                                          </p:val>
                                        </p:tav>
                                      </p:tavLst>
                                    </p:anim>
                                    <p:anim calcmode="lin" valueType="num">
                                      <p:cBhvr>
                                        <p:cTn id="110" dur="300" fill="hold"/>
                                        <p:tgtEl>
                                          <p:spTgt spid="84"/>
                                        </p:tgtEl>
                                        <p:attrNameLst>
                                          <p:attrName>ppt_y</p:attrName>
                                        </p:attrNameLst>
                                      </p:cBhvr>
                                      <p:tavLst>
                                        <p:tav tm="0">
                                          <p:val>
                                            <p:strVal val="#ppt_h+1"/>
                                          </p:val>
                                        </p:tav>
                                        <p:tav tm="100000">
                                          <p:val>
                                            <p:strVal val="#ppt_y"/>
                                          </p:val>
                                        </p:tav>
                                      </p:tavLst>
                                    </p:anim>
                                    <p:animEffect transition="in" filter="fade">
                                      <p:cBhvr>
                                        <p:cTn id="111" dur="300"/>
                                        <p:tgtEl>
                                          <p:spTgt spid="8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85"/>
                                        </p:tgtEl>
                                        <p:attrNameLst>
                                          <p:attrName>style.visibility</p:attrName>
                                        </p:attrNameLst>
                                      </p:cBhvr>
                                      <p:to>
                                        <p:strVal val="visible"/>
                                      </p:to>
                                    </p:set>
                                    <p:animEffect transition="in" filter="fade">
                                      <p:cBhvr>
                                        <p:cTn id="114" dur="300"/>
                                        <p:tgtEl>
                                          <p:spTgt spid="85"/>
                                        </p:tgtEl>
                                      </p:cBhvr>
                                    </p:animEffect>
                                  </p:childTnLst>
                                </p:cTn>
                              </p:par>
                            </p:childTnLst>
                          </p:cTn>
                        </p:par>
                        <p:par>
                          <p:cTn id="115" fill="hold">
                            <p:stCondLst>
                              <p:cond delay="300"/>
                            </p:stCondLst>
                            <p:childTnLst>
                              <p:par>
                                <p:cTn id="116" presetID="10" presetClass="entr" presetSubtype="0" fill="hold" nodeType="afterEffect">
                                  <p:stCondLst>
                                    <p:cond delay="0"/>
                                  </p:stCondLst>
                                  <p:childTnLst>
                                    <p:set>
                                      <p:cBhvr>
                                        <p:cTn id="117" dur="1" fill="hold">
                                          <p:stCondLst>
                                            <p:cond delay="0"/>
                                          </p:stCondLst>
                                        </p:cTn>
                                        <p:tgtEl>
                                          <p:spTgt spid="71"/>
                                        </p:tgtEl>
                                        <p:attrNameLst>
                                          <p:attrName>style.visibility</p:attrName>
                                        </p:attrNameLst>
                                      </p:cBhvr>
                                      <p:to>
                                        <p:strVal val="visible"/>
                                      </p:to>
                                    </p:set>
                                    <p:animEffect transition="in" filter="fade">
                                      <p:cBhvr>
                                        <p:cTn id="118" dur="400"/>
                                        <p:tgtEl>
                                          <p:spTgt spid="7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400"/>
                                        <p:tgtEl>
                                          <p:spTgt spid="26"/>
                                        </p:tgtEl>
                                      </p:cBhvr>
                                    </p:animEffect>
                                  </p:childTnLst>
                                </p:cTn>
                              </p:par>
                              <p:par>
                                <p:cTn id="124" presetID="58" presetClass="entr" presetSubtype="0" accel="100000" fill="hold" grpId="0" nodeType="withEffect">
                                  <p:stCondLst>
                                    <p:cond delay="0"/>
                                  </p:stCondLst>
                                  <p:childTnLst>
                                    <p:set>
                                      <p:cBhvr>
                                        <p:cTn id="125" dur="1" fill="hold">
                                          <p:stCondLst>
                                            <p:cond delay="0"/>
                                          </p:stCondLst>
                                        </p:cTn>
                                        <p:tgtEl>
                                          <p:spTgt spid="86"/>
                                        </p:tgtEl>
                                        <p:attrNameLst>
                                          <p:attrName>style.visibility</p:attrName>
                                        </p:attrNameLst>
                                      </p:cBhvr>
                                      <p:to>
                                        <p:strVal val="visible"/>
                                      </p:to>
                                    </p:set>
                                    <p:anim calcmode="lin" valueType="num">
                                      <p:cBhvr>
                                        <p:cTn id="126" dur="300" fill="hold"/>
                                        <p:tgtEl>
                                          <p:spTgt spid="86"/>
                                        </p:tgtEl>
                                        <p:attrNameLst>
                                          <p:attrName>ppt_w</p:attrName>
                                        </p:attrNameLst>
                                      </p:cBhvr>
                                      <p:tavLst>
                                        <p:tav tm="0">
                                          <p:val>
                                            <p:strVal val="#ppt_w*2.5"/>
                                          </p:val>
                                        </p:tav>
                                        <p:tav tm="100000">
                                          <p:val>
                                            <p:strVal val="#ppt_w"/>
                                          </p:val>
                                        </p:tav>
                                      </p:tavLst>
                                    </p:anim>
                                    <p:anim calcmode="lin" valueType="num">
                                      <p:cBhvr>
                                        <p:cTn id="127" dur="300" fill="hold"/>
                                        <p:tgtEl>
                                          <p:spTgt spid="86"/>
                                        </p:tgtEl>
                                        <p:attrNameLst>
                                          <p:attrName>ppt_h</p:attrName>
                                        </p:attrNameLst>
                                      </p:cBhvr>
                                      <p:tavLst>
                                        <p:tav tm="0">
                                          <p:val>
                                            <p:strVal val="#ppt_h*0.01"/>
                                          </p:val>
                                        </p:tav>
                                        <p:tav tm="100000">
                                          <p:val>
                                            <p:strVal val="#ppt_h"/>
                                          </p:val>
                                        </p:tav>
                                      </p:tavLst>
                                    </p:anim>
                                    <p:anim calcmode="lin" valueType="num">
                                      <p:cBhvr>
                                        <p:cTn id="128" dur="300" fill="hold"/>
                                        <p:tgtEl>
                                          <p:spTgt spid="86"/>
                                        </p:tgtEl>
                                        <p:attrNameLst>
                                          <p:attrName>ppt_x</p:attrName>
                                        </p:attrNameLst>
                                      </p:cBhvr>
                                      <p:tavLst>
                                        <p:tav tm="0">
                                          <p:val>
                                            <p:strVal val="#ppt_x"/>
                                          </p:val>
                                        </p:tav>
                                        <p:tav tm="100000">
                                          <p:val>
                                            <p:strVal val="#ppt_x"/>
                                          </p:val>
                                        </p:tav>
                                      </p:tavLst>
                                    </p:anim>
                                    <p:anim calcmode="lin" valueType="num">
                                      <p:cBhvr>
                                        <p:cTn id="129" dur="300" fill="hold"/>
                                        <p:tgtEl>
                                          <p:spTgt spid="86"/>
                                        </p:tgtEl>
                                        <p:attrNameLst>
                                          <p:attrName>ppt_y</p:attrName>
                                        </p:attrNameLst>
                                      </p:cBhvr>
                                      <p:tavLst>
                                        <p:tav tm="0">
                                          <p:val>
                                            <p:strVal val="#ppt_h+1"/>
                                          </p:val>
                                        </p:tav>
                                        <p:tav tm="100000">
                                          <p:val>
                                            <p:strVal val="#ppt_y"/>
                                          </p:val>
                                        </p:tav>
                                      </p:tavLst>
                                    </p:anim>
                                    <p:animEffect transition="in" filter="fade">
                                      <p:cBhvr>
                                        <p:cTn id="130" dur="300"/>
                                        <p:tgtEl>
                                          <p:spTgt spid="8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87"/>
                                        </p:tgtEl>
                                        <p:attrNameLst>
                                          <p:attrName>style.visibility</p:attrName>
                                        </p:attrNameLst>
                                      </p:cBhvr>
                                      <p:to>
                                        <p:strVal val="visible"/>
                                      </p:to>
                                    </p:set>
                                    <p:animEffect transition="in" filter="fade">
                                      <p:cBhvr>
                                        <p:cTn id="133" dur="300"/>
                                        <p:tgtEl>
                                          <p:spTgt spid="87"/>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76"/>
                                        </p:tgtEl>
                                        <p:attrNameLst>
                                          <p:attrName>style.visibility</p:attrName>
                                        </p:attrNameLst>
                                      </p:cBhvr>
                                      <p:to>
                                        <p:strVal val="visible"/>
                                      </p:to>
                                    </p:set>
                                    <p:animEffect transition="in" filter="fade">
                                      <p:cBhvr>
                                        <p:cTn id="138" dur="400"/>
                                        <p:tgtEl>
                                          <p:spTgt spid="76"/>
                                        </p:tgtEl>
                                      </p:cBhvr>
                                    </p:animEffect>
                                  </p:childTnLst>
                                </p:cTn>
                              </p:par>
                            </p:childTnLst>
                          </p:cTn>
                        </p:par>
                        <p:par>
                          <p:cTn id="139" fill="hold">
                            <p:stCondLst>
                              <p:cond delay="400"/>
                            </p:stCondLst>
                            <p:childTnLst>
                              <p:par>
                                <p:cTn id="140" presetID="22" presetClass="entr" presetSubtype="8" fill="hold" nodeType="afterEffect">
                                  <p:stCondLst>
                                    <p:cond delay="0"/>
                                  </p:stCondLst>
                                  <p:childTnLst>
                                    <p:set>
                                      <p:cBhvr>
                                        <p:cTn id="141" dur="1" fill="hold">
                                          <p:stCondLst>
                                            <p:cond delay="0"/>
                                          </p:stCondLst>
                                        </p:cTn>
                                        <p:tgtEl>
                                          <p:spTgt spid="27"/>
                                        </p:tgtEl>
                                        <p:attrNameLst>
                                          <p:attrName>style.visibility</p:attrName>
                                        </p:attrNameLst>
                                      </p:cBhvr>
                                      <p:to>
                                        <p:strVal val="visible"/>
                                      </p:to>
                                    </p:set>
                                    <p:animEffect transition="in" filter="wipe(left)">
                                      <p:cBhvr>
                                        <p:cTn id="142" dur="300"/>
                                        <p:tgtEl>
                                          <p:spTgt spid="27"/>
                                        </p:tgtEl>
                                      </p:cBhvr>
                                    </p:animEffect>
                                  </p:childTnLst>
                                </p:cTn>
                              </p:par>
                              <p:par>
                                <p:cTn id="143" presetID="58" presetClass="entr" presetSubtype="0" accel="100000" fill="hold" grpId="0" nodeType="withEffect">
                                  <p:stCondLst>
                                    <p:cond delay="0"/>
                                  </p:stCondLst>
                                  <p:childTnLst>
                                    <p:set>
                                      <p:cBhvr>
                                        <p:cTn id="144" dur="1" fill="hold">
                                          <p:stCondLst>
                                            <p:cond delay="0"/>
                                          </p:stCondLst>
                                        </p:cTn>
                                        <p:tgtEl>
                                          <p:spTgt spid="88"/>
                                        </p:tgtEl>
                                        <p:attrNameLst>
                                          <p:attrName>style.visibility</p:attrName>
                                        </p:attrNameLst>
                                      </p:cBhvr>
                                      <p:to>
                                        <p:strVal val="visible"/>
                                      </p:to>
                                    </p:set>
                                    <p:anim calcmode="lin" valueType="num">
                                      <p:cBhvr>
                                        <p:cTn id="145" dur="300" fill="hold"/>
                                        <p:tgtEl>
                                          <p:spTgt spid="88"/>
                                        </p:tgtEl>
                                        <p:attrNameLst>
                                          <p:attrName>ppt_w</p:attrName>
                                        </p:attrNameLst>
                                      </p:cBhvr>
                                      <p:tavLst>
                                        <p:tav tm="0">
                                          <p:val>
                                            <p:strVal val="#ppt_w*2.5"/>
                                          </p:val>
                                        </p:tav>
                                        <p:tav tm="100000">
                                          <p:val>
                                            <p:strVal val="#ppt_w"/>
                                          </p:val>
                                        </p:tav>
                                      </p:tavLst>
                                    </p:anim>
                                    <p:anim calcmode="lin" valueType="num">
                                      <p:cBhvr>
                                        <p:cTn id="146" dur="300" fill="hold"/>
                                        <p:tgtEl>
                                          <p:spTgt spid="88"/>
                                        </p:tgtEl>
                                        <p:attrNameLst>
                                          <p:attrName>ppt_h</p:attrName>
                                        </p:attrNameLst>
                                      </p:cBhvr>
                                      <p:tavLst>
                                        <p:tav tm="0">
                                          <p:val>
                                            <p:strVal val="#ppt_h*0.01"/>
                                          </p:val>
                                        </p:tav>
                                        <p:tav tm="100000">
                                          <p:val>
                                            <p:strVal val="#ppt_h"/>
                                          </p:val>
                                        </p:tav>
                                      </p:tavLst>
                                    </p:anim>
                                    <p:anim calcmode="lin" valueType="num">
                                      <p:cBhvr>
                                        <p:cTn id="147" dur="300" fill="hold"/>
                                        <p:tgtEl>
                                          <p:spTgt spid="88"/>
                                        </p:tgtEl>
                                        <p:attrNameLst>
                                          <p:attrName>ppt_x</p:attrName>
                                        </p:attrNameLst>
                                      </p:cBhvr>
                                      <p:tavLst>
                                        <p:tav tm="0">
                                          <p:val>
                                            <p:strVal val="#ppt_x"/>
                                          </p:val>
                                        </p:tav>
                                        <p:tav tm="100000">
                                          <p:val>
                                            <p:strVal val="#ppt_x"/>
                                          </p:val>
                                        </p:tav>
                                      </p:tavLst>
                                    </p:anim>
                                    <p:anim calcmode="lin" valueType="num">
                                      <p:cBhvr>
                                        <p:cTn id="148" dur="300" fill="hold"/>
                                        <p:tgtEl>
                                          <p:spTgt spid="88"/>
                                        </p:tgtEl>
                                        <p:attrNameLst>
                                          <p:attrName>ppt_y</p:attrName>
                                        </p:attrNameLst>
                                      </p:cBhvr>
                                      <p:tavLst>
                                        <p:tav tm="0">
                                          <p:val>
                                            <p:strVal val="#ppt_h+1"/>
                                          </p:val>
                                        </p:tav>
                                        <p:tav tm="100000">
                                          <p:val>
                                            <p:strVal val="#ppt_y"/>
                                          </p:val>
                                        </p:tav>
                                      </p:tavLst>
                                    </p:anim>
                                    <p:animEffect transition="in" filter="fade">
                                      <p:cBhvr>
                                        <p:cTn id="149" dur="300"/>
                                        <p:tgtEl>
                                          <p:spTgt spid="88"/>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89"/>
                                        </p:tgtEl>
                                        <p:attrNameLst>
                                          <p:attrName>style.visibility</p:attrName>
                                        </p:attrNameLst>
                                      </p:cBhvr>
                                      <p:to>
                                        <p:strVal val="visible"/>
                                      </p:to>
                                    </p:set>
                                    <p:animEffect transition="in" filter="fade">
                                      <p:cBhvr>
                                        <p:cTn id="152" dur="300"/>
                                        <p:tgtEl>
                                          <p:spTgt spid="89"/>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2" fill="hold" nodeType="clickEffect">
                                  <p:stCondLst>
                                    <p:cond delay="0"/>
                                  </p:stCondLst>
                                  <p:childTnLst>
                                    <p:set>
                                      <p:cBhvr>
                                        <p:cTn id="156" dur="1" fill="hold">
                                          <p:stCondLst>
                                            <p:cond delay="0"/>
                                          </p:stCondLst>
                                        </p:cTn>
                                        <p:tgtEl>
                                          <p:spTgt spid="28"/>
                                        </p:tgtEl>
                                        <p:attrNameLst>
                                          <p:attrName>style.visibility</p:attrName>
                                        </p:attrNameLst>
                                      </p:cBhvr>
                                      <p:to>
                                        <p:strVal val="visible"/>
                                      </p:to>
                                    </p:set>
                                    <p:animEffect transition="in" filter="wipe(right)">
                                      <p:cBhvr>
                                        <p:cTn id="157" dur="300"/>
                                        <p:tgtEl>
                                          <p:spTgt spid="28"/>
                                        </p:tgtEl>
                                      </p:cBhvr>
                                    </p:animEffect>
                                  </p:childTnLst>
                                </p:cTn>
                              </p:par>
                              <p:par>
                                <p:cTn id="158" presetID="58" presetClass="entr" presetSubtype="0" accel="100000" fill="hold" grpId="0" nodeType="withEffect">
                                  <p:stCondLst>
                                    <p:cond delay="0"/>
                                  </p:stCondLst>
                                  <p:childTnLst>
                                    <p:set>
                                      <p:cBhvr>
                                        <p:cTn id="159" dur="1" fill="hold">
                                          <p:stCondLst>
                                            <p:cond delay="0"/>
                                          </p:stCondLst>
                                        </p:cTn>
                                        <p:tgtEl>
                                          <p:spTgt spid="90"/>
                                        </p:tgtEl>
                                        <p:attrNameLst>
                                          <p:attrName>style.visibility</p:attrName>
                                        </p:attrNameLst>
                                      </p:cBhvr>
                                      <p:to>
                                        <p:strVal val="visible"/>
                                      </p:to>
                                    </p:set>
                                    <p:anim calcmode="lin" valueType="num">
                                      <p:cBhvr>
                                        <p:cTn id="160" dur="300" fill="hold"/>
                                        <p:tgtEl>
                                          <p:spTgt spid="90"/>
                                        </p:tgtEl>
                                        <p:attrNameLst>
                                          <p:attrName>ppt_w</p:attrName>
                                        </p:attrNameLst>
                                      </p:cBhvr>
                                      <p:tavLst>
                                        <p:tav tm="0">
                                          <p:val>
                                            <p:strVal val="#ppt_w*2.5"/>
                                          </p:val>
                                        </p:tav>
                                        <p:tav tm="100000">
                                          <p:val>
                                            <p:strVal val="#ppt_w"/>
                                          </p:val>
                                        </p:tav>
                                      </p:tavLst>
                                    </p:anim>
                                    <p:anim calcmode="lin" valueType="num">
                                      <p:cBhvr>
                                        <p:cTn id="161" dur="300" fill="hold"/>
                                        <p:tgtEl>
                                          <p:spTgt spid="90"/>
                                        </p:tgtEl>
                                        <p:attrNameLst>
                                          <p:attrName>ppt_h</p:attrName>
                                        </p:attrNameLst>
                                      </p:cBhvr>
                                      <p:tavLst>
                                        <p:tav tm="0">
                                          <p:val>
                                            <p:strVal val="#ppt_h*0.01"/>
                                          </p:val>
                                        </p:tav>
                                        <p:tav tm="100000">
                                          <p:val>
                                            <p:strVal val="#ppt_h"/>
                                          </p:val>
                                        </p:tav>
                                      </p:tavLst>
                                    </p:anim>
                                    <p:anim calcmode="lin" valueType="num">
                                      <p:cBhvr>
                                        <p:cTn id="162" dur="300" fill="hold"/>
                                        <p:tgtEl>
                                          <p:spTgt spid="90"/>
                                        </p:tgtEl>
                                        <p:attrNameLst>
                                          <p:attrName>ppt_x</p:attrName>
                                        </p:attrNameLst>
                                      </p:cBhvr>
                                      <p:tavLst>
                                        <p:tav tm="0">
                                          <p:val>
                                            <p:strVal val="#ppt_x"/>
                                          </p:val>
                                        </p:tav>
                                        <p:tav tm="100000">
                                          <p:val>
                                            <p:strVal val="#ppt_x"/>
                                          </p:val>
                                        </p:tav>
                                      </p:tavLst>
                                    </p:anim>
                                    <p:anim calcmode="lin" valueType="num">
                                      <p:cBhvr>
                                        <p:cTn id="163" dur="300" fill="hold"/>
                                        <p:tgtEl>
                                          <p:spTgt spid="90"/>
                                        </p:tgtEl>
                                        <p:attrNameLst>
                                          <p:attrName>ppt_y</p:attrName>
                                        </p:attrNameLst>
                                      </p:cBhvr>
                                      <p:tavLst>
                                        <p:tav tm="0">
                                          <p:val>
                                            <p:strVal val="#ppt_h+1"/>
                                          </p:val>
                                        </p:tav>
                                        <p:tav tm="100000">
                                          <p:val>
                                            <p:strVal val="#ppt_y"/>
                                          </p:val>
                                        </p:tav>
                                      </p:tavLst>
                                    </p:anim>
                                    <p:animEffect transition="in" filter="fade">
                                      <p:cBhvr>
                                        <p:cTn id="164" dur="300"/>
                                        <p:tgtEl>
                                          <p:spTgt spid="90"/>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91"/>
                                        </p:tgtEl>
                                        <p:attrNameLst>
                                          <p:attrName>style.visibility</p:attrName>
                                        </p:attrNameLst>
                                      </p:cBhvr>
                                      <p:to>
                                        <p:strVal val="visible"/>
                                      </p:to>
                                    </p:set>
                                    <p:animEffect transition="in" filter="fade">
                                      <p:cBhvr>
                                        <p:cTn id="167" dur="300"/>
                                        <p:tgtEl>
                                          <p:spTgt spid="91"/>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2" fill="hold" nodeType="clickEffect">
                                  <p:stCondLst>
                                    <p:cond delay="0"/>
                                  </p:stCondLst>
                                  <p:childTnLst>
                                    <p:set>
                                      <p:cBhvr>
                                        <p:cTn id="171" dur="1" fill="hold">
                                          <p:stCondLst>
                                            <p:cond delay="0"/>
                                          </p:stCondLst>
                                        </p:cTn>
                                        <p:tgtEl>
                                          <p:spTgt spid="29"/>
                                        </p:tgtEl>
                                        <p:attrNameLst>
                                          <p:attrName>style.visibility</p:attrName>
                                        </p:attrNameLst>
                                      </p:cBhvr>
                                      <p:to>
                                        <p:strVal val="visible"/>
                                      </p:to>
                                    </p:set>
                                    <p:animEffect transition="in" filter="wipe(right)">
                                      <p:cBhvr>
                                        <p:cTn id="172" dur="300"/>
                                        <p:tgtEl>
                                          <p:spTgt spid="29"/>
                                        </p:tgtEl>
                                      </p:cBhvr>
                                    </p:animEffect>
                                  </p:childTnLst>
                                </p:cTn>
                              </p:par>
                              <p:par>
                                <p:cTn id="173" presetID="58" presetClass="entr" presetSubtype="0" accel="100000" fill="hold" grpId="0" nodeType="withEffect">
                                  <p:stCondLst>
                                    <p:cond delay="0"/>
                                  </p:stCondLst>
                                  <p:childTnLst>
                                    <p:set>
                                      <p:cBhvr>
                                        <p:cTn id="174" dur="1" fill="hold">
                                          <p:stCondLst>
                                            <p:cond delay="0"/>
                                          </p:stCondLst>
                                        </p:cTn>
                                        <p:tgtEl>
                                          <p:spTgt spid="92"/>
                                        </p:tgtEl>
                                        <p:attrNameLst>
                                          <p:attrName>style.visibility</p:attrName>
                                        </p:attrNameLst>
                                      </p:cBhvr>
                                      <p:to>
                                        <p:strVal val="visible"/>
                                      </p:to>
                                    </p:set>
                                    <p:anim calcmode="lin" valueType="num">
                                      <p:cBhvr>
                                        <p:cTn id="175" dur="300" fill="hold"/>
                                        <p:tgtEl>
                                          <p:spTgt spid="92"/>
                                        </p:tgtEl>
                                        <p:attrNameLst>
                                          <p:attrName>ppt_w</p:attrName>
                                        </p:attrNameLst>
                                      </p:cBhvr>
                                      <p:tavLst>
                                        <p:tav tm="0">
                                          <p:val>
                                            <p:strVal val="#ppt_w*2.5"/>
                                          </p:val>
                                        </p:tav>
                                        <p:tav tm="100000">
                                          <p:val>
                                            <p:strVal val="#ppt_w"/>
                                          </p:val>
                                        </p:tav>
                                      </p:tavLst>
                                    </p:anim>
                                    <p:anim calcmode="lin" valueType="num">
                                      <p:cBhvr>
                                        <p:cTn id="176" dur="300" fill="hold"/>
                                        <p:tgtEl>
                                          <p:spTgt spid="92"/>
                                        </p:tgtEl>
                                        <p:attrNameLst>
                                          <p:attrName>ppt_h</p:attrName>
                                        </p:attrNameLst>
                                      </p:cBhvr>
                                      <p:tavLst>
                                        <p:tav tm="0">
                                          <p:val>
                                            <p:strVal val="#ppt_h*0.01"/>
                                          </p:val>
                                        </p:tav>
                                        <p:tav tm="100000">
                                          <p:val>
                                            <p:strVal val="#ppt_h"/>
                                          </p:val>
                                        </p:tav>
                                      </p:tavLst>
                                    </p:anim>
                                    <p:anim calcmode="lin" valueType="num">
                                      <p:cBhvr>
                                        <p:cTn id="177" dur="300" fill="hold"/>
                                        <p:tgtEl>
                                          <p:spTgt spid="92"/>
                                        </p:tgtEl>
                                        <p:attrNameLst>
                                          <p:attrName>ppt_x</p:attrName>
                                        </p:attrNameLst>
                                      </p:cBhvr>
                                      <p:tavLst>
                                        <p:tav tm="0">
                                          <p:val>
                                            <p:strVal val="#ppt_x"/>
                                          </p:val>
                                        </p:tav>
                                        <p:tav tm="100000">
                                          <p:val>
                                            <p:strVal val="#ppt_x"/>
                                          </p:val>
                                        </p:tav>
                                      </p:tavLst>
                                    </p:anim>
                                    <p:anim calcmode="lin" valueType="num">
                                      <p:cBhvr>
                                        <p:cTn id="178" dur="300" fill="hold"/>
                                        <p:tgtEl>
                                          <p:spTgt spid="92"/>
                                        </p:tgtEl>
                                        <p:attrNameLst>
                                          <p:attrName>ppt_y</p:attrName>
                                        </p:attrNameLst>
                                      </p:cBhvr>
                                      <p:tavLst>
                                        <p:tav tm="0">
                                          <p:val>
                                            <p:strVal val="#ppt_h+1"/>
                                          </p:val>
                                        </p:tav>
                                        <p:tav tm="100000">
                                          <p:val>
                                            <p:strVal val="#ppt_y"/>
                                          </p:val>
                                        </p:tav>
                                      </p:tavLst>
                                    </p:anim>
                                    <p:animEffect transition="in" filter="fade">
                                      <p:cBhvr>
                                        <p:cTn id="179" dur="300"/>
                                        <p:tgtEl>
                                          <p:spTgt spid="92"/>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93"/>
                                        </p:tgtEl>
                                        <p:attrNameLst>
                                          <p:attrName>style.visibility</p:attrName>
                                        </p:attrNameLst>
                                      </p:cBhvr>
                                      <p:to>
                                        <p:strVal val="visible"/>
                                      </p:to>
                                    </p:set>
                                    <p:animEffect transition="in" filter="fade">
                                      <p:cBhvr>
                                        <p:cTn id="182" dur="300"/>
                                        <p:tgtEl>
                                          <p:spTgt spid="93"/>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2" fill="hold" nodeType="clickEffect">
                                  <p:stCondLst>
                                    <p:cond delay="0"/>
                                  </p:stCondLst>
                                  <p:childTnLst>
                                    <p:set>
                                      <p:cBhvr>
                                        <p:cTn id="186" dur="1" fill="hold">
                                          <p:stCondLst>
                                            <p:cond delay="0"/>
                                          </p:stCondLst>
                                        </p:cTn>
                                        <p:tgtEl>
                                          <p:spTgt spid="30"/>
                                        </p:tgtEl>
                                        <p:attrNameLst>
                                          <p:attrName>style.visibility</p:attrName>
                                        </p:attrNameLst>
                                      </p:cBhvr>
                                      <p:to>
                                        <p:strVal val="visible"/>
                                      </p:to>
                                    </p:set>
                                    <p:animEffect transition="in" filter="wipe(right)">
                                      <p:cBhvr>
                                        <p:cTn id="187" dur="300"/>
                                        <p:tgtEl>
                                          <p:spTgt spid="30"/>
                                        </p:tgtEl>
                                      </p:cBhvr>
                                    </p:animEffect>
                                  </p:childTnLst>
                                </p:cTn>
                              </p:par>
                              <p:par>
                                <p:cTn id="188" presetID="58" presetClass="entr" presetSubtype="0" accel="100000" fill="hold" grpId="0" nodeType="withEffect">
                                  <p:stCondLst>
                                    <p:cond delay="0"/>
                                  </p:stCondLst>
                                  <p:childTnLst>
                                    <p:set>
                                      <p:cBhvr>
                                        <p:cTn id="189" dur="1" fill="hold">
                                          <p:stCondLst>
                                            <p:cond delay="0"/>
                                          </p:stCondLst>
                                        </p:cTn>
                                        <p:tgtEl>
                                          <p:spTgt spid="94"/>
                                        </p:tgtEl>
                                        <p:attrNameLst>
                                          <p:attrName>style.visibility</p:attrName>
                                        </p:attrNameLst>
                                      </p:cBhvr>
                                      <p:to>
                                        <p:strVal val="visible"/>
                                      </p:to>
                                    </p:set>
                                    <p:anim calcmode="lin" valueType="num">
                                      <p:cBhvr>
                                        <p:cTn id="190" dur="300" fill="hold"/>
                                        <p:tgtEl>
                                          <p:spTgt spid="94"/>
                                        </p:tgtEl>
                                        <p:attrNameLst>
                                          <p:attrName>ppt_w</p:attrName>
                                        </p:attrNameLst>
                                      </p:cBhvr>
                                      <p:tavLst>
                                        <p:tav tm="0">
                                          <p:val>
                                            <p:strVal val="#ppt_w*2.5"/>
                                          </p:val>
                                        </p:tav>
                                        <p:tav tm="100000">
                                          <p:val>
                                            <p:strVal val="#ppt_w"/>
                                          </p:val>
                                        </p:tav>
                                      </p:tavLst>
                                    </p:anim>
                                    <p:anim calcmode="lin" valueType="num">
                                      <p:cBhvr>
                                        <p:cTn id="191" dur="300" fill="hold"/>
                                        <p:tgtEl>
                                          <p:spTgt spid="94"/>
                                        </p:tgtEl>
                                        <p:attrNameLst>
                                          <p:attrName>ppt_h</p:attrName>
                                        </p:attrNameLst>
                                      </p:cBhvr>
                                      <p:tavLst>
                                        <p:tav tm="0">
                                          <p:val>
                                            <p:strVal val="#ppt_h*0.01"/>
                                          </p:val>
                                        </p:tav>
                                        <p:tav tm="100000">
                                          <p:val>
                                            <p:strVal val="#ppt_h"/>
                                          </p:val>
                                        </p:tav>
                                      </p:tavLst>
                                    </p:anim>
                                    <p:anim calcmode="lin" valueType="num">
                                      <p:cBhvr>
                                        <p:cTn id="192" dur="300" fill="hold"/>
                                        <p:tgtEl>
                                          <p:spTgt spid="94"/>
                                        </p:tgtEl>
                                        <p:attrNameLst>
                                          <p:attrName>ppt_x</p:attrName>
                                        </p:attrNameLst>
                                      </p:cBhvr>
                                      <p:tavLst>
                                        <p:tav tm="0">
                                          <p:val>
                                            <p:strVal val="#ppt_x"/>
                                          </p:val>
                                        </p:tav>
                                        <p:tav tm="100000">
                                          <p:val>
                                            <p:strVal val="#ppt_x"/>
                                          </p:val>
                                        </p:tav>
                                      </p:tavLst>
                                    </p:anim>
                                    <p:anim calcmode="lin" valueType="num">
                                      <p:cBhvr>
                                        <p:cTn id="193" dur="300" fill="hold"/>
                                        <p:tgtEl>
                                          <p:spTgt spid="94"/>
                                        </p:tgtEl>
                                        <p:attrNameLst>
                                          <p:attrName>ppt_y</p:attrName>
                                        </p:attrNameLst>
                                      </p:cBhvr>
                                      <p:tavLst>
                                        <p:tav tm="0">
                                          <p:val>
                                            <p:strVal val="#ppt_h+1"/>
                                          </p:val>
                                        </p:tav>
                                        <p:tav tm="100000">
                                          <p:val>
                                            <p:strVal val="#ppt_y"/>
                                          </p:val>
                                        </p:tav>
                                      </p:tavLst>
                                    </p:anim>
                                    <p:animEffect transition="in" filter="fade">
                                      <p:cBhvr>
                                        <p:cTn id="194" dur="300"/>
                                        <p:tgtEl>
                                          <p:spTgt spid="94"/>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95"/>
                                        </p:tgtEl>
                                        <p:attrNameLst>
                                          <p:attrName>style.visibility</p:attrName>
                                        </p:attrNameLst>
                                      </p:cBhvr>
                                      <p:to>
                                        <p:strVal val="visible"/>
                                      </p:to>
                                    </p:set>
                                    <p:animEffect transition="in" filter="fade">
                                      <p:cBhvr>
                                        <p:cTn id="197" dur="300"/>
                                        <p:tgtEl>
                                          <p:spTgt spid="95"/>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4" fill="hold" nodeType="clickEffect">
                                  <p:stCondLst>
                                    <p:cond delay="0"/>
                                  </p:stCondLst>
                                  <p:childTnLst>
                                    <p:set>
                                      <p:cBhvr>
                                        <p:cTn id="201" dur="1" fill="hold">
                                          <p:stCondLst>
                                            <p:cond delay="0"/>
                                          </p:stCondLst>
                                        </p:cTn>
                                        <p:tgtEl>
                                          <p:spTgt spid="31"/>
                                        </p:tgtEl>
                                        <p:attrNameLst>
                                          <p:attrName>style.visibility</p:attrName>
                                        </p:attrNameLst>
                                      </p:cBhvr>
                                      <p:to>
                                        <p:strVal val="visible"/>
                                      </p:to>
                                    </p:set>
                                    <p:animEffect transition="in" filter="wipe(down)">
                                      <p:cBhvr>
                                        <p:cTn id="202" dur="400"/>
                                        <p:tgtEl>
                                          <p:spTgt spid="31"/>
                                        </p:tgtEl>
                                      </p:cBhvr>
                                    </p:animEffect>
                                  </p:childTnLst>
                                </p:cTn>
                              </p:par>
                              <p:par>
                                <p:cTn id="203" presetID="58" presetClass="entr" presetSubtype="0" accel="100000" fill="hold" grpId="0" nodeType="withEffect">
                                  <p:stCondLst>
                                    <p:cond delay="0"/>
                                  </p:stCondLst>
                                  <p:childTnLst>
                                    <p:set>
                                      <p:cBhvr>
                                        <p:cTn id="204" dur="1" fill="hold">
                                          <p:stCondLst>
                                            <p:cond delay="0"/>
                                          </p:stCondLst>
                                        </p:cTn>
                                        <p:tgtEl>
                                          <p:spTgt spid="96"/>
                                        </p:tgtEl>
                                        <p:attrNameLst>
                                          <p:attrName>style.visibility</p:attrName>
                                        </p:attrNameLst>
                                      </p:cBhvr>
                                      <p:to>
                                        <p:strVal val="visible"/>
                                      </p:to>
                                    </p:set>
                                    <p:anim calcmode="lin" valueType="num">
                                      <p:cBhvr>
                                        <p:cTn id="205" dur="300" fill="hold"/>
                                        <p:tgtEl>
                                          <p:spTgt spid="96"/>
                                        </p:tgtEl>
                                        <p:attrNameLst>
                                          <p:attrName>ppt_w</p:attrName>
                                        </p:attrNameLst>
                                      </p:cBhvr>
                                      <p:tavLst>
                                        <p:tav tm="0">
                                          <p:val>
                                            <p:strVal val="#ppt_w*2.5"/>
                                          </p:val>
                                        </p:tav>
                                        <p:tav tm="100000">
                                          <p:val>
                                            <p:strVal val="#ppt_w"/>
                                          </p:val>
                                        </p:tav>
                                      </p:tavLst>
                                    </p:anim>
                                    <p:anim calcmode="lin" valueType="num">
                                      <p:cBhvr>
                                        <p:cTn id="206" dur="300" fill="hold"/>
                                        <p:tgtEl>
                                          <p:spTgt spid="96"/>
                                        </p:tgtEl>
                                        <p:attrNameLst>
                                          <p:attrName>ppt_h</p:attrName>
                                        </p:attrNameLst>
                                      </p:cBhvr>
                                      <p:tavLst>
                                        <p:tav tm="0">
                                          <p:val>
                                            <p:strVal val="#ppt_h*0.01"/>
                                          </p:val>
                                        </p:tav>
                                        <p:tav tm="100000">
                                          <p:val>
                                            <p:strVal val="#ppt_h"/>
                                          </p:val>
                                        </p:tav>
                                      </p:tavLst>
                                    </p:anim>
                                    <p:anim calcmode="lin" valueType="num">
                                      <p:cBhvr>
                                        <p:cTn id="207" dur="300" fill="hold"/>
                                        <p:tgtEl>
                                          <p:spTgt spid="96"/>
                                        </p:tgtEl>
                                        <p:attrNameLst>
                                          <p:attrName>ppt_x</p:attrName>
                                        </p:attrNameLst>
                                      </p:cBhvr>
                                      <p:tavLst>
                                        <p:tav tm="0">
                                          <p:val>
                                            <p:strVal val="#ppt_x"/>
                                          </p:val>
                                        </p:tav>
                                        <p:tav tm="100000">
                                          <p:val>
                                            <p:strVal val="#ppt_x"/>
                                          </p:val>
                                        </p:tav>
                                      </p:tavLst>
                                    </p:anim>
                                    <p:anim calcmode="lin" valueType="num">
                                      <p:cBhvr>
                                        <p:cTn id="208" dur="300" fill="hold"/>
                                        <p:tgtEl>
                                          <p:spTgt spid="96"/>
                                        </p:tgtEl>
                                        <p:attrNameLst>
                                          <p:attrName>ppt_y</p:attrName>
                                        </p:attrNameLst>
                                      </p:cBhvr>
                                      <p:tavLst>
                                        <p:tav tm="0">
                                          <p:val>
                                            <p:strVal val="#ppt_h+1"/>
                                          </p:val>
                                        </p:tav>
                                        <p:tav tm="100000">
                                          <p:val>
                                            <p:strVal val="#ppt_y"/>
                                          </p:val>
                                        </p:tav>
                                      </p:tavLst>
                                    </p:anim>
                                    <p:animEffect transition="in" filter="fade">
                                      <p:cBhvr>
                                        <p:cTn id="209" dur="300"/>
                                        <p:tgtEl>
                                          <p:spTgt spid="9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97"/>
                                        </p:tgtEl>
                                        <p:attrNameLst>
                                          <p:attrName>style.visibility</p:attrName>
                                        </p:attrNameLst>
                                      </p:cBhvr>
                                      <p:to>
                                        <p:strVal val="visible"/>
                                      </p:to>
                                    </p:set>
                                    <p:animEffect transition="in" filter="fade">
                                      <p:cBhvr>
                                        <p:cTn id="212" dur="3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6" grpId="0" animBg="1"/>
      <p:bldP spid="77" grpId="0" animBg="1"/>
      <p:bldP spid="78" grpId="0" animBg="1"/>
      <p:bldP spid="79" grpId="0" animBg="1"/>
      <p:bldP spid="80" grpId="0" animBg="1"/>
      <p:bldP spid="81" grpId="0"/>
      <p:bldP spid="82" grpId="0" animBg="1"/>
      <p:bldP spid="83" grpId="0"/>
      <p:bldP spid="84" grpId="0" animBg="1"/>
      <p:bldP spid="85" grpId="0"/>
      <p:bldP spid="86" grpId="0" animBg="1"/>
      <p:bldP spid="87" grpId="0"/>
      <p:bldP spid="88" grpId="0" animBg="1"/>
      <p:bldP spid="89" grpId="0"/>
      <p:bldP spid="90" grpId="0" animBg="1"/>
      <p:bldP spid="91" grpId="0"/>
      <p:bldP spid="92" grpId="0" animBg="1"/>
      <p:bldP spid="93" grpId="0"/>
      <p:bldP spid="94" grpId="0" animBg="1"/>
      <p:bldP spid="95" grpId="0"/>
      <p:bldP spid="96" grpId="0" animBg="1"/>
      <p:bldP spid="9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208"/>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209"/>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210"/>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Eleven hand-offs, step by step</a:t>
            </a:r>
            <a:endParaRPr lang="en-IN" sz="2200" b="1">
              <a:solidFill>
                <a:srgbClr val="FFFFFF"/>
              </a:solidFill>
              <a:latin typeface="Raleway" pitchFamily="2" charset="0"/>
            </a:endParaRPr>
          </a:p>
        </p:txBody>
      </p:sp>
      <p:sp>
        <p:nvSpPr>
          <p:cNvPr id="5" name="rd211"/>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212"/>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5  |  Radiant Digital  •  Confidential  •  All Rights Reserved  •  2026</a:t>
            </a:r>
            <a:endParaRPr lang="en-IN" sz="700">
              <a:solidFill>
                <a:srgbClr val="FFFFFF"/>
              </a:solidFill>
              <a:latin typeface="Raleway" pitchFamily="2" charset="0"/>
            </a:endParaRPr>
          </a:p>
        </p:txBody>
      </p:sp>
      <p:pic>
        <p:nvPicPr>
          <p:cNvPr id="7" name="rd21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214"/>
          <p:cNvSpPr txBox="1"/>
          <p:nvPr/>
        </p:nvSpPr>
        <p:spPr>
          <a:xfrm>
            <a:off x="457200" y="731520"/>
            <a:ext cx="457200" cy="201168"/>
          </a:xfrm>
          <a:prstGeom prst="rect">
            <a:avLst/>
          </a:prstGeom>
          <a:noFill/>
        </p:spPr>
        <p:txBody>
          <a:bodyPr vert="horz" wrap="square" lIns="0" tIns="0" rIns="0" bIns="0" rtlCol="0" anchor="ctr">
            <a:noAutofit/>
          </a:bodyPr>
          <a:lstStyle/>
          <a:p>
            <a:pPr algn="ctr"/>
            <a:r>
              <a:rPr lang="en-IN" sz="800" b="1">
                <a:solidFill>
                  <a:srgbClr val="5B6B73"/>
                </a:solidFill>
                <a:latin typeface="Raleway" pitchFamily="2" charset="0"/>
              </a:rPr>
              <a:t>STEP</a:t>
            </a:r>
          </a:p>
        </p:txBody>
      </p:sp>
      <p:sp>
        <p:nvSpPr>
          <p:cNvPr id="9" name="rd215"/>
          <p:cNvSpPr txBox="1"/>
          <p:nvPr/>
        </p:nvSpPr>
        <p:spPr>
          <a:xfrm>
            <a:off x="960120" y="731520"/>
            <a:ext cx="2743200" cy="201168"/>
          </a:xfrm>
          <a:prstGeom prst="rect">
            <a:avLst/>
          </a:prstGeom>
          <a:noFill/>
        </p:spPr>
        <p:txBody>
          <a:bodyPr vert="horz" wrap="square" lIns="0" tIns="0" rIns="0" bIns="0" rtlCol="0" anchor="ctr">
            <a:noAutofit/>
          </a:bodyPr>
          <a:lstStyle/>
          <a:p>
            <a:r>
              <a:rPr lang="en-IN" sz="800" b="1">
                <a:solidFill>
                  <a:srgbClr val="5B6B73"/>
                </a:solidFill>
                <a:latin typeface="Raleway" pitchFamily="2" charset="0"/>
              </a:rPr>
              <a:t>FROM  →  TO</a:t>
            </a:r>
          </a:p>
        </p:txBody>
      </p:sp>
      <p:sp>
        <p:nvSpPr>
          <p:cNvPr id="10" name="rd216"/>
          <p:cNvSpPr txBox="1"/>
          <p:nvPr/>
        </p:nvSpPr>
        <p:spPr>
          <a:xfrm>
            <a:off x="3931920" y="731520"/>
            <a:ext cx="2011680" cy="201168"/>
          </a:xfrm>
          <a:prstGeom prst="rect">
            <a:avLst/>
          </a:prstGeom>
          <a:noFill/>
        </p:spPr>
        <p:txBody>
          <a:bodyPr vert="horz" wrap="square" lIns="0" tIns="0" rIns="0" bIns="0" rtlCol="0" anchor="ctr">
            <a:noAutofit/>
          </a:bodyPr>
          <a:lstStyle/>
          <a:p>
            <a:pPr algn="ctr"/>
            <a:r>
              <a:rPr lang="en-IN" sz="800" b="1">
                <a:solidFill>
                  <a:srgbClr val="5B6B73"/>
                </a:solidFill>
                <a:latin typeface="Raleway" pitchFamily="2" charset="0"/>
              </a:rPr>
              <a:t>PAYLOAD</a:t>
            </a:r>
          </a:p>
        </p:txBody>
      </p:sp>
      <p:sp>
        <p:nvSpPr>
          <p:cNvPr id="11" name="rd217"/>
          <p:cNvSpPr txBox="1"/>
          <p:nvPr/>
        </p:nvSpPr>
        <p:spPr>
          <a:xfrm>
            <a:off x="6126480" y="731520"/>
            <a:ext cx="5486400" cy="201168"/>
          </a:xfrm>
          <a:prstGeom prst="rect">
            <a:avLst/>
          </a:prstGeom>
          <a:noFill/>
        </p:spPr>
        <p:txBody>
          <a:bodyPr vert="horz" wrap="square" lIns="0" tIns="0" rIns="0" bIns="0" rtlCol="0" anchor="ctr">
            <a:noAutofit/>
          </a:bodyPr>
          <a:lstStyle/>
          <a:p>
            <a:r>
              <a:rPr lang="en-IN" sz="800" b="1">
                <a:solidFill>
                  <a:srgbClr val="5B6B73"/>
                </a:solidFill>
                <a:latin typeface="Raleway" pitchFamily="2" charset="0"/>
              </a:rPr>
              <a:t>WHAT HAPPENS</a:t>
            </a:r>
          </a:p>
        </p:txBody>
      </p:sp>
      <p:cxnSp>
        <p:nvCxnSpPr>
          <p:cNvPr id="12" name="rd218"/>
          <p:cNvCxnSpPr/>
          <p:nvPr/>
        </p:nvCxnSpPr>
        <p:spPr>
          <a:xfrm>
            <a:off x="457200" y="969264"/>
            <a:ext cx="11274552" cy="0"/>
          </a:xfrm>
          <a:prstGeom prst="line">
            <a:avLst/>
          </a:prstGeom>
          <a:ln w="9525">
            <a:solidFill>
              <a:srgbClr val="93C3CD"/>
            </a:solidFill>
          </a:ln>
        </p:spPr>
        <p:style>
          <a:lnRef idx="1">
            <a:schemeClr val="accent1"/>
          </a:lnRef>
          <a:fillRef idx="0">
            <a:schemeClr val="accent1"/>
          </a:fillRef>
          <a:effectRef idx="0">
            <a:schemeClr val="accent1"/>
          </a:effectRef>
          <a:fontRef idx="minor">
            <a:schemeClr val="tx1"/>
          </a:fontRef>
        </p:style>
      </p:cxnSp>
      <p:sp>
        <p:nvSpPr>
          <p:cNvPr id="13" name="rd219"/>
          <p:cNvSpPr/>
          <p:nvPr/>
        </p:nvSpPr>
        <p:spPr>
          <a:xfrm>
            <a:off x="457200" y="1024128"/>
            <a:ext cx="11274552" cy="237744"/>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850" b="1">
                <a:solidFill>
                  <a:srgbClr val="0596AE"/>
                </a:solidFill>
                <a:latin typeface="Raleway" pitchFamily="2" charset="0"/>
              </a:rPr>
              <a:t>BUILD TIME  |  once per use case</a:t>
            </a:r>
            <a:endParaRPr lang="en-IN" sz="850" b="1">
              <a:solidFill>
                <a:srgbClr val="0596AE"/>
              </a:solidFill>
              <a:latin typeface="Raleway" pitchFamily="2" charset="0"/>
            </a:endParaRPr>
          </a:p>
        </p:txBody>
      </p:sp>
      <p:grpSp>
        <p:nvGrpSpPr>
          <p:cNvPr id="19" name="rd225"/>
          <p:cNvGrpSpPr/>
          <p:nvPr/>
        </p:nvGrpSpPr>
        <p:grpSpPr>
          <a:xfrm>
            <a:off x="457200" y="1280160"/>
            <a:ext cx="11274552" cy="420624"/>
            <a:chOff x="457200" y="1280160"/>
            <a:chExt cx="11274552" cy="420624"/>
          </a:xfrm>
        </p:grpSpPr>
        <p:sp>
          <p:nvSpPr>
            <p:cNvPr id="14" name="rd220"/>
            <p:cNvSpPr/>
            <p:nvPr/>
          </p:nvSpPr>
          <p:spPr>
            <a:xfrm>
              <a:off x="548640" y="1353312"/>
              <a:ext cx="274320" cy="274320"/>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1</a:t>
              </a:r>
            </a:p>
          </p:txBody>
        </p:sp>
        <p:sp>
          <p:nvSpPr>
            <p:cNvPr id="15" name="rd221"/>
            <p:cNvSpPr txBox="1"/>
            <p:nvPr/>
          </p:nvSpPr>
          <p:spPr>
            <a:xfrm>
              <a:off x="960120" y="1280160"/>
              <a:ext cx="2880360" cy="420624"/>
            </a:xfrm>
            <a:prstGeom prst="rect">
              <a:avLst/>
            </a:prstGeom>
            <a:noFill/>
          </p:spPr>
          <p:txBody>
            <a:bodyPr vert="horz" wrap="square" lIns="0" tIns="0" rIns="0" bIns="0" rtlCol="0" anchor="ctr">
              <a:noAutofit/>
            </a:bodyPr>
            <a:lstStyle/>
            <a:p>
              <a:r>
                <a:rPr lang="en-US" sz="1000" b="1">
                  <a:solidFill>
                    <a:srgbClr val="074661"/>
                  </a:solidFill>
                  <a:latin typeface="Raleway" pitchFamily="2" charset="0"/>
                </a:rPr>
                <a:t>Market Leaders → Experience + Data Factory</a:t>
              </a:r>
              <a:endParaRPr lang="en-IN" sz="1000" b="1">
                <a:solidFill>
                  <a:srgbClr val="074661"/>
                </a:solidFill>
                <a:latin typeface="Raleway" pitchFamily="2" charset="0"/>
              </a:endParaRPr>
            </a:p>
          </p:txBody>
        </p:sp>
        <p:sp>
          <p:nvSpPr>
            <p:cNvPr id="16" name="rd222"/>
            <p:cNvSpPr/>
            <p:nvPr/>
          </p:nvSpPr>
          <p:spPr>
            <a:xfrm>
              <a:off x="3931920" y="1362456"/>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Business use cases</a:t>
              </a:r>
            </a:p>
          </p:txBody>
        </p:sp>
        <p:sp>
          <p:nvSpPr>
            <p:cNvPr id="17" name="rd223"/>
            <p:cNvSpPr txBox="1"/>
            <p:nvPr/>
          </p:nvSpPr>
          <p:spPr>
            <a:xfrm>
              <a:off x="6126480" y="1280160"/>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Each use case starts two parallel build streams: the experience and the domain knowledge.</a:t>
              </a:r>
              <a:endParaRPr lang="en-IN" sz="1000">
                <a:solidFill>
                  <a:srgbClr val="231F20"/>
                </a:solidFill>
                <a:latin typeface="Raleway" pitchFamily="2" charset="0"/>
              </a:endParaRPr>
            </a:p>
          </p:txBody>
        </p:sp>
        <p:cxnSp>
          <p:nvCxnSpPr>
            <p:cNvPr id="18" name="rd224"/>
            <p:cNvCxnSpPr/>
            <p:nvPr/>
          </p:nvCxnSpPr>
          <p:spPr>
            <a:xfrm>
              <a:off x="457200" y="1700784"/>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25" name="rd231"/>
          <p:cNvGrpSpPr/>
          <p:nvPr/>
        </p:nvGrpSpPr>
        <p:grpSpPr>
          <a:xfrm>
            <a:off x="457200" y="1700784"/>
            <a:ext cx="11274552" cy="420624"/>
            <a:chOff x="457200" y="1700784"/>
            <a:chExt cx="11274552" cy="420624"/>
          </a:xfrm>
        </p:grpSpPr>
        <p:sp>
          <p:nvSpPr>
            <p:cNvPr id="20" name="rd226"/>
            <p:cNvSpPr/>
            <p:nvPr/>
          </p:nvSpPr>
          <p:spPr>
            <a:xfrm>
              <a:off x="548640" y="1773936"/>
              <a:ext cx="274320" cy="274320"/>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2</a:t>
              </a:r>
            </a:p>
          </p:txBody>
        </p:sp>
        <p:sp>
          <p:nvSpPr>
            <p:cNvPr id="21" name="rd227"/>
            <p:cNvSpPr txBox="1"/>
            <p:nvPr/>
          </p:nvSpPr>
          <p:spPr>
            <a:xfrm>
              <a:off x="960120" y="1700784"/>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Data Factory → KAG</a:t>
              </a:r>
            </a:p>
          </p:txBody>
        </p:sp>
        <p:sp>
          <p:nvSpPr>
            <p:cNvPr id="22" name="rd228"/>
            <p:cNvSpPr/>
            <p:nvPr/>
          </p:nvSpPr>
          <p:spPr>
            <a:xfrm>
              <a:off x="3931920" y="1783080"/>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Model, metadata, ontologies</a:t>
              </a:r>
            </a:p>
          </p:txBody>
        </p:sp>
        <p:sp>
          <p:nvSpPr>
            <p:cNvPr id="23" name="rd229"/>
            <p:cNvSpPr txBox="1"/>
            <p:nvPr/>
          </p:nvSpPr>
          <p:spPr>
            <a:xfrm>
              <a:off x="6126480" y="1700784"/>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Enriched domain knowledge is published as the Knowledge-Augmented Generation (KAG) graph.</a:t>
              </a:r>
              <a:endParaRPr lang="en-IN" sz="1000">
                <a:solidFill>
                  <a:srgbClr val="231F20"/>
                </a:solidFill>
                <a:latin typeface="Raleway" pitchFamily="2" charset="0"/>
              </a:endParaRPr>
            </a:p>
          </p:txBody>
        </p:sp>
        <p:cxnSp>
          <p:nvCxnSpPr>
            <p:cNvPr id="24" name="rd230"/>
            <p:cNvCxnSpPr/>
            <p:nvPr/>
          </p:nvCxnSpPr>
          <p:spPr>
            <a:xfrm>
              <a:off x="457200" y="2121408"/>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31" name="rd237"/>
          <p:cNvGrpSpPr/>
          <p:nvPr/>
        </p:nvGrpSpPr>
        <p:grpSpPr>
          <a:xfrm>
            <a:off x="457200" y="2121408"/>
            <a:ext cx="11274552" cy="420624"/>
            <a:chOff x="457200" y="2121408"/>
            <a:chExt cx="11274552" cy="420624"/>
          </a:xfrm>
        </p:grpSpPr>
        <p:sp>
          <p:nvSpPr>
            <p:cNvPr id="26" name="rd232"/>
            <p:cNvSpPr/>
            <p:nvPr/>
          </p:nvSpPr>
          <p:spPr>
            <a:xfrm>
              <a:off x="548640" y="2194560"/>
              <a:ext cx="274320" cy="274320"/>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3</a:t>
              </a:r>
            </a:p>
          </p:txBody>
        </p:sp>
        <p:sp>
          <p:nvSpPr>
            <p:cNvPr id="27" name="rd233"/>
            <p:cNvSpPr txBox="1"/>
            <p:nvPr/>
          </p:nvSpPr>
          <p:spPr>
            <a:xfrm>
              <a:off x="960120" y="2121408"/>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Experience Factory → React Application</a:t>
              </a:r>
            </a:p>
          </p:txBody>
        </p:sp>
        <p:sp>
          <p:nvSpPr>
            <p:cNvPr id="28" name="rd234"/>
            <p:cNvSpPr/>
            <p:nvPr/>
          </p:nvSpPr>
          <p:spPr>
            <a:xfrm>
              <a:off x="3931920" y="2203704"/>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React app via Git</a:t>
              </a:r>
            </a:p>
          </p:txBody>
        </p:sp>
        <p:sp>
          <p:nvSpPr>
            <p:cNvPr id="29" name="rd235"/>
            <p:cNvSpPr txBox="1"/>
            <p:nvPr/>
          </p:nvSpPr>
          <p:spPr>
            <a:xfrm>
              <a:off x="6126480" y="2121408"/>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Conversational pages compile to React, are committed to Git and wired to the Insights API.</a:t>
              </a:r>
              <a:endParaRPr lang="en-IN" sz="1000">
                <a:solidFill>
                  <a:srgbClr val="231F20"/>
                </a:solidFill>
                <a:latin typeface="Raleway" pitchFamily="2" charset="0"/>
              </a:endParaRPr>
            </a:p>
          </p:txBody>
        </p:sp>
        <p:cxnSp>
          <p:nvCxnSpPr>
            <p:cNvPr id="30" name="rd236"/>
            <p:cNvCxnSpPr/>
            <p:nvPr/>
          </p:nvCxnSpPr>
          <p:spPr>
            <a:xfrm>
              <a:off x="457200" y="2542032"/>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sp>
        <p:nvSpPr>
          <p:cNvPr id="32" name="rd238"/>
          <p:cNvSpPr/>
          <p:nvPr/>
        </p:nvSpPr>
        <p:spPr>
          <a:xfrm>
            <a:off x="457200" y="2615184"/>
            <a:ext cx="11274552" cy="237744"/>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850" b="1">
                <a:solidFill>
                  <a:srgbClr val="0596AE"/>
                </a:solidFill>
                <a:latin typeface="Raleway" pitchFamily="2" charset="0"/>
              </a:rPr>
              <a:t>RUNTIME  |  every user ask</a:t>
            </a:r>
          </a:p>
        </p:txBody>
      </p:sp>
      <p:grpSp>
        <p:nvGrpSpPr>
          <p:cNvPr id="38" name="rd244"/>
          <p:cNvGrpSpPr/>
          <p:nvPr/>
        </p:nvGrpSpPr>
        <p:grpSpPr>
          <a:xfrm>
            <a:off x="457200" y="2871216"/>
            <a:ext cx="11274552" cy="420624"/>
            <a:chOff x="457200" y="2871216"/>
            <a:chExt cx="11274552" cy="420624"/>
          </a:xfrm>
        </p:grpSpPr>
        <p:sp>
          <p:nvSpPr>
            <p:cNvPr id="33" name="rd239"/>
            <p:cNvSpPr/>
            <p:nvPr/>
          </p:nvSpPr>
          <p:spPr>
            <a:xfrm>
              <a:off x="548640" y="2944368"/>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4</a:t>
              </a:r>
            </a:p>
          </p:txBody>
        </p:sp>
        <p:sp>
          <p:nvSpPr>
            <p:cNvPr id="34" name="rd240"/>
            <p:cNvSpPr txBox="1"/>
            <p:nvPr/>
          </p:nvSpPr>
          <p:spPr>
            <a:xfrm>
              <a:off x="960120" y="2871216"/>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React Application → Insights Factory</a:t>
              </a:r>
            </a:p>
          </p:txBody>
        </p:sp>
        <p:sp>
          <p:nvSpPr>
            <p:cNvPr id="35" name="rd241"/>
            <p:cNvSpPr/>
            <p:nvPr/>
          </p:nvSpPr>
          <p:spPr>
            <a:xfrm>
              <a:off x="3931920" y="2953512"/>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Component, Variant, Ask</a:t>
              </a:r>
            </a:p>
          </p:txBody>
        </p:sp>
        <p:sp>
          <p:nvSpPr>
            <p:cNvPr id="36" name="rd242"/>
            <p:cNvSpPr txBox="1"/>
            <p:nvPr/>
          </p:nvSpPr>
          <p:spPr>
            <a:xfrm>
              <a:off x="6126480" y="2871216"/>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The user asks a question; the app names the GenUI component and variant it needs.</a:t>
              </a:r>
              <a:endParaRPr lang="en-IN" sz="1000">
                <a:solidFill>
                  <a:srgbClr val="231F20"/>
                </a:solidFill>
                <a:latin typeface="Raleway" pitchFamily="2" charset="0"/>
              </a:endParaRPr>
            </a:p>
          </p:txBody>
        </p:sp>
        <p:cxnSp>
          <p:nvCxnSpPr>
            <p:cNvPr id="37" name="rd243"/>
            <p:cNvCxnSpPr/>
            <p:nvPr/>
          </p:nvCxnSpPr>
          <p:spPr>
            <a:xfrm>
              <a:off x="457200" y="3291840"/>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44" name="rd250"/>
          <p:cNvGrpSpPr/>
          <p:nvPr/>
        </p:nvGrpSpPr>
        <p:grpSpPr>
          <a:xfrm>
            <a:off x="457200" y="3291840"/>
            <a:ext cx="11274552" cy="420624"/>
            <a:chOff x="457200" y="3291840"/>
            <a:chExt cx="11274552" cy="420624"/>
          </a:xfrm>
        </p:grpSpPr>
        <p:sp>
          <p:nvSpPr>
            <p:cNvPr id="39" name="rd245"/>
            <p:cNvSpPr/>
            <p:nvPr/>
          </p:nvSpPr>
          <p:spPr>
            <a:xfrm>
              <a:off x="548640" y="3364992"/>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5</a:t>
              </a:r>
            </a:p>
          </p:txBody>
        </p:sp>
        <p:sp>
          <p:nvSpPr>
            <p:cNvPr id="40" name="rd246"/>
            <p:cNvSpPr txBox="1"/>
            <p:nvPr/>
          </p:nvSpPr>
          <p:spPr>
            <a:xfrm>
              <a:off x="960120" y="3291840"/>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Insights Factory → Insights Server</a:t>
              </a:r>
            </a:p>
          </p:txBody>
        </p:sp>
        <p:sp>
          <p:nvSpPr>
            <p:cNvPr id="41" name="rd247"/>
            <p:cNvSpPr/>
            <p:nvPr/>
          </p:nvSpPr>
          <p:spPr>
            <a:xfrm>
              <a:off x="3931920" y="3374136"/>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Component, Variant, Ask</a:t>
              </a:r>
            </a:p>
          </p:txBody>
        </p:sp>
        <p:sp>
          <p:nvSpPr>
            <p:cNvPr id="42" name="rd248"/>
            <p:cNvSpPr txBox="1"/>
            <p:nvPr/>
          </p:nvSpPr>
          <p:spPr>
            <a:xfrm>
              <a:off x="6126480" y="3291840"/>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The Data Insights API passes the payload to the LLM workflow.</a:t>
              </a:r>
              <a:endParaRPr lang="en-IN" sz="1000">
                <a:solidFill>
                  <a:srgbClr val="231F20"/>
                </a:solidFill>
                <a:latin typeface="Raleway" pitchFamily="2" charset="0"/>
              </a:endParaRPr>
            </a:p>
          </p:txBody>
        </p:sp>
        <p:cxnSp>
          <p:nvCxnSpPr>
            <p:cNvPr id="43" name="rd249"/>
            <p:cNvCxnSpPr/>
            <p:nvPr/>
          </p:nvCxnSpPr>
          <p:spPr>
            <a:xfrm>
              <a:off x="457200" y="3712464"/>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50" name="rd256"/>
          <p:cNvGrpSpPr/>
          <p:nvPr/>
        </p:nvGrpSpPr>
        <p:grpSpPr>
          <a:xfrm>
            <a:off x="457200" y="3712464"/>
            <a:ext cx="11274552" cy="420624"/>
            <a:chOff x="457200" y="3712464"/>
            <a:chExt cx="11274552" cy="420624"/>
          </a:xfrm>
        </p:grpSpPr>
        <p:sp>
          <p:nvSpPr>
            <p:cNvPr id="45" name="rd251"/>
            <p:cNvSpPr/>
            <p:nvPr/>
          </p:nvSpPr>
          <p:spPr>
            <a:xfrm>
              <a:off x="548640" y="3785616"/>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6</a:t>
              </a:r>
            </a:p>
          </p:txBody>
        </p:sp>
        <p:sp>
          <p:nvSpPr>
            <p:cNvPr id="46" name="rd252"/>
            <p:cNvSpPr txBox="1"/>
            <p:nvPr/>
          </p:nvSpPr>
          <p:spPr>
            <a:xfrm>
              <a:off x="960120" y="3712464"/>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KAG → Insights Server</a:t>
              </a:r>
            </a:p>
          </p:txBody>
        </p:sp>
        <p:sp>
          <p:nvSpPr>
            <p:cNvPr id="47" name="rd253"/>
            <p:cNvSpPr/>
            <p:nvPr/>
          </p:nvSpPr>
          <p:spPr>
            <a:xfrm>
              <a:off x="3931920" y="3794760"/>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Context</a:t>
              </a:r>
            </a:p>
          </p:txBody>
        </p:sp>
        <p:sp>
          <p:nvSpPr>
            <p:cNvPr id="48" name="rd254"/>
            <p:cNvSpPr txBox="1"/>
            <p:nvPr/>
          </p:nvSpPr>
          <p:spPr>
            <a:xfrm>
              <a:off x="6126480" y="3712464"/>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Ontologies and metadata ground intent classification and query generation.</a:t>
              </a:r>
              <a:endParaRPr lang="en-IN" sz="1000">
                <a:solidFill>
                  <a:srgbClr val="231F20"/>
                </a:solidFill>
                <a:latin typeface="Raleway" pitchFamily="2" charset="0"/>
              </a:endParaRPr>
            </a:p>
          </p:txBody>
        </p:sp>
        <p:cxnSp>
          <p:nvCxnSpPr>
            <p:cNvPr id="49" name="rd255"/>
            <p:cNvCxnSpPr/>
            <p:nvPr/>
          </p:nvCxnSpPr>
          <p:spPr>
            <a:xfrm>
              <a:off x="457200" y="4133088"/>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56" name="rd262"/>
          <p:cNvGrpSpPr/>
          <p:nvPr/>
        </p:nvGrpSpPr>
        <p:grpSpPr>
          <a:xfrm>
            <a:off x="457200" y="4133088"/>
            <a:ext cx="11274552" cy="420624"/>
            <a:chOff x="457200" y="4133088"/>
            <a:chExt cx="11274552" cy="420624"/>
          </a:xfrm>
        </p:grpSpPr>
        <p:sp>
          <p:nvSpPr>
            <p:cNvPr id="51" name="rd257"/>
            <p:cNvSpPr/>
            <p:nvPr/>
          </p:nvSpPr>
          <p:spPr>
            <a:xfrm>
              <a:off x="548640" y="4206240"/>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7</a:t>
              </a:r>
            </a:p>
          </p:txBody>
        </p:sp>
        <p:sp>
          <p:nvSpPr>
            <p:cNvPr id="52" name="rd258"/>
            <p:cNvSpPr txBox="1"/>
            <p:nvPr/>
          </p:nvSpPr>
          <p:spPr>
            <a:xfrm>
              <a:off x="960120" y="4133088"/>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Insights Server → Data Sources</a:t>
              </a:r>
            </a:p>
          </p:txBody>
        </p:sp>
        <p:sp>
          <p:nvSpPr>
            <p:cNvPr id="53" name="rd259"/>
            <p:cNvSpPr/>
            <p:nvPr/>
          </p:nvSpPr>
          <p:spPr>
            <a:xfrm>
              <a:off x="3931920" y="4215384"/>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Cypher query</a:t>
              </a:r>
            </a:p>
          </p:txBody>
        </p:sp>
        <p:sp>
          <p:nvSpPr>
            <p:cNvPr id="54" name="rd260"/>
            <p:cNvSpPr txBox="1"/>
            <p:nvPr/>
          </p:nvSpPr>
          <p:spPr>
            <a:xfrm>
              <a:off x="6126480" y="4133088"/>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The workflow retrieves only the data the classified intent requires.</a:t>
              </a:r>
              <a:endParaRPr lang="en-IN" sz="1000">
                <a:solidFill>
                  <a:srgbClr val="231F20"/>
                </a:solidFill>
                <a:latin typeface="Raleway" pitchFamily="2" charset="0"/>
              </a:endParaRPr>
            </a:p>
          </p:txBody>
        </p:sp>
        <p:cxnSp>
          <p:nvCxnSpPr>
            <p:cNvPr id="55" name="rd261"/>
            <p:cNvCxnSpPr/>
            <p:nvPr/>
          </p:nvCxnSpPr>
          <p:spPr>
            <a:xfrm>
              <a:off x="457200" y="4553712"/>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62" name="rd268"/>
          <p:cNvGrpSpPr/>
          <p:nvPr/>
        </p:nvGrpSpPr>
        <p:grpSpPr>
          <a:xfrm>
            <a:off x="457200" y="4553712"/>
            <a:ext cx="11274552" cy="420624"/>
            <a:chOff x="457200" y="4553712"/>
            <a:chExt cx="11274552" cy="420624"/>
          </a:xfrm>
        </p:grpSpPr>
        <p:sp>
          <p:nvSpPr>
            <p:cNvPr id="57" name="rd263"/>
            <p:cNvSpPr/>
            <p:nvPr/>
          </p:nvSpPr>
          <p:spPr>
            <a:xfrm>
              <a:off x="548640" y="4626864"/>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8</a:t>
              </a:r>
            </a:p>
          </p:txBody>
        </p:sp>
        <p:sp>
          <p:nvSpPr>
            <p:cNvPr id="58" name="rd264"/>
            <p:cNvSpPr txBox="1"/>
            <p:nvPr/>
          </p:nvSpPr>
          <p:spPr>
            <a:xfrm>
              <a:off x="960120" y="4553712"/>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Data Sources → Insights Server</a:t>
              </a:r>
            </a:p>
          </p:txBody>
        </p:sp>
        <p:sp>
          <p:nvSpPr>
            <p:cNvPr id="59" name="rd265"/>
            <p:cNvSpPr/>
            <p:nvPr/>
          </p:nvSpPr>
          <p:spPr>
            <a:xfrm>
              <a:off x="3931920" y="4636008"/>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Raw data</a:t>
              </a:r>
            </a:p>
          </p:txBody>
        </p:sp>
        <p:sp>
          <p:nvSpPr>
            <p:cNvPr id="60" name="rd266"/>
            <p:cNvSpPr txBox="1"/>
            <p:nvPr/>
          </p:nvSpPr>
          <p:spPr>
            <a:xfrm>
              <a:off x="6126480" y="4553712"/>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Internal and external data return for intelligence and report generation.</a:t>
              </a:r>
              <a:endParaRPr lang="en-IN" sz="1000">
                <a:solidFill>
                  <a:srgbClr val="231F20"/>
                </a:solidFill>
                <a:latin typeface="Raleway" pitchFamily="2" charset="0"/>
              </a:endParaRPr>
            </a:p>
          </p:txBody>
        </p:sp>
        <p:cxnSp>
          <p:nvCxnSpPr>
            <p:cNvPr id="61" name="rd267"/>
            <p:cNvCxnSpPr/>
            <p:nvPr/>
          </p:nvCxnSpPr>
          <p:spPr>
            <a:xfrm>
              <a:off x="457200" y="4974336"/>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68" name="rd274"/>
          <p:cNvGrpSpPr/>
          <p:nvPr/>
        </p:nvGrpSpPr>
        <p:grpSpPr>
          <a:xfrm>
            <a:off x="457200" y="4974336"/>
            <a:ext cx="11274552" cy="420624"/>
            <a:chOff x="457200" y="4974336"/>
            <a:chExt cx="11274552" cy="420624"/>
          </a:xfrm>
        </p:grpSpPr>
        <p:sp>
          <p:nvSpPr>
            <p:cNvPr id="63" name="rd269"/>
            <p:cNvSpPr/>
            <p:nvPr/>
          </p:nvSpPr>
          <p:spPr>
            <a:xfrm>
              <a:off x="548640" y="5047488"/>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9</a:t>
              </a:r>
            </a:p>
          </p:txBody>
        </p:sp>
        <p:sp>
          <p:nvSpPr>
            <p:cNvPr id="64" name="rd270"/>
            <p:cNvSpPr txBox="1"/>
            <p:nvPr/>
          </p:nvSpPr>
          <p:spPr>
            <a:xfrm>
              <a:off x="960120" y="4974336"/>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Insights Server → Insights Factory</a:t>
              </a:r>
            </a:p>
          </p:txBody>
        </p:sp>
        <p:sp>
          <p:nvSpPr>
            <p:cNvPr id="65" name="rd271"/>
            <p:cNvSpPr/>
            <p:nvPr/>
          </p:nvSpPr>
          <p:spPr>
            <a:xfrm>
              <a:off x="3931920" y="5056632"/>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Result set data</a:t>
              </a:r>
            </a:p>
          </p:txBody>
        </p:sp>
        <p:sp>
          <p:nvSpPr>
            <p:cNvPr id="66" name="rd272"/>
            <p:cNvSpPr txBox="1"/>
            <p:nvPr/>
          </p:nvSpPr>
          <p:spPr>
            <a:xfrm>
              <a:off x="6126480" y="4974336"/>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The result is hydrated, cast to the right types and streamed back.</a:t>
              </a:r>
              <a:endParaRPr lang="en-IN" sz="1000">
                <a:solidFill>
                  <a:srgbClr val="231F20"/>
                </a:solidFill>
                <a:latin typeface="Raleway" pitchFamily="2" charset="0"/>
              </a:endParaRPr>
            </a:p>
          </p:txBody>
        </p:sp>
        <p:cxnSp>
          <p:nvCxnSpPr>
            <p:cNvPr id="67" name="rd273"/>
            <p:cNvCxnSpPr/>
            <p:nvPr/>
          </p:nvCxnSpPr>
          <p:spPr>
            <a:xfrm>
              <a:off x="457200" y="5394960"/>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74" name="rd280"/>
          <p:cNvGrpSpPr/>
          <p:nvPr/>
        </p:nvGrpSpPr>
        <p:grpSpPr>
          <a:xfrm>
            <a:off x="457200" y="5394960"/>
            <a:ext cx="11274552" cy="420624"/>
            <a:chOff x="457200" y="5394960"/>
            <a:chExt cx="11274552" cy="420624"/>
          </a:xfrm>
        </p:grpSpPr>
        <p:sp>
          <p:nvSpPr>
            <p:cNvPr id="69" name="rd275"/>
            <p:cNvSpPr/>
            <p:nvPr/>
          </p:nvSpPr>
          <p:spPr>
            <a:xfrm>
              <a:off x="548640" y="5468112"/>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10</a:t>
              </a:r>
            </a:p>
          </p:txBody>
        </p:sp>
        <p:sp>
          <p:nvSpPr>
            <p:cNvPr id="70" name="rd276"/>
            <p:cNvSpPr txBox="1"/>
            <p:nvPr/>
          </p:nvSpPr>
          <p:spPr>
            <a:xfrm>
              <a:off x="960120" y="5394960"/>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Insights Factory → React Application</a:t>
              </a:r>
            </a:p>
          </p:txBody>
        </p:sp>
        <p:sp>
          <p:nvSpPr>
            <p:cNvPr id="71" name="rd277"/>
            <p:cNvSpPr/>
            <p:nvPr/>
          </p:nvSpPr>
          <p:spPr>
            <a:xfrm>
              <a:off x="3931920" y="5477256"/>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Response JSON</a:t>
              </a:r>
            </a:p>
          </p:txBody>
        </p:sp>
        <p:sp>
          <p:nvSpPr>
            <p:cNvPr id="72" name="rd278"/>
            <p:cNvSpPr txBox="1"/>
            <p:nvPr/>
          </p:nvSpPr>
          <p:spPr>
            <a:xfrm>
              <a:off x="6126480" y="5394960"/>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The transform utility maps raw data to the component JSON contract.</a:t>
              </a:r>
              <a:endParaRPr lang="en-IN" sz="1000">
                <a:solidFill>
                  <a:srgbClr val="231F20"/>
                </a:solidFill>
                <a:latin typeface="Raleway" pitchFamily="2" charset="0"/>
              </a:endParaRPr>
            </a:p>
          </p:txBody>
        </p:sp>
        <p:cxnSp>
          <p:nvCxnSpPr>
            <p:cNvPr id="73" name="rd279"/>
            <p:cNvCxnSpPr/>
            <p:nvPr/>
          </p:nvCxnSpPr>
          <p:spPr>
            <a:xfrm>
              <a:off x="457200" y="5815584"/>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grpSp>
        <p:nvGrpSpPr>
          <p:cNvPr id="80" name="rd286"/>
          <p:cNvGrpSpPr/>
          <p:nvPr/>
        </p:nvGrpSpPr>
        <p:grpSpPr>
          <a:xfrm>
            <a:off x="457200" y="5815584"/>
            <a:ext cx="11274552" cy="420624"/>
            <a:chOff x="457200" y="5815584"/>
            <a:chExt cx="11274552" cy="420624"/>
          </a:xfrm>
        </p:grpSpPr>
        <p:sp>
          <p:nvSpPr>
            <p:cNvPr id="75" name="rd281"/>
            <p:cNvSpPr/>
            <p:nvPr/>
          </p:nvSpPr>
          <p:spPr>
            <a:xfrm>
              <a:off x="548640" y="5888736"/>
              <a:ext cx="274320" cy="27432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11</a:t>
              </a:r>
            </a:p>
          </p:txBody>
        </p:sp>
        <p:sp>
          <p:nvSpPr>
            <p:cNvPr id="76" name="rd282"/>
            <p:cNvSpPr txBox="1"/>
            <p:nvPr/>
          </p:nvSpPr>
          <p:spPr>
            <a:xfrm>
              <a:off x="960120" y="5815584"/>
              <a:ext cx="2880360" cy="42062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React Application → Market Leaders</a:t>
              </a:r>
            </a:p>
          </p:txBody>
        </p:sp>
        <p:sp>
          <p:nvSpPr>
            <p:cNvPr id="77" name="rd283"/>
            <p:cNvSpPr/>
            <p:nvPr/>
          </p:nvSpPr>
          <p:spPr>
            <a:xfrm>
              <a:off x="3931920" y="5897880"/>
              <a:ext cx="2011680" cy="256032"/>
            </a:xfrm>
            <a:prstGeom prst="roundRect">
              <a:avLst>
                <a:gd name="adj" fmla="val 30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6576" tIns="0" rIns="36576" bIns="0" rtlCol="0" anchor="ctr"/>
            <a:lstStyle/>
            <a:p>
              <a:pPr algn="ctr"/>
              <a:r>
                <a:rPr lang="en-IN" sz="850" b="1">
                  <a:solidFill>
                    <a:srgbClr val="074661"/>
                  </a:solidFill>
                  <a:latin typeface="Raleway" pitchFamily="2" charset="0"/>
                </a:rPr>
                <a:t>Rendered GenUI</a:t>
              </a:r>
            </a:p>
          </p:txBody>
        </p:sp>
        <p:sp>
          <p:nvSpPr>
            <p:cNvPr id="78" name="rd284"/>
            <p:cNvSpPr txBox="1"/>
            <p:nvPr/>
          </p:nvSpPr>
          <p:spPr>
            <a:xfrm>
              <a:off x="6126480" y="5815584"/>
              <a:ext cx="5577840" cy="420624"/>
            </a:xfrm>
            <a:prstGeom prst="rect">
              <a:avLst/>
            </a:prstGeom>
            <a:noFill/>
          </p:spPr>
          <p:txBody>
            <a:bodyPr vert="horz" wrap="square" lIns="0" tIns="0" rIns="0" bIns="0" rtlCol="0" anchor="ctr">
              <a:noAutofit/>
            </a:bodyPr>
            <a:lstStyle/>
            <a:p>
              <a:r>
                <a:rPr lang="en-US" sz="1000">
                  <a:solidFill>
                    <a:srgbClr val="231F20"/>
                  </a:solidFill>
                  <a:latin typeface="Raleway" pitchFamily="2" charset="0"/>
                </a:rPr>
                <a:t>The answer renders as live GenUI, so the use case is demo ready.</a:t>
              </a:r>
              <a:endParaRPr lang="en-IN" sz="1000">
                <a:solidFill>
                  <a:srgbClr val="231F20"/>
                </a:solidFill>
                <a:latin typeface="Raleway" pitchFamily="2" charset="0"/>
              </a:endParaRPr>
            </a:p>
          </p:txBody>
        </p:sp>
        <p:cxnSp>
          <p:nvCxnSpPr>
            <p:cNvPr id="79" name="rd285"/>
            <p:cNvCxnSpPr/>
            <p:nvPr/>
          </p:nvCxnSpPr>
          <p:spPr>
            <a:xfrm>
              <a:off x="457200" y="6236208"/>
              <a:ext cx="11274552" cy="0"/>
            </a:xfrm>
            <a:prstGeom prst="line">
              <a:avLst/>
            </a:prstGeom>
            <a:ln w="6350">
              <a:solidFill>
                <a:srgbClr val="D5E3E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879073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00"/>
                                        <p:tgtEl>
                                          <p:spTgt spid="13"/>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35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35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35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300"/>
                                        <p:tgtEl>
                                          <p:spTgt spid="32"/>
                                        </p:tgtEl>
                                      </p:cBhvr>
                                    </p:animEffect>
                                  </p:childTnLst>
                                </p:cTn>
                              </p:par>
                            </p:childTnLst>
                          </p:cTn>
                        </p:par>
                        <p:par>
                          <p:cTn id="27" fill="hold">
                            <p:stCondLst>
                              <p:cond delay="300"/>
                            </p:stCondLst>
                            <p:childTnLst>
                              <p:par>
                                <p:cTn id="28" presetID="10" presetClass="entr" presetSubtype="0" fill="hold" nodeType="after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35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350"/>
                                        <p:tgtEl>
                                          <p:spTgt spid="4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350"/>
                                        <p:tgtEl>
                                          <p:spTgt spid="5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fade">
                                      <p:cBhvr>
                                        <p:cTn id="45" dur="350"/>
                                        <p:tgtEl>
                                          <p:spTgt spid="5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350"/>
                                        <p:tgtEl>
                                          <p:spTgt spid="6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8"/>
                                        </p:tgtEl>
                                        <p:attrNameLst>
                                          <p:attrName>style.visibility</p:attrName>
                                        </p:attrNameLst>
                                      </p:cBhvr>
                                      <p:to>
                                        <p:strVal val="visible"/>
                                      </p:to>
                                    </p:set>
                                    <p:animEffect transition="in" filter="fade">
                                      <p:cBhvr>
                                        <p:cTn id="55" dur="350"/>
                                        <p:tgtEl>
                                          <p:spTgt spid="6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4"/>
                                        </p:tgtEl>
                                        <p:attrNameLst>
                                          <p:attrName>style.visibility</p:attrName>
                                        </p:attrNameLst>
                                      </p:cBhvr>
                                      <p:to>
                                        <p:strVal val="visible"/>
                                      </p:to>
                                    </p:set>
                                    <p:animEffect transition="in" filter="fade">
                                      <p:cBhvr>
                                        <p:cTn id="60" dur="350"/>
                                        <p:tgtEl>
                                          <p:spTgt spid="7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0"/>
                                        </p:tgtEl>
                                        <p:attrNameLst>
                                          <p:attrName>style.visibility</p:attrName>
                                        </p:attrNameLst>
                                      </p:cBhvr>
                                      <p:to>
                                        <p:strVal val="visible"/>
                                      </p:to>
                                    </p:set>
                                    <p:animEffect transition="in" filter="fade">
                                      <p:cBhvr>
                                        <p:cTn id="65" dur="35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287"/>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288"/>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289"/>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One ask becomes one rendered answer</a:t>
            </a:r>
            <a:endParaRPr lang="en-IN" sz="2200" b="1">
              <a:solidFill>
                <a:srgbClr val="FFFFFF"/>
              </a:solidFill>
              <a:latin typeface="Raleway" pitchFamily="2" charset="0"/>
            </a:endParaRPr>
          </a:p>
        </p:txBody>
      </p:sp>
      <p:sp>
        <p:nvSpPr>
          <p:cNvPr id="5" name="rd290"/>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291"/>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6  |  Radiant Digital  •  Confidential  •  All Rights Reserved  •  2026</a:t>
            </a:r>
            <a:endParaRPr lang="en-IN" sz="700">
              <a:solidFill>
                <a:srgbClr val="FFFFFF"/>
              </a:solidFill>
              <a:latin typeface="Raleway" pitchFamily="2" charset="0"/>
            </a:endParaRPr>
          </a:p>
        </p:txBody>
      </p:sp>
      <p:pic>
        <p:nvPicPr>
          <p:cNvPr id="7" name="rd29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cxnSp>
        <p:nvCxnSpPr>
          <p:cNvPr id="8" name="rd293"/>
          <p:cNvCxnSpPr/>
          <p:nvPr/>
        </p:nvCxnSpPr>
        <p:spPr>
          <a:xfrm>
            <a:off x="1188720" y="1115568"/>
            <a:ext cx="0" cy="5266944"/>
          </a:xfrm>
          <a:prstGeom prst="line">
            <a:avLst/>
          </a:prstGeom>
          <a:ln w="12700">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9" name="rd294"/>
          <p:cNvSpPr/>
          <p:nvPr/>
        </p:nvSpPr>
        <p:spPr>
          <a:xfrm>
            <a:off x="411480" y="731520"/>
            <a:ext cx="1554480" cy="384048"/>
          </a:xfrm>
          <a:prstGeom prst="roundRect">
            <a:avLst>
              <a:gd name="adj" fmla="val 15000"/>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074661"/>
                </a:solidFill>
                <a:latin typeface="Raleway" pitchFamily="2" charset="0"/>
              </a:rPr>
              <a:t>User</a:t>
            </a:r>
          </a:p>
        </p:txBody>
      </p:sp>
      <p:cxnSp>
        <p:nvCxnSpPr>
          <p:cNvPr id="10" name="rd295"/>
          <p:cNvCxnSpPr/>
          <p:nvPr/>
        </p:nvCxnSpPr>
        <p:spPr>
          <a:xfrm>
            <a:off x="2971800" y="1115568"/>
            <a:ext cx="0" cy="5266944"/>
          </a:xfrm>
          <a:prstGeom prst="line">
            <a:avLst/>
          </a:prstGeom>
          <a:ln w="12700">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11" name="rd296"/>
          <p:cNvSpPr/>
          <p:nvPr/>
        </p:nvSpPr>
        <p:spPr>
          <a:xfrm>
            <a:off x="2194560" y="731520"/>
            <a:ext cx="1554480" cy="384048"/>
          </a:xfrm>
          <a:prstGeom prst="roundRect">
            <a:avLst>
              <a:gd name="adj" fmla="val 1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React App</a:t>
            </a:r>
          </a:p>
        </p:txBody>
      </p:sp>
      <p:cxnSp>
        <p:nvCxnSpPr>
          <p:cNvPr id="12" name="rd297"/>
          <p:cNvCxnSpPr/>
          <p:nvPr/>
        </p:nvCxnSpPr>
        <p:spPr>
          <a:xfrm>
            <a:off x="4846320" y="1115568"/>
            <a:ext cx="0" cy="5266944"/>
          </a:xfrm>
          <a:prstGeom prst="line">
            <a:avLst/>
          </a:prstGeom>
          <a:ln w="12700">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13" name="rd298"/>
          <p:cNvSpPr/>
          <p:nvPr/>
        </p:nvSpPr>
        <p:spPr>
          <a:xfrm>
            <a:off x="4069080" y="731520"/>
            <a:ext cx="1554480" cy="384048"/>
          </a:xfrm>
          <a:prstGeom prst="roundRect">
            <a:avLst>
              <a:gd name="adj" fmla="val 1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Insights Factory</a:t>
            </a:r>
          </a:p>
        </p:txBody>
      </p:sp>
      <p:cxnSp>
        <p:nvCxnSpPr>
          <p:cNvPr id="14" name="rd299"/>
          <p:cNvCxnSpPr/>
          <p:nvPr/>
        </p:nvCxnSpPr>
        <p:spPr>
          <a:xfrm>
            <a:off x="6812280" y="1115568"/>
            <a:ext cx="0" cy="5266944"/>
          </a:xfrm>
          <a:prstGeom prst="line">
            <a:avLst/>
          </a:prstGeom>
          <a:ln w="12700">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15" name="rd300"/>
          <p:cNvSpPr/>
          <p:nvPr/>
        </p:nvSpPr>
        <p:spPr>
          <a:xfrm>
            <a:off x="6035040" y="731520"/>
            <a:ext cx="1554480" cy="384048"/>
          </a:xfrm>
          <a:prstGeom prst="roundRect">
            <a:avLst>
              <a:gd name="adj" fmla="val 15000"/>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Insights Server</a:t>
            </a:r>
          </a:p>
        </p:txBody>
      </p:sp>
      <p:cxnSp>
        <p:nvCxnSpPr>
          <p:cNvPr id="16" name="rd301"/>
          <p:cNvCxnSpPr/>
          <p:nvPr/>
        </p:nvCxnSpPr>
        <p:spPr>
          <a:xfrm>
            <a:off x="8778240" y="1115568"/>
            <a:ext cx="0" cy="5266944"/>
          </a:xfrm>
          <a:prstGeom prst="line">
            <a:avLst/>
          </a:prstGeom>
          <a:ln w="12700">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17" name="rd302"/>
          <p:cNvSpPr/>
          <p:nvPr/>
        </p:nvSpPr>
        <p:spPr>
          <a:xfrm>
            <a:off x="8001000" y="731520"/>
            <a:ext cx="1554480" cy="384048"/>
          </a:xfrm>
          <a:prstGeom prst="roundRect">
            <a:avLst>
              <a:gd name="adj" fmla="val 1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KAG</a:t>
            </a:r>
          </a:p>
        </p:txBody>
      </p:sp>
      <p:cxnSp>
        <p:nvCxnSpPr>
          <p:cNvPr id="18" name="rd303"/>
          <p:cNvCxnSpPr/>
          <p:nvPr/>
        </p:nvCxnSpPr>
        <p:spPr>
          <a:xfrm>
            <a:off x="10744200" y="1115568"/>
            <a:ext cx="0" cy="5266944"/>
          </a:xfrm>
          <a:prstGeom prst="line">
            <a:avLst/>
          </a:prstGeom>
          <a:ln w="12700">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19" name="rd304"/>
          <p:cNvSpPr/>
          <p:nvPr/>
        </p:nvSpPr>
        <p:spPr>
          <a:xfrm>
            <a:off x="9966960" y="731520"/>
            <a:ext cx="1554480" cy="384048"/>
          </a:xfrm>
          <a:prstGeom prst="roundRect">
            <a:avLst>
              <a:gd name="adj" fmla="val 1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Data Sources</a:t>
            </a:r>
          </a:p>
        </p:txBody>
      </p:sp>
      <p:grpSp>
        <p:nvGrpSpPr>
          <p:cNvPr id="23" name="rd308"/>
          <p:cNvGrpSpPr/>
          <p:nvPr/>
        </p:nvGrpSpPr>
        <p:grpSpPr>
          <a:xfrm>
            <a:off x="310896" y="1193292"/>
            <a:ext cx="2633472" cy="297180"/>
            <a:chOff x="310896" y="1193292"/>
            <a:chExt cx="2633472" cy="297180"/>
          </a:xfrm>
        </p:grpSpPr>
        <p:sp>
          <p:nvSpPr>
            <p:cNvPr id="20" name="rd305"/>
            <p:cNvSpPr/>
            <p:nvPr/>
          </p:nvSpPr>
          <p:spPr>
            <a:xfrm>
              <a:off x="310896" y="128930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a:t>
              </a:r>
            </a:p>
          </p:txBody>
        </p:sp>
        <p:cxnSp>
          <p:nvCxnSpPr>
            <p:cNvPr id="21" name="rd306"/>
            <p:cNvCxnSpPr/>
            <p:nvPr/>
          </p:nvCxnSpPr>
          <p:spPr>
            <a:xfrm>
              <a:off x="1216152" y="1389888"/>
              <a:ext cx="1728216" cy="0"/>
            </a:xfrm>
            <a:prstGeom prst="line">
              <a:avLst/>
            </a:pr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22" name="rd307"/>
            <p:cNvSpPr txBox="1"/>
            <p:nvPr/>
          </p:nvSpPr>
          <p:spPr>
            <a:xfrm>
              <a:off x="1234440" y="1193292"/>
              <a:ext cx="169164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Asks a question</a:t>
              </a:r>
            </a:p>
          </p:txBody>
        </p:sp>
      </p:grpSp>
      <p:grpSp>
        <p:nvGrpSpPr>
          <p:cNvPr id="27" name="rd312"/>
          <p:cNvGrpSpPr/>
          <p:nvPr/>
        </p:nvGrpSpPr>
        <p:grpSpPr>
          <a:xfrm>
            <a:off x="310896" y="1490472"/>
            <a:ext cx="4507992" cy="297180"/>
            <a:chOff x="310896" y="1490472"/>
            <a:chExt cx="4507992" cy="297180"/>
          </a:xfrm>
        </p:grpSpPr>
        <p:sp>
          <p:nvSpPr>
            <p:cNvPr id="24" name="rd309"/>
            <p:cNvSpPr/>
            <p:nvPr/>
          </p:nvSpPr>
          <p:spPr>
            <a:xfrm>
              <a:off x="310896" y="158648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2</a:t>
              </a:r>
            </a:p>
          </p:txBody>
        </p:sp>
        <p:cxnSp>
          <p:nvCxnSpPr>
            <p:cNvPr id="25" name="rd310"/>
            <p:cNvCxnSpPr/>
            <p:nvPr/>
          </p:nvCxnSpPr>
          <p:spPr>
            <a:xfrm>
              <a:off x="2999232" y="1687068"/>
              <a:ext cx="1819656" cy="0"/>
            </a:xfrm>
            <a:prstGeom prst="line">
              <a:avLst/>
            </a:pr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26" name="rd311"/>
            <p:cNvSpPr txBox="1"/>
            <p:nvPr/>
          </p:nvSpPr>
          <p:spPr>
            <a:xfrm>
              <a:off x="3017520" y="1490472"/>
              <a:ext cx="178308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Component, Variant, Ask</a:t>
              </a:r>
            </a:p>
          </p:txBody>
        </p:sp>
      </p:grpSp>
      <p:grpSp>
        <p:nvGrpSpPr>
          <p:cNvPr id="31" name="rd316"/>
          <p:cNvGrpSpPr/>
          <p:nvPr/>
        </p:nvGrpSpPr>
        <p:grpSpPr>
          <a:xfrm>
            <a:off x="310896" y="1787652"/>
            <a:ext cx="6473952" cy="297180"/>
            <a:chOff x="310896" y="1787652"/>
            <a:chExt cx="6473952" cy="297180"/>
          </a:xfrm>
        </p:grpSpPr>
        <p:sp>
          <p:nvSpPr>
            <p:cNvPr id="28" name="rd313"/>
            <p:cNvSpPr/>
            <p:nvPr/>
          </p:nvSpPr>
          <p:spPr>
            <a:xfrm>
              <a:off x="310896" y="188366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3</a:t>
              </a:r>
            </a:p>
          </p:txBody>
        </p:sp>
        <p:cxnSp>
          <p:nvCxnSpPr>
            <p:cNvPr id="29" name="rd314"/>
            <p:cNvCxnSpPr/>
            <p:nvPr/>
          </p:nvCxnSpPr>
          <p:spPr>
            <a:xfrm>
              <a:off x="4873752" y="1984248"/>
              <a:ext cx="1911096" cy="0"/>
            </a:xfrm>
            <a:prstGeom prst="line">
              <a:avLst/>
            </a:pr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30" name="rd315"/>
            <p:cNvSpPr txBox="1"/>
            <p:nvPr/>
          </p:nvSpPr>
          <p:spPr>
            <a:xfrm>
              <a:off x="4892040" y="1787652"/>
              <a:ext cx="187452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Component, Variant, Ask</a:t>
              </a:r>
            </a:p>
          </p:txBody>
        </p:sp>
      </p:grpSp>
      <p:grpSp>
        <p:nvGrpSpPr>
          <p:cNvPr id="36" name="rd321"/>
          <p:cNvGrpSpPr/>
          <p:nvPr/>
        </p:nvGrpSpPr>
        <p:grpSpPr>
          <a:xfrm>
            <a:off x="310896" y="2167128"/>
            <a:ext cx="11420856" cy="228600"/>
            <a:chOff x="310896" y="2167128"/>
            <a:chExt cx="11420856" cy="228600"/>
          </a:xfrm>
        </p:grpSpPr>
        <p:sp>
          <p:nvSpPr>
            <p:cNvPr id="32" name="rd317"/>
            <p:cNvSpPr/>
            <p:nvPr/>
          </p:nvSpPr>
          <p:spPr>
            <a:xfrm>
              <a:off x="310896" y="218084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4</a:t>
              </a:r>
            </a:p>
          </p:txBody>
        </p:sp>
        <p:sp>
          <p:nvSpPr>
            <p:cNvPr id="33" name="rd318"/>
            <p:cNvSpPr/>
            <p:nvPr/>
          </p:nvSpPr>
          <p:spPr>
            <a:xfrm>
              <a:off x="6812280" y="220827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4" name="rd319"/>
            <p:cNvSpPr txBox="1"/>
            <p:nvPr/>
          </p:nvSpPr>
          <p:spPr>
            <a:xfrm>
              <a:off x="7159752" y="218084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Cache lookup</a:t>
              </a:r>
            </a:p>
          </p:txBody>
        </p:sp>
        <p:sp>
          <p:nvSpPr>
            <p:cNvPr id="35" name="rd320"/>
            <p:cNvSpPr/>
            <p:nvPr/>
          </p:nvSpPr>
          <p:spPr>
            <a:xfrm>
              <a:off x="8942832" y="2167128"/>
              <a:ext cx="2788920" cy="228600"/>
            </a:xfrm>
            <a:prstGeom prst="roundRect">
              <a:avLst>
                <a:gd name="adj" fmla="val 20000"/>
              </a:avLst>
            </a:prstGeom>
            <a:solidFill>
              <a:srgbClr val="FBF4D6"/>
            </a:solidFill>
            <a:ln w="9525">
              <a:solidFill>
                <a:srgbClr val="EFDB8B"/>
              </a:solidFill>
            </a:ln>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ctr"/>
            <a:lstStyle/>
            <a:p>
              <a:r>
                <a:rPr lang="en-US" sz="800" b="1">
                  <a:solidFill>
                    <a:srgbClr val="074661"/>
                  </a:solidFill>
                  <a:latin typeface="Raleway" pitchFamily="2" charset="0"/>
                </a:rPr>
                <a:t>Cache hit: return the stored result</a:t>
              </a:r>
              <a:endParaRPr lang="en-IN" sz="800" b="1">
                <a:solidFill>
                  <a:srgbClr val="074661"/>
                </a:solidFill>
                <a:latin typeface="Raleway" pitchFamily="2" charset="0"/>
              </a:endParaRPr>
            </a:p>
          </p:txBody>
        </p:sp>
      </p:grpSp>
      <p:grpSp>
        <p:nvGrpSpPr>
          <p:cNvPr id="40" name="rd325"/>
          <p:cNvGrpSpPr/>
          <p:nvPr/>
        </p:nvGrpSpPr>
        <p:grpSpPr>
          <a:xfrm>
            <a:off x="310896" y="2478024"/>
            <a:ext cx="8403336" cy="201168"/>
            <a:chOff x="310896" y="2478024"/>
            <a:chExt cx="8403336" cy="201168"/>
          </a:xfrm>
        </p:grpSpPr>
        <p:sp>
          <p:nvSpPr>
            <p:cNvPr id="37" name="rd322"/>
            <p:cNvSpPr/>
            <p:nvPr/>
          </p:nvSpPr>
          <p:spPr>
            <a:xfrm>
              <a:off x="310896" y="247802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5</a:t>
              </a:r>
            </a:p>
          </p:txBody>
        </p:sp>
        <p:sp>
          <p:nvSpPr>
            <p:cNvPr id="38" name="rd323"/>
            <p:cNvSpPr/>
            <p:nvPr/>
          </p:nvSpPr>
          <p:spPr>
            <a:xfrm>
              <a:off x="6812280" y="250545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9" name="rd324"/>
            <p:cNvSpPr txBox="1"/>
            <p:nvPr/>
          </p:nvSpPr>
          <p:spPr>
            <a:xfrm>
              <a:off x="7159752" y="247802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Intent classification</a:t>
              </a:r>
            </a:p>
          </p:txBody>
        </p:sp>
      </p:grpSp>
      <p:grpSp>
        <p:nvGrpSpPr>
          <p:cNvPr id="45" name="rd330"/>
          <p:cNvGrpSpPr/>
          <p:nvPr/>
        </p:nvGrpSpPr>
        <p:grpSpPr>
          <a:xfrm>
            <a:off x="310896" y="2761488"/>
            <a:ext cx="11420856" cy="228600"/>
            <a:chOff x="310896" y="2761488"/>
            <a:chExt cx="11420856" cy="228600"/>
          </a:xfrm>
        </p:grpSpPr>
        <p:sp>
          <p:nvSpPr>
            <p:cNvPr id="41" name="rd326"/>
            <p:cNvSpPr/>
            <p:nvPr/>
          </p:nvSpPr>
          <p:spPr>
            <a:xfrm>
              <a:off x="310896" y="277520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6</a:t>
              </a:r>
            </a:p>
          </p:txBody>
        </p:sp>
        <p:sp>
          <p:nvSpPr>
            <p:cNvPr id="42" name="rd327"/>
            <p:cNvSpPr/>
            <p:nvPr/>
          </p:nvSpPr>
          <p:spPr>
            <a:xfrm>
              <a:off x="6812280" y="280263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3" name="rd328"/>
            <p:cNvSpPr txBox="1"/>
            <p:nvPr/>
          </p:nvSpPr>
          <p:spPr>
            <a:xfrm>
              <a:off x="7159752" y="277520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Clarification gate</a:t>
              </a:r>
            </a:p>
          </p:txBody>
        </p:sp>
        <p:sp>
          <p:nvSpPr>
            <p:cNvPr id="44" name="rd329"/>
            <p:cNvSpPr/>
            <p:nvPr/>
          </p:nvSpPr>
          <p:spPr>
            <a:xfrm>
              <a:off x="8942832" y="2761488"/>
              <a:ext cx="2788920" cy="228600"/>
            </a:xfrm>
            <a:prstGeom prst="roundRect">
              <a:avLst>
                <a:gd name="adj" fmla="val 20000"/>
              </a:avLst>
            </a:prstGeom>
            <a:solidFill>
              <a:srgbClr val="FBF4D6"/>
            </a:solidFill>
            <a:ln w="9525">
              <a:solidFill>
                <a:srgbClr val="EFDB8B"/>
              </a:solidFill>
            </a:ln>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ctr"/>
            <a:lstStyle/>
            <a:p>
              <a:r>
                <a:rPr lang="en-US" sz="800" b="1">
                  <a:solidFill>
                    <a:srgbClr val="074661"/>
                  </a:solidFill>
                  <a:latin typeface="Raleway" pitchFamily="2" charset="0"/>
                </a:rPr>
                <a:t>Unclear ask: return a clarifying question</a:t>
              </a:r>
              <a:endParaRPr lang="en-IN" sz="800" b="1">
                <a:solidFill>
                  <a:srgbClr val="074661"/>
                </a:solidFill>
                <a:latin typeface="Raleway" pitchFamily="2" charset="0"/>
              </a:endParaRPr>
            </a:p>
          </p:txBody>
        </p:sp>
      </p:grpSp>
      <p:grpSp>
        <p:nvGrpSpPr>
          <p:cNvPr id="49" name="rd334"/>
          <p:cNvGrpSpPr/>
          <p:nvPr/>
        </p:nvGrpSpPr>
        <p:grpSpPr>
          <a:xfrm>
            <a:off x="310896" y="2976372"/>
            <a:ext cx="8439912" cy="297180"/>
            <a:chOff x="310896" y="2976372"/>
            <a:chExt cx="8439912" cy="297180"/>
          </a:xfrm>
        </p:grpSpPr>
        <p:sp>
          <p:nvSpPr>
            <p:cNvPr id="46" name="rd331"/>
            <p:cNvSpPr/>
            <p:nvPr/>
          </p:nvSpPr>
          <p:spPr>
            <a:xfrm>
              <a:off x="310896" y="307238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7</a:t>
              </a:r>
            </a:p>
          </p:txBody>
        </p:sp>
        <p:cxnSp>
          <p:nvCxnSpPr>
            <p:cNvPr id="47" name="rd332"/>
            <p:cNvCxnSpPr/>
            <p:nvPr/>
          </p:nvCxnSpPr>
          <p:spPr>
            <a:xfrm>
              <a:off x="6839712" y="3172968"/>
              <a:ext cx="1911096" cy="0"/>
            </a:xfrm>
            <a:prstGeom prst="line">
              <a:avLst/>
            </a:pr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48" name="rd333"/>
            <p:cNvSpPr txBox="1"/>
            <p:nvPr/>
          </p:nvSpPr>
          <p:spPr>
            <a:xfrm>
              <a:off x="6858000" y="2976372"/>
              <a:ext cx="187452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Context request</a:t>
              </a:r>
            </a:p>
          </p:txBody>
        </p:sp>
      </p:grpSp>
      <p:grpSp>
        <p:nvGrpSpPr>
          <p:cNvPr id="53" name="rd338"/>
          <p:cNvGrpSpPr/>
          <p:nvPr/>
        </p:nvGrpSpPr>
        <p:grpSpPr>
          <a:xfrm>
            <a:off x="310896" y="3273552"/>
            <a:ext cx="8439912" cy="297180"/>
            <a:chOff x="310896" y="3273552"/>
            <a:chExt cx="8439912" cy="297180"/>
          </a:xfrm>
        </p:grpSpPr>
        <p:sp>
          <p:nvSpPr>
            <p:cNvPr id="50" name="rd335"/>
            <p:cNvSpPr/>
            <p:nvPr/>
          </p:nvSpPr>
          <p:spPr>
            <a:xfrm>
              <a:off x="310896" y="3369564"/>
              <a:ext cx="201168" cy="20116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8</a:t>
              </a:r>
            </a:p>
          </p:txBody>
        </p:sp>
        <p:cxnSp>
          <p:nvCxnSpPr>
            <p:cNvPr id="51" name="rd336"/>
            <p:cNvCxnSpPr/>
            <p:nvPr/>
          </p:nvCxnSpPr>
          <p:spPr>
            <a:xfrm flipH="1">
              <a:off x="6839712" y="3470148"/>
              <a:ext cx="1911096" cy="0"/>
            </a:xfrm>
            <a:prstGeom prst="line">
              <a:avLst/>
            </a:prstGeom>
            <a:ln w="15875">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52" name="rd337"/>
            <p:cNvSpPr txBox="1"/>
            <p:nvPr/>
          </p:nvSpPr>
          <p:spPr>
            <a:xfrm>
              <a:off x="6858000" y="3273552"/>
              <a:ext cx="187452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Ontology + metadata</a:t>
              </a:r>
            </a:p>
          </p:txBody>
        </p:sp>
      </p:grpSp>
      <p:grpSp>
        <p:nvGrpSpPr>
          <p:cNvPr id="57" name="rd342"/>
          <p:cNvGrpSpPr/>
          <p:nvPr/>
        </p:nvGrpSpPr>
        <p:grpSpPr>
          <a:xfrm>
            <a:off x="310896" y="3570732"/>
            <a:ext cx="10405872" cy="297180"/>
            <a:chOff x="310896" y="3570732"/>
            <a:chExt cx="10405872" cy="297180"/>
          </a:xfrm>
        </p:grpSpPr>
        <p:sp>
          <p:nvSpPr>
            <p:cNvPr id="54" name="rd339"/>
            <p:cNvSpPr/>
            <p:nvPr/>
          </p:nvSpPr>
          <p:spPr>
            <a:xfrm>
              <a:off x="310896" y="366674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9</a:t>
              </a:r>
            </a:p>
          </p:txBody>
        </p:sp>
        <p:cxnSp>
          <p:nvCxnSpPr>
            <p:cNvPr id="55" name="rd340"/>
            <p:cNvCxnSpPr/>
            <p:nvPr/>
          </p:nvCxnSpPr>
          <p:spPr>
            <a:xfrm>
              <a:off x="6839712" y="3767328"/>
              <a:ext cx="3877056" cy="0"/>
            </a:xfrm>
            <a:prstGeom prst="line">
              <a:avLst/>
            </a:pr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cxnSp>
        <p:sp>
          <p:nvSpPr>
            <p:cNvPr id="56" name="rd341"/>
            <p:cNvSpPr txBox="1"/>
            <p:nvPr/>
          </p:nvSpPr>
          <p:spPr>
            <a:xfrm>
              <a:off x="8823960" y="3570732"/>
              <a:ext cx="187452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Cypher query</a:t>
              </a:r>
            </a:p>
          </p:txBody>
        </p:sp>
      </p:grpSp>
      <p:grpSp>
        <p:nvGrpSpPr>
          <p:cNvPr id="61" name="rd346"/>
          <p:cNvGrpSpPr/>
          <p:nvPr/>
        </p:nvGrpSpPr>
        <p:grpSpPr>
          <a:xfrm>
            <a:off x="310896" y="3867912"/>
            <a:ext cx="10405872" cy="297180"/>
            <a:chOff x="310896" y="3867912"/>
            <a:chExt cx="10405872" cy="297180"/>
          </a:xfrm>
        </p:grpSpPr>
        <p:sp>
          <p:nvSpPr>
            <p:cNvPr id="58" name="rd343"/>
            <p:cNvSpPr/>
            <p:nvPr/>
          </p:nvSpPr>
          <p:spPr>
            <a:xfrm>
              <a:off x="310896" y="3963924"/>
              <a:ext cx="201168" cy="20116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10</a:t>
              </a:r>
            </a:p>
          </p:txBody>
        </p:sp>
        <p:cxnSp>
          <p:nvCxnSpPr>
            <p:cNvPr id="59" name="rd344"/>
            <p:cNvCxnSpPr/>
            <p:nvPr/>
          </p:nvCxnSpPr>
          <p:spPr>
            <a:xfrm flipH="1">
              <a:off x="6839712" y="4064508"/>
              <a:ext cx="3877056" cy="0"/>
            </a:xfrm>
            <a:prstGeom prst="line">
              <a:avLst/>
            </a:prstGeom>
            <a:ln w="15875">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60" name="rd345"/>
            <p:cNvSpPr txBox="1"/>
            <p:nvPr/>
          </p:nvSpPr>
          <p:spPr>
            <a:xfrm>
              <a:off x="8823960" y="3867912"/>
              <a:ext cx="187452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Raw data</a:t>
              </a:r>
            </a:p>
          </p:txBody>
        </p:sp>
      </p:grpSp>
      <p:grpSp>
        <p:nvGrpSpPr>
          <p:cNvPr id="65" name="rd350"/>
          <p:cNvGrpSpPr/>
          <p:nvPr/>
        </p:nvGrpSpPr>
        <p:grpSpPr>
          <a:xfrm>
            <a:off x="310896" y="4261104"/>
            <a:ext cx="8403336" cy="201168"/>
            <a:chOff x="310896" y="4261104"/>
            <a:chExt cx="8403336" cy="201168"/>
          </a:xfrm>
        </p:grpSpPr>
        <p:sp>
          <p:nvSpPr>
            <p:cNvPr id="62" name="rd347"/>
            <p:cNvSpPr/>
            <p:nvPr/>
          </p:nvSpPr>
          <p:spPr>
            <a:xfrm>
              <a:off x="310896" y="426110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11</a:t>
              </a:r>
            </a:p>
          </p:txBody>
        </p:sp>
        <p:sp>
          <p:nvSpPr>
            <p:cNvPr id="63" name="rd348"/>
            <p:cNvSpPr/>
            <p:nvPr/>
          </p:nvSpPr>
          <p:spPr>
            <a:xfrm>
              <a:off x="6812280" y="428853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4" name="rd349"/>
            <p:cNvSpPr txBox="1"/>
            <p:nvPr/>
          </p:nvSpPr>
          <p:spPr>
            <a:xfrm>
              <a:off x="7159752" y="426110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Data intelligence</a:t>
              </a:r>
            </a:p>
          </p:txBody>
        </p:sp>
      </p:grpSp>
      <p:grpSp>
        <p:nvGrpSpPr>
          <p:cNvPr id="69" name="rd354"/>
          <p:cNvGrpSpPr/>
          <p:nvPr/>
        </p:nvGrpSpPr>
        <p:grpSpPr>
          <a:xfrm>
            <a:off x="310896" y="4558284"/>
            <a:ext cx="8403336" cy="201168"/>
            <a:chOff x="310896" y="4558284"/>
            <a:chExt cx="8403336" cy="201168"/>
          </a:xfrm>
        </p:grpSpPr>
        <p:sp>
          <p:nvSpPr>
            <p:cNvPr id="66" name="rd351"/>
            <p:cNvSpPr/>
            <p:nvPr/>
          </p:nvSpPr>
          <p:spPr>
            <a:xfrm>
              <a:off x="310896" y="455828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12</a:t>
              </a:r>
            </a:p>
          </p:txBody>
        </p:sp>
        <p:sp>
          <p:nvSpPr>
            <p:cNvPr id="67" name="rd352"/>
            <p:cNvSpPr/>
            <p:nvPr/>
          </p:nvSpPr>
          <p:spPr>
            <a:xfrm>
              <a:off x="6812280" y="458571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8" name="rd353"/>
            <p:cNvSpPr txBox="1"/>
            <p:nvPr/>
          </p:nvSpPr>
          <p:spPr>
            <a:xfrm>
              <a:off x="7159752" y="455828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Report generation</a:t>
              </a:r>
            </a:p>
          </p:txBody>
        </p:sp>
      </p:grpSp>
      <p:grpSp>
        <p:nvGrpSpPr>
          <p:cNvPr id="73" name="rd358"/>
          <p:cNvGrpSpPr/>
          <p:nvPr/>
        </p:nvGrpSpPr>
        <p:grpSpPr>
          <a:xfrm>
            <a:off x="310896" y="4855464"/>
            <a:ext cx="8403336" cy="201168"/>
            <a:chOff x="310896" y="4855464"/>
            <a:chExt cx="8403336" cy="201168"/>
          </a:xfrm>
        </p:grpSpPr>
        <p:sp>
          <p:nvSpPr>
            <p:cNvPr id="70" name="rd355"/>
            <p:cNvSpPr/>
            <p:nvPr/>
          </p:nvSpPr>
          <p:spPr>
            <a:xfrm>
              <a:off x="310896" y="485546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13</a:t>
              </a:r>
            </a:p>
          </p:txBody>
        </p:sp>
        <p:sp>
          <p:nvSpPr>
            <p:cNvPr id="71" name="rd356"/>
            <p:cNvSpPr/>
            <p:nvPr/>
          </p:nvSpPr>
          <p:spPr>
            <a:xfrm>
              <a:off x="6812280" y="488289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2" name="rd357"/>
            <p:cNvSpPr txBox="1"/>
            <p:nvPr/>
          </p:nvSpPr>
          <p:spPr>
            <a:xfrm>
              <a:off x="7159752" y="485546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Hydrate + casting</a:t>
              </a:r>
            </a:p>
          </p:txBody>
        </p:sp>
      </p:grpSp>
      <p:grpSp>
        <p:nvGrpSpPr>
          <p:cNvPr id="77" name="rd362"/>
          <p:cNvGrpSpPr/>
          <p:nvPr/>
        </p:nvGrpSpPr>
        <p:grpSpPr>
          <a:xfrm>
            <a:off x="310896" y="5056632"/>
            <a:ext cx="6473952" cy="297180"/>
            <a:chOff x="310896" y="5056632"/>
            <a:chExt cx="6473952" cy="297180"/>
          </a:xfrm>
        </p:grpSpPr>
        <p:sp>
          <p:nvSpPr>
            <p:cNvPr id="74" name="rd359"/>
            <p:cNvSpPr/>
            <p:nvPr/>
          </p:nvSpPr>
          <p:spPr>
            <a:xfrm>
              <a:off x="310896" y="5152644"/>
              <a:ext cx="201168" cy="20116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14</a:t>
              </a:r>
            </a:p>
          </p:txBody>
        </p:sp>
        <p:cxnSp>
          <p:nvCxnSpPr>
            <p:cNvPr id="75" name="rd360"/>
            <p:cNvCxnSpPr/>
            <p:nvPr/>
          </p:nvCxnSpPr>
          <p:spPr>
            <a:xfrm flipH="1">
              <a:off x="4873752" y="5253228"/>
              <a:ext cx="1911096" cy="0"/>
            </a:xfrm>
            <a:prstGeom prst="line">
              <a:avLst/>
            </a:prstGeom>
            <a:ln w="15875">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76" name="rd361"/>
            <p:cNvSpPr txBox="1"/>
            <p:nvPr/>
          </p:nvSpPr>
          <p:spPr>
            <a:xfrm>
              <a:off x="4892040" y="5056632"/>
              <a:ext cx="187452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Result set data (streamed)</a:t>
              </a:r>
            </a:p>
          </p:txBody>
        </p:sp>
      </p:grpSp>
      <p:grpSp>
        <p:nvGrpSpPr>
          <p:cNvPr id="81" name="rd366"/>
          <p:cNvGrpSpPr/>
          <p:nvPr/>
        </p:nvGrpSpPr>
        <p:grpSpPr>
          <a:xfrm>
            <a:off x="310896" y="5449824"/>
            <a:ext cx="6437376" cy="201168"/>
            <a:chOff x="310896" y="5449824"/>
            <a:chExt cx="6437376" cy="201168"/>
          </a:xfrm>
        </p:grpSpPr>
        <p:sp>
          <p:nvSpPr>
            <p:cNvPr id="78" name="rd363"/>
            <p:cNvSpPr/>
            <p:nvPr/>
          </p:nvSpPr>
          <p:spPr>
            <a:xfrm>
              <a:off x="310896" y="5449824"/>
              <a:ext cx="201168" cy="201168"/>
            </a:xfrm>
            <a:prstGeom prst="ellipse">
              <a:avLst/>
            </a:prstGeom>
            <a:solidFill>
              <a:srgbClr val="07466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15</a:t>
              </a:r>
            </a:p>
          </p:txBody>
        </p:sp>
        <p:sp>
          <p:nvSpPr>
            <p:cNvPr id="79" name="rd364"/>
            <p:cNvSpPr/>
            <p:nvPr/>
          </p:nvSpPr>
          <p:spPr>
            <a:xfrm>
              <a:off x="4846320" y="5477256"/>
              <a:ext cx="274321" cy="146305"/>
            </a:xfrm>
            <a:custGeom>
              <a:avLst/>
              <a:gdLst/>
              <a:ahLst/>
              <a:cxnLst/>
              <a:rect l="0" t="0" r="0" b="0"/>
              <a:pathLst>
                <a:path w="274321" h="146305">
                  <a:moveTo>
                    <a:pt x="0" y="0"/>
                  </a:moveTo>
                  <a:lnTo>
                    <a:pt x="274320" y="0"/>
                  </a:lnTo>
                  <a:lnTo>
                    <a:pt x="274320" y="146304"/>
                  </a:lnTo>
                  <a:lnTo>
                    <a:pt x="36576" y="146304"/>
                  </a:lnTo>
                </a:path>
              </a:pathLst>
            </a:custGeom>
            <a:ln w="15875">
              <a:solidFill>
                <a:srgbClr val="074661"/>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0" name="rd365"/>
            <p:cNvSpPr txBox="1"/>
            <p:nvPr/>
          </p:nvSpPr>
          <p:spPr>
            <a:xfrm>
              <a:off x="5193792" y="5449824"/>
              <a:ext cx="1554480" cy="201168"/>
            </a:xfrm>
            <a:prstGeom prst="rect">
              <a:avLst/>
            </a:prstGeom>
            <a:noFill/>
          </p:spPr>
          <p:txBody>
            <a:bodyPr vert="horz" wrap="square" lIns="0" tIns="0" rIns="0" bIns="0" rtlCol="0" anchor="ctr">
              <a:noAutofit/>
            </a:bodyPr>
            <a:lstStyle/>
            <a:p>
              <a:r>
                <a:rPr lang="en-IN" sz="850" b="1">
                  <a:solidFill>
                    <a:srgbClr val="074661"/>
                  </a:solidFill>
                  <a:latin typeface="Raleway" pitchFamily="2" charset="0"/>
                </a:rPr>
                <a:t>Transform utility</a:t>
              </a:r>
            </a:p>
          </p:txBody>
        </p:sp>
      </p:grpSp>
      <p:grpSp>
        <p:nvGrpSpPr>
          <p:cNvPr id="85" name="rd370"/>
          <p:cNvGrpSpPr/>
          <p:nvPr/>
        </p:nvGrpSpPr>
        <p:grpSpPr>
          <a:xfrm>
            <a:off x="310896" y="5650992"/>
            <a:ext cx="4507992" cy="297180"/>
            <a:chOff x="310896" y="5650992"/>
            <a:chExt cx="4507992" cy="297180"/>
          </a:xfrm>
        </p:grpSpPr>
        <p:sp>
          <p:nvSpPr>
            <p:cNvPr id="82" name="rd367"/>
            <p:cNvSpPr/>
            <p:nvPr/>
          </p:nvSpPr>
          <p:spPr>
            <a:xfrm>
              <a:off x="310896" y="5747004"/>
              <a:ext cx="201168" cy="20116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16</a:t>
              </a:r>
            </a:p>
          </p:txBody>
        </p:sp>
        <p:cxnSp>
          <p:nvCxnSpPr>
            <p:cNvPr id="83" name="rd368"/>
            <p:cNvCxnSpPr/>
            <p:nvPr/>
          </p:nvCxnSpPr>
          <p:spPr>
            <a:xfrm flipH="1">
              <a:off x="2999232" y="5847588"/>
              <a:ext cx="1819656" cy="0"/>
            </a:xfrm>
            <a:prstGeom prst="line">
              <a:avLst/>
            </a:prstGeom>
            <a:ln w="15875">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84" name="rd369"/>
            <p:cNvSpPr txBox="1"/>
            <p:nvPr/>
          </p:nvSpPr>
          <p:spPr>
            <a:xfrm>
              <a:off x="3017520" y="5650992"/>
              <a:ext cx="178308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Response JSON</a:t>
              </a:r>
            </a:p>
          </p:txBody>
        </p:sp>
      </p:grpSp>
      <p:grpSp>
        <p:nvGrpSpPr>
          <p:cNvPr id="89" name="rd374"/>
          <p:cNvGrpSpPr/>
          <p:nvPr/>
        </p:nvGrpSpPr>
        <p:grpSpPr>
          <a:xfrm>
            <a:off x="310896" y="5948172"/>
            <a:ext cx="2633472" cy="297180"/>
            <a:chOff x="310896" y="5948172"/>
            <a:chExt cx="2633472" cy="297180"/>
          </a:xfrm>
        </p:grpSpPr>
        <p:sp>
          <p:nvSpPr>
            <p:cNvPr id="86" name="rd371"/>
            <p:cNvSpPr/>
            <p:nvPr/>
          </p:nvSpPr>
          <p:spPr>
            <a:xfrm>
              <a:off x="310896" y="6044184"/>
              <a:ext cx="201168" cy="20116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FFFFFF"/>
                  </a:solidFill>
                  <a:latin typeface="Raleway" pitchFamily="2" charset="0"/>
                </a:rPr>
                <a:t>17</a:t>
              </a:r>
            </a:p>
          </p:txBody>
        </p:sp>
        <p:cxnSp>
          <p:nvCxnSpPr>
            <p:cNvPr id="87" name="rd372"/>
            <p:cNvCxnSpPr/>
            <p:nvPr/>
          </p:nvCxnSpPr>
          <p:spPr>
            <a:xfrm flipH="1">
              <a:off x="1216152" y="6144768"/>
              <a:ext cx="1728216" cy="0"/>
            </a:xfrm>
            <a:prstGeom prst="line">
              <a:avLst/>
            </a:prstGeom>
            <a:ln w="15875">
              <a:solidFill>
                <a:srgbClr val="0596AE"/>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88" name="rd373"/>
            <p:cNvSpPr txBox="1"/>
            <p:nvPr/>
          </p:nvSpPr>
          <p:spPr>
            <a:xfrm>
              <a:off x="1234440" y="5948172"/>
              <a:ext cx="1691640" cy="173736"/>
            </a:xfrm>
            <a:prstGeom prst="rect">
              <a:avLst/>
            </a:prstGeom>
            <a:noFill/>
          </p:spPr>
          <p:txBody>
            <a:bodyPr vert="horz" wrap="square" lIns="0" tIns="0" rIns="0" bIns="0" rtlCol="0" anchor="b">
              <a:noAutofit/>
            </a:bodyPr>
            <a:lstStyle/>
            <a:p>
              <a:pPr algn="ctr"/>
              <a:r>
                <a:rPr lang="en-IN" sz="800">
                  <a:solidFill>
                    <a:srgbClr val="231F20"/>
                  </a:solidFill>
                  <a:latin typeface="Raleway" pitchFamily="2" charset="0"/>
                </a:rPr>
                <a:t>Rendered GenUI answer</a:t>
              </a:r>
            </a:p>
          </p:txBody>
        </p:sp>
      </p:grpSp>
    </p:spTree>
    <p:extLst>
      <p:ext uri="{BB962C8B-B14F-4D97-AF65-F5344CB8AC3E}">
        <p14:creationId xmlns:p14="http://schemas.microsoft.com/office/powerpoint/2010/main" val="72063170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35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35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35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left)">
                                      <p:cBhvr>
                                        <p:cTn id="37" dur="400"/>
                                        <p:tgtEl>
                                          <p:spTgt spid="4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wipe(right)">
                                      <p:cBhvr>
                                        <p:cTn id="42" dur="400"/>
                                        <p:tgtEl>
                                          <p:spTgt spid="5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left)">
                                      <p:cBhvr>
                                        <p:cTn id="47" dur="400"/>
                                        <p:tgtEl>
                                          <p:spTgt spid="5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wipe(right)">
                                      <p:cBhvr>
                                        <p:cTn id="52" dur="400"/>
                                        <p:tgtEl>
                                          <p:spTgt spid="6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350"/>
                                        <p:tgtEl>
                                          <p:spTgt spid="6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9"/>
                                        </p:tgtEl>
                                        <p:attrNameLst>
                                          <p:attrName>style.visibility</p:attrName>
                                        </p:attrNameLst>
                                      </p:cBhvr>
                                      <p:to>
                                        <p:strVal val="visible"/>
                                      </p:to>
                                    </p:set>
                                    <p:animEffect transition="in" filter="fade">
                                      <p:cBhvr>
                                        <p:cTn id="62" dur="350"/>
                                        <p:tgtEl>
                                          <p:spTgt spid="6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fade">
                                      <p:cBhvr>
                                        <p:cTn id="67" dur="350"/>
                                        <p:tgtEl>
                                          <p:spTgt spid="7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77"/>
                                        </p:tgtEl>
                                        <p:attrNameLst>
                                          <p:attrName>style.visibility</p:attrName>
                                        </p:attrNameLst>
                                      </p:cBhvr>
                                      <p:to>
                                        <p:strVal val="visible"/>
                                      </p:to>
                                    </p:set>
                                    <p:animEffect transition="in" filter="wipe(right)">
                                      <p:cBhvr>
                                        <p:cTn id="72" dur="400"/>
                                        <p:tgtEl>
                                          <p:spTgt spid="7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81"/>
                                        </p:tgtEl>
                                        <p:attrNameLst>
                                          <p:attrName>style.visibility</p:attrName>
                                        </p:attrNameLst>
                                      </p:cBhvr>
                                      <p:to>
                                        <p:strVal val="visible"/>
                                      </p:to>
                                    </p:set>
                                    <p:animEffect transition="in" filter="fade">
                                      <p:cBhvr>
                                        <p:cTn id="77" dur="350"/>
                                        <p:tgtEl>
                                          <p:spTgt spid="8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wipe(right)">
                                      <p:cBhvr>
                                        <p:cTn id="82" dur="400"/>
                                        <p:tgtEl>
                                          <p:spTgt spid="8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89"/>
                                        </p:tgtEl>
                                        <p:attrNameLst>
                                          <p:attrName>style.visibility</p:attrName>
                                        </p:attrNameLst>
                                      </p:cBhvr>
                                      <p:to>
                                        <p:strVal val="visible"/>
                                      </p:to>
                                    </p:set>
                                    <p:animEffect transition="in" filter="wipe(right)">
                                      <p:cBhvr>
                                        <p:cTn id="87" dur="4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375"/>
          <p:cNvSpPr/>
          <p:nvPr/>
        </p:nvSpPr>
        <p:spPr>
          <a:xfrm>
            <a:off x="0" y="0"/>
            <a:ext cx="12191695" cy="685800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376"/>
          <p:cNvSpPr txBox="1"/>
          <p:nvPr/>
        </p:nvSpPr>
        <p:spPr>
          <a:xfrm>
            <a:off x="457200" y="365760"/>
            <a:ext cx="2286000" cy="914400"/>
          </a:xfrm>
          <a:prstGeom prst="rect">
            <a:avLst/>
          </a:prstGeom>
          <a:noFill/>
        </p:spPr>
        <p:txBody>
          <a:bodyPr vert="horz" wrap="square" lIns="0" tIns="0" rIns="0" bIns="0" rtlCol="0" anchor="t">
            <a:noAutofit/>
          </a:bodyPr>
          <a:lstStyle/>
          <a:p>
            <a:r>
              <a:rPr lang="en-IN" sz="5200" b="1">
                <a:solidFill>
                  <a:srgbClr val="0596AE"/>
                </a:solidFill>
                <a:latin typeface="Raleway" pitchFamily="2" charset="0"/>
              </a:rPr>
              <a:t>05</a:t>
            </a:r>
          </a:p>
        </p:txBody>
      </p:sp>
      <p:sp>
        <p:nvSpPr>
          <p:cNvPr id="4" name="rd377"/>
          <p:cNvSpPr txBox="1"/>
          <p:nvPr/>
        </p:nvSpPr>
        <p:spPr>
          <a:xfrm>
            <a:off x="457200" y="2377440"/>
            <a:ext cx="10972800" cy="914400"/>
          </a:xfrm>
          <a:prstGeom prst="rect">
            <a:avLst/>
          </a:prstGeom>
          <a:noFill/>
        </p:spPr>
        <p:txBody>
          <a:bodyPr vert="horz" wrap="square" lIns="0" tIns="0" rIns="0" bIns="0" rtlCol="0" anchor="ctr">
            <a:noAutofit/>
          </a:bodyPr>
          <a:lstStyle/>
          <a:p>
            <a:r>
              <a:rPr lang="en-IN" sz="4000" b="1">
                <a:solidFill>
                  <a:srgbClr val="FFFFFF"/>
                </a:solidFill>
                <a:latin typeface="Raleway" pitchFamily="2" charset="0"/>
              </a:rPr>
              <a:t>Component architecture</a:t>
            </a:r>
          </a:p>
        </p:txBody>
      </p:sp>
      <p:sp>
        <p:nvSpPr>
          <p:cNvPr id="5" name="rd378"/>
          <p:cNvSpPr txBox="1"/>
          <p:nvPr/>
        </p:nvSpPr>
        <p:spPr>
          <a:xfrm>
            <a:off x="457200" y="3291840"/>
            <a:ext cx="10972800" cy="457200"/>
          </a:xfrm>
          <a:prstGeom prst="rect">
            <a:avLst/>
          </a:prstGeom>
          <a:noFill/>
        </p:spPr>
        <p:txBody>
          <a:bodyPr vert="horz" wrap="square" lIns="0" tIns="0" rIns="0" bIns="0" rtlCol="0" anchor="t">
            <a:noAutofit/>
          </a:bodyPr>
          <a:lstStyle/>
          <a:p>
            <a:r>
              <a:rPr lang="en-US" sz="1600">
                <a:solidFill>
                  <a:srgbClr val="93C3CD"/>
                </a:solidFill>
                <a:latin typeface="Raleway" pitchFamily="2" charset="0"/>
              </a:rPr>
              <a:t>Inputs, internal stages, outputs and interfaces for each component</a:t>
            </a:r>
            <a:endParaRPr lang="en-IN" sz="1600">
              <a:solidFill>
                <a:srgbClr val="93C3CD"/>
              </a:solidFill>
              <a:latin typeface="Raleway" pitchFamily="2" charset="0"/>
            </a:endParaRPr>
          </a:p>
        </p:txBody>
      </p:sp>
      <p:sp>
        <p:nvSpPr>
          <p:cNvPr id="6" name="rd379"/>
          <p:cNvSpPr/>
          <p:nvPr/>
        </p:nvSpPr>
        <p:spPr>
          <a:xfrm>
            <a:off x="457200" y="4754880"/>
            <a:ext cx="1517904"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Experience Factory</a:t>
            </a:r>
          </a:p>
        </p:txBody>
      </p:sp>
      <p:sp>
        <p:nvSpPr>
          <p:cNvPr id="7" name="rd380"/>
          <p:cNvSpPr txBox="1"/>
          <p:nvPr/>
        </p:nvSpPr>
        <p:spPr>
          <a:xfrm>
            <a:off x="457200"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8</a:t>
            </a:r>
          </a:p>
        </p:txBody>
      </p:sp>
      <p:sp>
        <p:nvSpPr>
          <p:cNvPr id="8" name="rd381"/>
          <p:cNvSpPr/>
          <p:nvPr/>
        </p:nvSpPr>
        <p:spPr>
          <a:xfrm>
            <a:off x="2084832" y="4754880"/>
            <a:ext cx="1517904"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Data Factory</a:t>
            </a:r>
          </a:p>
        </p:txBody>
      </p:sp>
      <p:sp>
        <p:nvSpPr>
          <p:cNvPr id="9" name="rd382"/>
          <p:cNvSpPr txBox="1"/>
          <p:nvPr/>
        </p:nvSpPr>
        <p:spPr>
          <a:xfrm>
            <a:off x="2084832"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9</a:t>
            </a:r>
          </a:p>
        </p:txBody>
      </p:sp>
      <p:sp>
        <p:nvSpPr>
          <p:cNvPr id="10" name="rd383"/>
          <p:cNvSpPr/>
          <p:nvPr/>
        </p:nvSpPr>
        <p:spPr>
          <a:xfrm>
            <a:off x="3712464" y="4754880"/>
            <a:ext cx="1517904"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KAG</a:t>
            </a:r>
          </a:p>
        </p:txBody>
      </p:sp>
      <p:sp>
        <p:nvSpPr>
          <p:cNvPr id="11" name="rd384"/>
          <p:cNvSpPr txBox="1"/>
          <p:nvPr/>
        </p:nvSpPr>
        <p:spPr>
          <a:xfrm>
            <a:off x="3712464"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10</a:t>
            </a:r>
          </a:p>
        </p:txBody>
      </p:sp>
      <p:sp>
        <p:nvSpPr>
          <p:cNvPr id="12" name="rd385"/>
          <p:cNvSpPr/>
          <p:nvPr/>
        </p:nvSpPr>
        <p:spPr>
          <a:xfrm>
            <a:off x="5340096" y="4754880"/>
            <a:ext cx="1517904"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React Application</a:t>
            </a:r>
          </a:p>
        </p:txBody>
      </p:sp>
      <p:sp>
        <p:nvSpPr>
          <p:cNvPr id="13" name="rd386"/>
          <p:cNvSpPr txBox="1"/>
          <p:nvPr/>
        </p:nvSpPr>
        <p:spPr>
          <a:xfrm>
            <a:off x="5340096"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11</a:t>
            </a:r>
          </a:p>
        </p:txBody>
      </p:sp>
      <p:sp>
        <p:nvSpPr>
          <p:cNvPr id="14" name="rd387"/>
          <p:cNvSpPr/>
          <p:nvPr/>
        </p:nvSpPr>
        <p:spPr>
          <a:xfrm>
            <a:off x="6967728" y="4754880"/>
            <a:ext cx="1517904"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Insights Factory</a:t>
            </a:r>
          </a:p>
        </p:txBody>
      </p:sp>
      <p:sp>
        <p:nvSpPr>
          <p:cNvPr id="15" name="rd388"/>
          <p:cNvSpPr txBox="1"/>
          <p:nvPr/>
        </p:nvSpPr>
        <p:spPr>
          <a:xfrm>
            <a:off x="6967728"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12</a:t>
            </a:r>
          </a:p>
        </p:txBody>
      </p:sp>
      <p:sp>
        <p:nvSpPr>
          <p:cNvPr id="16" name="rd389"/>
          <p:cNvSpPr/>
          <p:nvPr/>
        </p:nvSpPr>
        <p:spPr>
          <a:xfrm>
            <a:off x="8595360" y="4754880"/>
            <a:ext cx="1517904"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Insights Server</a:t>
            </a:r>
          </a:p>
        </p:txBody>
      </p:sp>
      <p:sp>
        <p:nvSpPr>
          <p:cNvPr id="17" name="rd390"/>
          <p:cNvSpPr txBox="1"/>
          <p:nvPr/>
        </p:nvSpPr>
        <p:spPr>
          <a:xfrm>
            <a:off x="8595360"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13</a:t>
            </a:r>
          </a:p>
        </p:txBody>
      </p:sp>
      <p:sp>
        <p:nvSpPr>
          <p:cNvPr id="18" name="rd391"/>
          <p:cNvSpPr/>
          <p:nvPr/>
        </p:nvSpPr>
        <p:spPr>
          <a:xfrm>
            <a:off x="10222992" y="4754880"/>
            <a:ext cx="1517905" cy="566928"/>
          </a:xfrm>
          <a:prstGeom prst="roundRect">
            <a:avLst>
              <a:gd name="adj" fmla="val 20000"/>
            </a:avLst>
          </a:prstGeom>
          <a:noFill/>
          <a:ln w="12700"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00" b="1">
                <a:solidFill>
                  <a:srgbClr val="FFFFFF"/>
                </a:solidFill>
                <a:latin typeface="Raleway" pitchFamily="2" charset="0"/>
              </a:rPr>
              <a:t>Data Sources</a:t>
            </a:r>
          </a:p>
        </p:txBody>
      </p:sp>
      <p:sp>
        <p:nvSpPr>
          <p:cNvPr id="19" name="rd392"/>
          <p:cNvSpPr txBox="1"/>
          <p:nvPr/>
        </p:nvSpPr>
        <p:spPr>
          <a:xfrm>
            <a:off x="10222992" y="5376672"/>
            <a:ext cx="1517904" cy="228600"/>
          </a:xfrm>
          <a:prstGeom prst="rect">
            <a:avLst/>
          </a:prstGeom>
          <a:noFill/>
        </p:spPr>
        <p:txBody>
          <a:bodyPr vert="horz" wrap="square" lIns="0" tIns="0" rIns="0" bIns="0" rtlCol="0" anchor="t">
            <a:noAutofit/>
          </a:bodyPr>
          <a:lstStyle/>
          <a:p>
            <a:pPr algn="ctr"/>
            <a:r>
              <a:rPr lang="en-IN" sz="800">
                <a:solidFill>
                  <a:srgbClr val="93C3CD"/>
                </a:solidFill>
                <a:latin typeface="Raleway" pitchFamily="2" charset="0"/>
              </a:rPr>
              <a:t>p. 14</a:t>
            </a:r>
          </a:p>
        </p:txBody>
      </p:sp>
      <p:sp>
        <p:nvSpPr>
          <p:cNvPr id="20" name="rd393"/>
          <p:cNvSpPr/>
          <p:nvPr/>
        </p:nvSpPr>
        <p:spPr>
          <a:xfrm>
            <a:off x="0" y="6565392"/>
            <a:ext cx="12191695" cy="292608"/>
          </a:xfrm>
          <a:prstGeom prst="rect">
            <a:avLst/>
          </a:prstGeom>
          <a:solidFill>
            <a:srgbClr val="0D3D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21" name="rd394"/>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7  |  Radiant Digital  •  Confidential  •  All Rights Reserved  •  2026</a:t>
            </a:r>
            <a:endParaRPr lang="en-IN" sz="700">
              <a:solidFill>
                <a:srgbClr val="FFFFFF"/>
              </a:solidFill>
              <a:latin typeface="Raleway" pitchFamily="2" charset="0"/>
            </a:endParaRPr>
          </a:p>
        </p:txBody>
      </p:sp>
      <p:pic>
        <p:nvPicPr>
          <p:cNvPr id="22" name="rd39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Tree>
    <p:extLst>
      <p:ext uri="{BB962C8B-B14F-4D97-AF65-F5344CB8AC3E}">
        <p14:creationId xmlns:p14="http://schemas.microsoft.com/office/powerpoint/2010/main" val="334819188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50"/>
                                        <p:tgtEl>
                                          <p:spTgt spid="10"/>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50"/>
                                        <p:tgtEl>
                                          <p:spTgt spid="14"/>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250"/>
                                        <p:tgtEl>
                                          <p:spTgt spid="1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396"/>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397"/>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398"/>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Experience Factory turns use cases into React apps</a:t>
            </a:r>
            <a:endParaRPr lang="en-IN" sz="2200" b="1">
              <a:solidFill>
                <a:srgbClr val="FFFFFF"/>
              </a:solidFill>
              <a:latin typeface="Raleway" pitchFamily="2" charset="0"/>
            </a:endParaRPr>
          </a:p>
        </p:txBody>
      </p:sp>
      <p:sp>
        <p:nvSpPr>
          <p:cNvPr id="5" name="rd399"/>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400"/>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8  |  Radiant Digital  •  Confidential  •  All Rights Reserved  •  2026</a:t>
            </a:r>
            <a:endParaRPr lang="en-IN" sz="700">
              <a:solidFill>
                <a:srgbClr val="FFFFFF"/>
              </a:solidFill>
              <a:latin typeface="Raleway" pitchFamily="2" charset="0"/>
            </a:endParaRPr>
          </a:p>
        </p:txBody>
      </p:sp>
      <p:pic>
        <p:nvPicPr>
          <p:cNvPr id="7" name="rd40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402"/>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BUILD TIME  |  STEP 1</a:t>
            </a:r>
          </a:p>
        </p:txBody>
      </p:sp>
      <p:sp>
        <p:nvSpPr>
          <p:cNvPr id="9" name="rd403"/>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Builds conversational experiences from a reusable GenUI component library and ships them as a React application.</a:t>
            </a:r>
            <a:endParaRPr lang="en-IN" sz="1100">
              <a:solidFill>
                <a:srgbClr val="231F20"/>
              </a:solidFill>
              <a:latin typeface="Raleway" pitchFamily="2" charset="0"/>
            </a:endParaRPr>
          </a:p>
        </p:txBody>
      </p:sp>
      <p:grpSp>
        <p:nvGrpSpPr>
          <p:cNvPr id="15" name="rd409"/>
          <p:cNvGrpSpPr/>
          <p:nvPr/>
        </p:nvGrpSpPr>
        <p:grpSpPr>
          <a:xfrm>
            <a:off x="457200" y="1143000"/>
            <a:ext cx="2103120" cy="4297680"/>
            <a:chOff x="457200" y="1143000"/>
            <a:chExt cx="2103120" cy="4297680"/>
          </a:xfrm>
        </p:grpSpPr>
        <p:sp>
          <p:nvSpPr>
            <p:cNvPr id="10" name="rd404"/>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405"/>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406"/>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Business use cases from Market Leaders</a:t>
              </a:r>
              <a:endParaRPr lang="en-IN" sz="950">
                <a:solidFill>
                  <a:srgbClr val="231F20"/>
                </a:solidFill>
                <a:latin typeface="Raleway" pitchFamily="2" charset="0"/>
              </a:endParaRPr>
            </a:p>
          </p:txBody>
        </p:sp>
        <p:sp>
          <p:nvSpPr>
            <p:cNvPr id="13" name="rd407"/>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GenUI component library (about 60 components)</a:t>
              </a:r>
              <a:endParaRPr lang="en-IN" sz="950">
                <a:solidFill>
                  <a:srgbClr val="231F20"/>
                </a:solidFill>
                <a:latin typeface="Raleway" pitchFamily="2" charset="0"/>
              </a:endParaRPr>
            </a:p>
          </p:txBody>
        </p:sp>
        <p:sp>
          <p:nvSpPr>
            <p:cNvPr id="14" name="rd408"/>
            <p:cNvSpPr/>
            <p:nvPr/>
          </p:nvSpPr>
          <p:spPr>
            <a:xfrm>
              <a:off x="566928" y="3419856"/>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231F20"/>
                  </a:solidFill>
                  <a:latin typeface="Raleway" pitchFamily="2" charset="0"/>
                </a:rPr>
                <a:t>GenUI JSON contracts per component</a:t>
              </a:r>
            </a:p>
          </p:txBody>
        </p:sp>
      </p:grpSp>
      <p:sp>
        <p:nvSpPr>
          <p:cNvPr id="16" name="rd410"/>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2" name="rd416"/>
          <p:cNvGrpSpPr/>
          <p:nvPr/>
        </p:nvGrpSpPr>
        <p:grpSpPr>
          <a:xfrm>
            <a:off x="9628632" y="1143000"/>
            <a:ext cx="2103120" cy="4297680"/>
            <a:chOff x="9628632" y="1143000"/>
            <a:chExt cx="2103120" cy="4297680"/>
          </a:xfrm>
        </p:grpSpPr>
        <p:sp>
          <p:nvSpPr>
            <p:cNvPr id="17" name="rd411"/>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8" name="rd412"/>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9" name="rd413"/>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React application in Git</a:t>
              </a:r>
            </a:p>
          </p:txBody>
        </p:sp>
        <p:sp>
          <p:nvSpPr>
            <p:cNvPr id="20" name="rd414"/>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Conversational UI pages per use case</a:t>
              </a:r>
              <a:endParaRPr lang="en-IN" sz="950">
                <a:solidFill>
                  <a:srgbClr val="FFFFFF"/>
                </a:solidFill>
                <a:latin typeface="Raleway" pitchFamily="2" charset="0"/>
              </a:endParaRPr>
            </a:p>
          </p:txBody>
        </p:sp>
        <p:sp>
          <p:nvSpPr>
            <p:cNvPr id="21" name="rd415"/>
            <p:cNvSpPr/>
            <p:nvPr/>
          </p:nvSpPr>
          <p:spPr>
            <a:xfrm>
              <a:off x="9738360" y="3419856"/>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Component and variant bindings to the Insights API</a:t>
              </a:r>
              <a:endParaRPr lang="en-IN" sz="950">
                <a:solidFill>
                  <a:srgbClr val="FFFFFF"/>
                </a:solidFill>
                <a:latin typeface="Raleway" pitchFamily="2" charset="0"/>
              </a:endParaRPr>
            </a:p>
          </p:txBody>
        </p:sp>
      </p:grpSp>
      <p:sp>
        <p:nvSpPr>
          <p:cNvPr id="23" name="rd417"/>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8" name="rd422"/>
          <p:cNvGrpSpPr/>
          <p:nvPr/>
        </p:nvGrpSpPr>
        <p:grpSpPr>
          <a:xfrm>
            <a:off x="457200" y="5623560"/>
            <a:ext cx="11265408" cy="731520"/>
            <a:chOff x="457200" y="5623560"/>
            <a:chExt cx="11265408" cy="731520"/>
          </a:xfrm>
        </p:grpSpPr>
        <p:sp>
          <p:nvSpPr>
            <p:cNvPr id="24" name="rd418"/>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5" name="rd419"/>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Upstream:</a:t>
              </a:r>
              <a:r>
                <a:rPr lang="en-US" sz="950">
                  <a:solidFill>
                    <a:srgbClr val="231F20"/>
                  </a:solidFill>
                  <a:latin typeface="Raleway" pitchFamily="2" charset="0"/>
                </a:rPr>
                <a:t> Market Leaders supply use cases</a:t>
              </a:r>
              <a:endParaRPr lang="en-IN" sz="950">
                <a:solidFill>
                  <a:srgbClr val="231F20"/>
                </a:solidFill>
                <a:latin typeface="Raleway" pitchFamily="2" charset="0"/>
              </a:endParaRPr>
            </a:p>
          </p:txBody>
        </p:sp>
        <p:sp>
          <p:nvSpPr>
            <p:cNvPr id="26" name="rd420"/>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Downstream:</a:t>
              </a:r>
              <a:r>
                <a:rPr lang="en-US" sz="950">
                  <a:solidFill>
                    <a:srgbClr val="231F20"/>
                  </a:solidFill>
                  <a:latin typeface="Raleway" pitchFamily="2" charset="0"/>
                </a:rPr>
                <a:t> React Application via Git</a:t>
              </a:r>
              <a:endParaRPr lang="en-IN" sz="950">
                <a:solidFill>
                  <a:srgbClr val="231F20"/>
                </a:solidFill>
                <a:latin typeface="Raleway" pitchFamily="2" charset="0"/>
              </a:endParaRPr>
            </a:p>
          </p:txBody>
        </p:sp>
        <p:sp>
          <p:nvSpPr>
            <p:cNvPr id="27" name="rd421"/>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Contract:</a:t>
              </a:r>
              <a:r>
                <a:rPr lang="en-IN" sz="950">
                  <a:solidFill>
                    <a:srgbClr val="231F20"/>
                  </a:solidFill>
                  <a:latin typeface="Raleway" pitchFamily="2" charset="0"/>
                </a:rPr>
                <a:t> GenUI component JSON</a:t>
              </a:r>
            </a:p>
          </p:txBody>
        </p:sp>
      </p:grpSp>
      <p:grpSp>
        <p:nvGrpSpPr>
          <p:cNvPr id="33" name="rd427"/>
          <p:cNvGrpSpPr/>
          <p:nvPr/>
        </p:nvGrpSpPr>
        <p:grpSpPr>
          <a:xfrm>
            <a:off x="2788920" y="1143000"/>
            <a:ext cx="2026920" cy="1874520"/>
            <a:chOff x="2788920" y="1143000"/>
            <a:chExt cx="2026920" cy="1874520"/>
          </a:xfrm>
        </p:grpSpPr>
        <p:sp>
          <p:nvSpPr>
            <p:cNvPr id="29" name="rd423"/>
            <p:cNvSpPr/>
            <p:nvPr/>
          </p:nvSpPr>
          <p:spPr>
            <a:xfrm>
              <a:off x="2788920" y="114300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0" name="rd424"/>
            <p:cNvSpPr/>
            <p:nvPr/>
          </p:nvSpPr>
          <p:spPr>
            <a:xfrm>
              <a:off x="2907792"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1</a:t>
              </a:r>
            </a:p>
          </p:txBody>
        </p:sp>
        <p:sp>
          <p:nvSpPr>
            <p:cNvPr id="31" name="rd425"/>
            <p:cNvSpPr txBox="1"/>
            <p:nvPr/>
          </p:nvSpPr>
          <p:spPr>
            <a:xfrm>
              <a:off x="2907792" y="165506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GenUI Components Definition</a:t>
              </a:r>
            </a:p>
          </p:txBody>
        </p:sp>
        <p:sp>
          <p:nvSpPr>
            <p:cNvPr id="32" name="rd426"/>
            <p:cNvSpPr txBox="1"/>
            <p:nvPr/>
          </p:nvSpPr>
          <p:spPr>
            <a:xfrm>
              <a:off x="2907792" y="213055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Define reusable components such as chart, table, KPI, card, filter and form, each with a structured JSON contract.</a:t>
              </a:r>
              <a:endParaRPr lang="en-IN" sz="900">
                <a:solidFill>
                  <a:srgbClr val="231F20"/>
                </a:solidFill>
                <a:latin typeface="Raleway" pitchFamily="2" charset="0"/>
              </a:endParaRPr>
            </a:p>
          </p:txBody>
        </p:sp>
      </p:grpSp>
      <p:cxnSp>
        <p:nvCxnSpPr>
          <p:cNvPr id="34" name="rd428"/>
          <p:cNvCxnSpPr/>
          <p:nvPr/>
        </p:nvCxnSpPr>
        <p:spPr>
          <a:xfrm>
            <a:off x="4834128" y="2080260"/>
            <a:ext cx="237744"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39" name="rd433"/>
          <p:cNvGrpSpPr/>
          <p:nvPr/>
        </p:nvGrpSpPr>
        <p:grpSpPr>
          <a:xfrm>
            <a:off x="5090160" y="1143000"/>
            <a:ext cx="2026920" cy="1874520"/>
            <a:chOff x="5090160" y="1143000"/>
            <a:chExt cx="2026920" cy="1874520"/>
          </a:xfrm>
        </p:grpSpPr>
        <p:sp>
          <p:nvSpPr>
            <p:cNvPr id="35" name="rd429"/>
            <p:cNvSpPr/>
            <p:nvPr/>
          </p:nvSpPr>
          <p:spPr>
            <a:xfrm>
              <a:off x="5090160" y="114300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6" name="rd430"/>
            <p:cNvSpPr/>
            <p:nvPr/>
          </p:nvSpPr>
          <p:spPr>
            <a:xfrm>
              <a:off x="5209032"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2</a:t>
              </a:r>
            </a:p>
          </p:txBody>
        </p:sp>
        <p:sp>
          <p:nvSpPr>
            <p:cNvPr id="37" name="rd431"/>
            <p:cNvSpPr txBox="1"/>
            <p:nvPr/>
          </p:nvSpPr>
          <p:spPr>
            <a:xfrm>
              <a:off x="5209032" y="165506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Develop Conversational UI Pages</a:t>
              </a:r>
            </a:p>
          </p:txBody>
        </p:sp>
        <p:sp>
          <p:nvSpPr>
            <p:cNvPr id="38" name="rd432"/>
            <p:cNvSpPr txBox="1"/>
            <p:nvPr/>
          </p:nvSpPr>
          <p:spPr>
            <a:xfrm>
              <a:off x="5209032" y="213055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Assemble each use case into conversational pages from library components.</a:t>
              </a:r>
              <a:endParaRPr lang="en-IN" sz="900">
                <a:solidFill>
                  <a:srgbClr val="231F20"/>
                </a:solidFill>
                <a:latin typeface="Raleway" pitchFamily="2" charset="0"/>
              </a:endParaRPr>
            </a:p>
          </p:txBody>
        </p:sp>
      </p:grpSp>
      <p:cxnSp>
        <p:nvCxnSpPr>
          <p:cNvPr id="40" name="rd434"/>
          <p:cNvCxnSpPr/>
          <p:nvPr/>
        </p:nvCxnSpPr>
        <p:spPr>
          <a:xfrm>
            <a:off x="7135368" y="2080260"/>
            <a:ext cx="237744"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45" name="rd439"/>
          <p:cNvGrpSpPr/>
          <p:nvPr/>
        </p:nvGrpSpPr>
        <p:grpSpPr>
          <a:xfrm>
            <a:off x="7391400" y="1143000"/>
            <a:ext cx="2026920" cy="1874520"/>
            <a:chOff x="7391400" y="1143000"/>
            <a:chExt cx="2026920" cy="1874520"/>
          </a:xfrm>
        </p:grpSpPr>
        <p:sp>
          <p:nvSpPr>
            <p:cNvPr id="41" name="rd435"/>
            <p:cNvSpPr/>
            <p:nvPr/>
          </p:nvSpPr>
          <p:spPr>
            <a:xfrm>
              <a:off x="7391400" y="114300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2" name="rd436"/>
            <p:cNvSpPr/>
            <p:nvPr/>
          </p:nvSpPr>
          <p:spPr>
            <a:xfrm>
              <a:off x="7510272"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3</a:t>
              </a:r>
            </a:p>
          </p:txBody>
        </p:sp>
        <p:sp>
          <p:nvSpPr>
            <p:cNvPr id="43" name="rd437"/>
            <p:cNvSpPr txBox="1"/>
            <p:nvPr/>
          </p:nvSpPr>
          <p:spPr>
            <a:xfrm>
              <a:off x="7510272" y="1655064"/>
              <a:ext cx="1789176" cy="420624"/>
            </a:xfrm>
            <a:prstGeom prst="rect">
              <a:avLst/>
            </a:prstGeom>
            <a:noFill/>
          </p:spPr>
          <p:txBody>
            <a:bodyPr vert="horz" wrap="square" lIns="0" tIns="0" rIns="0" bIns="0" rtlCol="0" anchor="t">
              <a:noAutofit/>
            </a:bodyPr>
            <a:lstStyle/>
            <a:p>
              <a:r>
                <a:rPr lang="en-US" sz="1050" b="1">
                  <a:solidFill>
                    <a:srgbClr val="074661"/>
                  </a:solidFill>
                  <a:latin typeface="Raleway" pitchFamily="2" charset="0"/>
                </a:rPr>
                <a:t>Integrate with Static JSON Data</a:t>
              </a:r>
              <a:endParaRPr lang="en-IN" sz="1050" b="1">
                <a:solidFill>
                  <a:srgbClr val="074661"/>
                </a:solidFill>
                <a:latin typeface="Raleway" pitchFamily="2" charset="0"/>
              </a:endParaRPr>
            </a:p>
          </p:txBody>
        </p:sp>
        <p:sp>
          <p:nvSpPr>
            <p:cNvPr id="44" name="rd438"/>
            <p:cNvSpPr txBox="1"/>
            <p:nvPr/>
          </p:nvSpPr>
          <p:spPr>
            <a:xfrm>
              <a:off x="7510272" y="213055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Bind components to static sample JSON so pages run end to end before live data exists.</a:t>
              </a:r>
              <a:endParaRPr lang="en-IN" sz="900">
                <a:solidFill>
                  <a:srgbClr val="231F20"/>
                </a:solidFill>
                <a:latin typeface="Raleway" pitchFamily="2" charset="0"/>
              </a:endParaRPr>
            </a:p>
          </p:txBody>
        </p:sp>
      </p:grpSp>
      <p:sp>
        <p:nvSpPr>
          <p:cNvPr id="46" name="rd440"/>
          <p:cNvSpPr/>
          <p:nvPr/>
        </p:nvSpPr>
        <p:spPr>
          <a:xfrm>
            <a:off x="3802380" y="3017520"/>
            <a:ext cx="4602481" cy="502921"/>
          </a:xfrm>
          <a:custGeom>
            <a:avLst/>
            <a:gdLst/>
            <a:ahLst/>
            <a:cxnLst/>
            <a:rect l="0" t="0" r="0" b="0"/>
            <a:pathLst>
              <a:path w="4602481" h="502921">
                <a:moveTo>
                  <a:pt x="4602480" y="0"/>
                </a:moveTo>
                <a:lnTo>
                  <a:pt x="4602480" y="251460"/>
                </a:lnTo>
                <a:lnTo>
                  <a:pt x="0" y="251460"/>
                </a:lnTo>
                <a:lnTo>
                  <a:pt x="0" y="502920"/>
                </a:lnTo>
              </a:path>
            </a:pathLst>
          </a:cu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51" name="rd445"/>
          <p:cNvGrpSpPr/>
          <p:nvPr/>
        </p:nvGrpSpPr>
        <p:grpSpPr>
          <a:xfrm>
            <a:off x="2788920" y="3520440"/>
            <a:ext cx="2026920" cy="1874520"/>
            <a:chOff x="2788920" y="3520440"/>
            <a:chExt cx="2026920" cy="1874520"/>
          </a:xfrm>
        </p:grpSpPr>
        <p:sp>
          <p:nvSpPr>
            <p:cNvPr id="47" name="rd441"/>
            <p:cNvSpPr/>
            <p:nvPr/>
          </p:nvSpPr>
          <p:spPr>
            <a:xfrm>
              <a:off x="2788920" y="352044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8" name="rd442"/>
            <p:cNvSpPr/>
            <p:nvPr/>
          </p:nvSpPr>
          <p:spPr>
            <a:xfrm>
              <a:off x="290779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4</a:t>
              </a:r>
            </a:p>
          </p:txBody>
        </p:sp>
        <p:sp>
          <p:nvSpPr>
            <p:cNvPr id="49" name="rd443"/>
            <p:cNvSpPr txBox="1"/>
            <p:nvPr/>
          </p:nvSpPr>
          <p:spPr>
            <a:xfrm>
              <a:off x="2907792" y="403250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Convert to React App</a:t>
              </a:r>
            </a:p>
          </p:txBody>
        </p:sp>
        <p:sp>
          <p:nvSpPr>
            <p:cNvPr id="50" name="rd444"/>
            <p:cNvSpPr txBox="1"/>
            <p:nvPr/>
          </p:nvSpPr>
          <p:spPr>
            <a:xfrm>
              <a:off x="2907792" y="450799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Compile the conversational pages into a deployable React application.</a:t>
              </a:r>
              <a:endParaRPr lang="en-IN" sz="900">
                <a:solidFill>
                  <a:srgbClr val="231F20"/>
                </a:solidFill>
                <a:latin typeface="Raleway" pitchFamily="2" charset="0"/>
              </a:endParaRPr>
            </a:p>
          </p:txBody>
        </p:sp>
      </p:grpSp>
      <p:cxnSp>
        <p:nvCxnSpPr>
          <p:cNvPr id="52" name="rd446"/>
          <p:cNvCxnSpPr/>
          <p:nvPr/>
        </p:nvCxnSpPr>
        <p:spPr>
          <a:xfrm>
            <a:off x="4834128" y="4457700"/>
            <a:ext cx="237744"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57" name="rd451"/>
          <p:cNvGrpSpPr/>
          <p:nvPr/>
        </p:nvGrpSpPr>
        <p:grpSpPr>
          <a:xfrm>
            <a:off x="5090160" y="3520440"/>
            <a:ext cx="2026920" cy="1874520"/>
            <a:chOff x="5090160" y="3520440"/>
            <a:chExt cx="2026920" cy="1874520"/>
          </a:xfrm>
        </p:grpSpPr>
        <p:sp>
          <p:nvSpPr>
            <p:cNvPr id="53" name="rd447"/>
            <p:cNvSpPr/>
            <p:nvPr/>
          </p:nvSpPr>
          <p:spPr>
            <a:xfrm>
              <a:off x="5090160" y="352044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4" name="rd448"/>
            <p:cNvSpPr/>
            <p:nvPr/>
          </p:nvSpPr>
          <p:spPr>
            <a:xfrm>
              <a:off x="520903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5</a:t>
              </a:r>
            </a:p>
          </p:txBody>
        </p:sp>
        <p:sp>
          <p:nvSpPr>
            <p:cNvPr id="55" name="rd449"/>
            <p:cNvSpPr txBox="1"/>
            <p:nvPr/>
          </p:nvSpPr>
          <p:spPr>
            <a:xfrm>
              <a:off x="5209032" y="4032504"/>
              <a:ext cx="1789176" cy="420624"/>
            </a:xfrm>
            <a:prstGeom prst="rect">
              <a:avLst/>
            </a:prstGeom>
            <a:noFill/>
          </p:spPr>
          <p:txBody>
            <a:bodyPr vert="horz" wrap="square" lIns="0" tIns="0" rIns="0" bIns="0" rtlCol="0" anchor="t">
              <a:noAutofit/>
            </a:bodyPr>
            <a:lstStyle/>
            <a:p>
              <a:r>
                <a:rPr lang="en-US" sz="1050" b="1">
                  <a:solidFill>
                    <a:srgbClr val="074661"/>
                  </a:solidFill>
                  <a:latin typeface="Raleway" pitchFamily="2" charset="0"/>
                </a:rPr>
                <a:t>Commit Code to Git Repository</a:t>
              </a:r>
              <a:endParaRPr lang="en-IN" sz="1050" b="1">
                <a:solidFill>
                  <a:srgbClr val="074661"/>
                </a:solidFill>
                <a:latin typeface="Raleway" pitchFamily="2" charset="0"/>
              </a:endParaRPr>
            </a:p>
          </p:txBody>
        </p:sp>
        <p:sp>
          <p:nvSpPr>
            <p:cNvPr id="56" name="rd450"/>
            <p:cNvSpPr txBox="1"/>
            <p:nvPr/>
          </p:nvSpPr>
          <p:spPr>
            <a:xfrm>
              <a:off x="5209032" y="450799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Version the application in Git; the repository is the handoff to runtime.</a:t>
              </a:r>
              <a:endParaRPr lang="en-IN" sz="900">
                <a:solidFill>
                  <a:srgbClr val="231F20"/>
                </a:solidFill>
                <a:latin typeface="Raleway" pitchFamily="2" charset="0"/>
              </a:endParaRPr>
            </a:p>
          </p:txBody>
        </p:sp>
      </p:grpSp>
      <p:cxnSp>
        <p:nvCxnSpPr>
          <p:cNvPr id="58" name="rd452"/>
          <p:cNvCxnSpPr/>
          <p:nvPr/>
        </p:nvCxnSpPr>
        <p:spPr>
          <a:xfrm>
            <a:off x="7135368" y="4457700"/>
            <a:ext cx="237744"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63" name="rd457"/>
          <p:cNvGrpSpPr/>
          <p:nvPr/>
        </p:nvGrpSpPr>
        <p:grpSpPr>
          <a:xfrm>
            <a:off x="7391400" y="3520440"/>
            <a:ext cx="2026920" cy="1874520"/>
            <a:chOff x="7391400" y="3520440"/>
            <a:chExt cx="2026920" cy="1874520"/>
          </a:xfrm>
        </p:grpSpPr>
        <p:sp>
          <p:nvSpPr>
            <p:cNvPr id="59" name="rd453"/>
            <p:cNvSpPr/>
            <p:nvPr/>
          </p:nvSpPr>
          <p:spPr>
            <a:xfrm>
              <a:off x="7391400" y="352044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0" name="rd454"/>
            <p:cNvSpPr/>
            <p:nvPr/>
          </p:nvSpPr>
          <p:spPr>
            <a:xfrm>
              <a:off x="751027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6</a:t>
              </a:r>
            </a:p>
          </p:txBody>
        </p:sp>
        <p:sp>
          <p:nvSpPr>
            <p:cNvPr id="61" name="rd455"/>
            <p:cNvSpPr txBox="1"/>
            <p:nvPr/>
          </p:nvSpPr>
          <p:spPr>
            <a:xfrm>
              <a:off x="7510272" y="403250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Insights API Integration</a:t>
              </a:r>
            </a:p>
          </p:txBody>
        </p:sp>
        <p:sp>
          <p:nvSpPr>
            <p:cNvPr id="62" name="rd456"/>
            <p:cNvSpPr txBox="1"/>
            <p:nvPr/>
          </p:nvSpPr>
          <p:spPr>
            <a:xfrm>
              <a:off x="7510272" y="450799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Replace static JSON with Insights API calls that send Component, Variant, Ask.</a:t>
              </a:r>
              <a:endParaRPr lang="en-IN" sz="900">
                <a:solidFill>
                  <a:srgbClr val="231F20"/>
                </a:solidFill>
                <a:latin typeface="Raleway" pitchFamily="2" charset="0"/>
              </a:endParaRPr>
            </a:p>
          </p:txBody>
        </p:sp>
      </p:grpSp>
    </p:spTree>
    <p:extLst>
      <p:ext uri="{BB962C8B-B14F-4D97-AF65-F5344CB8AC3E}">
        <p14:creationId xmlns:p14="http://schemas.microsoft.com/office/powerpoint/2010/main" val="201629739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3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45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300"/>
                                        <p:tgtEl>
                                          <p:spTgt spid="34"/>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4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wipe(left)">
                                      <p:cBhvr>
                                        <p:cTn id="30" dur="300"/>
                                        <p:tgtEl>
                                          <p:spTgt spid="40"/>
                                        </p:tgtEl>
                                      </p:cBhvr>
                                    </p:animEffect>
                                  </p:childTnLst>
                                </p:cTn>
                              </p:par>
                            </p:childTnLst>
                          </p:cTn>
                        </p:par>
                        <p:par>
                          <p:cTn id="31" fill="hold">
                            <p:stCondLst>
                              <p:cond delay="300"/>
                            </p:stCondLst>
                            <p:childTnLst>
                              <p:par>
                                <p:cTn id="32" presetID="10" presetClass="entr" presetSubtype="0" fill="hold" nodeType="after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4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400"/>
                                        <p:tgtEl>
                                          <p:spTgt spid="46"/>
                                        </p:tgtEl>
                                      </p:cBhvr>
                                    </p:animEffect>
                                  </p:childTnLst>
                                </p:cTn>
                              </p:par>
                            </p:childTnLst>
                          </p:cTn>
                        </p:par>
                        <p:par>
                          <p:cTn id="40" fill="hold">
                            <p:stCondLst>
                              <p:cond delay="400"/>
                            </p:stCondLst>
                            <p:childTnLst>
                              <p:par>
                                <p:cTn id="41" presetID="10" presetClass="entr" presetSubtype="0" fill="hold" nodeType="after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400"/>
                                        <p:tgtEl>
                                          <p:spTgt spid="5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wipe(left)">
                                      <p:cBhvr>
                                        <p:cTn id="48" dur="300"/>
                                        <p:tgtEl>
                                          <p:spTgt spid="52"/>
                                        </p:tgtEl>
                                      </p:cBhvr>
                                    </p:animEffect>
                                  </p:childTnLst>
                                </p:cTn>
                              </p:par>
                            </p:childTnLst>
                          </p:cTn>
                        </p:par>
                        <p:par>
                          <p:cTn id="49" fill="hold">
                            <p:stCondLst>
                              <p:cond delay="300"/>
                            </p:stCondLst>
                            <p:childTnLst>
                              <p:par>
                                <p:cTn id="50" presetID="10" presetClass="entr" presetSubtype="0" fill="hold" nodeType="after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4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8"/>
                                        </p:tgtEl>
                                        <p:attrNameLst>
                                          <p:attrName>style.visibility</p:attrName>
                                        </p:attrNameLst>
                                      </p:cBhvr>
                                      <p:to>
                                        <p:strVal val="visible"/>
                                      </p:to>
                                    </p:set>
                                    <p:animEffect transition="in" filter="wipe(left)">
                                      <p:cBhvr>
                                        <p:cTn id="57" dur="300"/>
                                        <p:tgtEl>
                                          <p:spTgt spid="58"/>
                                        </p:tgtEl>
                                      </p:cBhvr>
                                    </p:animEffect>
                                  </p:childTnLst>
                                </p:cTn>
                              </p:par>
                            </p:childTnLst>
                          </p:cTn>
                        </p:par>
                        <p:par>
                          <p:cTn id="58" fill="hold">
                            <p:stCondLst>
                              <p:cond delay="300"/>
                            </p:stCondLst>
                            <p:childTnLst>
                              <p:par>
                                <p:cTn id="59" presetID="10" presetClass="entr" presetSubtype="0" fill="hold" nodeType="after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4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300"/>
                                        <p:tgtEl>
                                          <p:spTgt spid="23"/>
                                        </p:tgtEl>
                                      </p:cBhvr>
                                    </p:animEffect>
                                  </p:childTnLst>
                                </p:cTn>
                              </p:par>
                            </p:childTnLst>
                          </p:cTn>
                        </p:par>
                        <p:par>
                          <p:cTn id="67" fill="hold">
                            <p:stCondLst>
                              <p:cond delay="300"/>
                            </p:stCondLst>
                            <p:childTnLst>
                              <p:par>
                                <p:cTn id="68" presetID="10" presetClass="entr" presetSubtype="0"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450"/>
                                        <p:tgtEl>
                                          <p:spTgt spid="22"/>
                                        </p:tgtEl>
                                      </p:cBhvr>
                                    </p:animEffect>
                                  </p:childTnLst>
                                </p:cTn>
                              </p:par>
                            </p:childTnLst>
                          </p:cTn>
                        </p:par>
                        <p:par>
                          <p:cTn id="71" fill="hold">
                            <p:stCondLst>
                              <p:cond delay="750"/>
                            </p:stCondLst>
                            <p:childTnLst>
                              <p:par>
                                <p:cTn id="72" presetID="10"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P spid="4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458"/>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459"/>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460"/>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Data Factory engineers the knowledge behind answers</a:t>
            </a:r>
            <a:endParaRPr lang="en-IN" sz="2200" b="1">
              <a:solidFill>
                <a:srgbClr val="FFFFFF"/>
              </a:solidFill>
              <a:latin typeface="Raleway" pitchFamily="2" charset="0"/>
            </a:endParaRPr>
          </a:p>
        </p:txBody>
      </p:sp>
      <p:sp>
        <p:nvSpPr>
          <p:cNvPr id="5" name="rd461"/>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462"/>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9  |  Radiant Digital  •  Confidential  •  All Rights Reserved  •  2026</a:t>
            </a:r>
            <a:endParaRPr lang="en-IN" sz="700">
              <a:solidFill>
                <a:srgbClr val="FFFFFF"/>
              </a:solidFill>
              <a:latin typeface="Raleway" pitchFamily="2" charset="0"/>
            </a:endParaRPr>
          </a:p>
        </p:txBody>
      </p:sp>
      <p:pic>
        <p:nvPicPr>
          <p:cNvPr id="7" name="rd46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464"/>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BUILD TIME  |  STEP 1</a:t>
            </a:r>
          </a:p>
        </p:txBody>
      </p:sp>
      <p:sp>
        <p:nvSpPr>
          <p:cNvPr id="9" name="rd465"/>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Models the domain, generates realistic synthetic data and builds the ontologies that populate the KAG.</a:t>
            </a:r>
            <a:endParaRPr lang="en-IN" sz="1100">
              <a:solidFill>
                <a:srgbClr val="231F20"/>
              </a:solidFill>
              <a:latin typeface="Raleway" pitchFamily="2" charset="0"/>
            </a:endParaRPr>
          </a:p>
        </p:txBody>
      </p:sp>
      <p:grpSp>
        <p:nvGrpSpPr>
          <p:cNvPr id="14" name="rd470"/>
          <p:cNvGrpSpPr/>
          <p:nvPr/>
        </p:nvGrpSpPr>
        <p:grpSpPr>
          <a:xfrm>
            <a:off x="457200" y="1143000"/>
            <a:ext cx="2103120" cy="4297680"/>
            <a:chOff x="457200" y="1143000"/>
            <a:chExt cx="2103120" cy="4297680"/>
          </a:xfrm>
        </p:grpSpPr>
        <p:sp>
          <p:nvSpPr>
            <p:cNvPr id="10" name="rd466"/>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467"/>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468"/>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Data and knowledge requirements from use cases</a:t>
              </a:r>
              <a:endParaRPr lang="en-IN" sz="950">
                <a:solidFill>
                  <a:srgbClr val="231F20"/>
                </a:solidFill>
                <a:latin typeface="Raleway" pitchFamily="2" charset="0"/>
              </a:endParaRPr>
            </a:p>
          </p:txBody>
        </p:sp>
        <p:sp>
          <p:nvSpPr>
            <p:cNvPr id="13" name="rd469"/>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Existing domain data structures and definitions</a:t>
              </a:r>
              <a:endParaRPr lang="en-IN" sz="950">
                <a:solidFill>
                  <a:srgbClr val="231F20"/>
                </a:solidFill>
                <a:latin typeface="Raleway" pitchFamily="2" charset="0"/>
              </a:endParaRPr>
            </a:p>
          </p:txBody>
        </p:sp>
      </p:grpSp>
      <p:sp>
        <p:nvSpPr>
          <p:cNvPr id="15" name="rd471"/>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1" name="rd477"/>
          <p:cNvGrpSpPr/>
          <p:nvPr/>
        </p:nvGrpSpPr>
        <p:grpSpPr>
          <a:xfrm>
            <a:off x="9628632" y="1143000"/>
            <a:ext cx="2103120" cy="4297680"/>
            <a:chOff x="9628632" y="1143000"/>
            <a:chExt cx="2103120" cy="4297680"/>
          </a:xfrm>
        </p:grpSpPr>
        <p:sp>
          <p:nvSpPr>
            <p:cNvPr id="16" name="rd472"/>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7" name="rd473"/>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8" name="rd474"/>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Database loaded with synthetic data</a:t>
              </a:r>
              <a:endParaRPr lang="en-IN" sz="950">
                <a:solidFill>
                  <a:srgbClr val="FFFFFF"/>
                </a:solidFill>
                <a:latin typeface="Raleway" pitchFamily="2" charset="0"/>
              </a:endParaRPr>
            </a:p>
          </p:txBody>
        </p:sp>
        <p:sp>
          <p:nvSpPr>
            <p:cNvPr id="19" name="rd475"/>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Lower and upper ontologies</a:t>
              </a:r>
            </a:p>
          </p:txBody>
        </p:sp>
        <p:sp>
          <p:nvSpPr>
            <p:cNvPr id="20" name="rd476"/>
            <p:cNvSpPr/>
            <p:nvPr/>
          </p:nvSpPr>
          <p:spPr>
            <a:xfrm>
              <a:off x="9738360" y="3419856"/>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Populated KAG knowledge graph</a:t>
              </a:r>
            </a:p>
          </p:txBody>
        </p:sp>
      </p:grpSp>
      <p:sp>
        <p:nvSpPr>
          <p:cNvPr id="22" name="rd478"/>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7" name="rd483"/>
          <p:cNvGrpSpPr/>
          <p:nvPr/>
        </p:nvGrpSpPr>
        <p:grpSpPr>
          <a:xfrm>
            <a:off x="457200" y="5623560"/>
            <a:ext cx="11265408" cy="731520"/>
            <a:chOff x="457200" y="5623560"/>
            <a:chExt cx="11265408" cy="731520"/>
          </a:xfrm>
        </p:grpSpPr>
        <p:sp>
          <p:nvSpPr>
            <p:cNvPr id="23" name="rd479"/>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4" name="rd480"/>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Upstream:</a:t>
              </a:r>
              <a:r>
                <a:rPr lang="en-US" sz="950">
                  <a:solidFill>
                    <a:srgbClr val="231F20"/>
                  </a:solidFill>
                  <a:latin typeface="Raleway" pitchFamily="2" charset="0"/>
                </a:rPr>
                <a:t> Market Leaders supply use cases</a:t>
              </a:r>
              <a:endParaRPr lang="en-IN" sz="950">
                <a:solidFill>
                  <a:srgbClr val="231F20"/>
                </a:solidFill>
                <a:latin typeface="Raleway" pitchFamily="2" charset="0"/>
              </a:endParaRPr>
            </a:p>
          </p:txBody>
        </p:sp>
        <p:sp>
          <p:nvSpPr>
            <p:cNvPr id="25" name="rd481"/>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Downstream:</a:t>
              </a:r>
              <a:r>
                <a:rPr lang="en-IN" sz="950">
                  <a:solidFill>
                    <a:srgbClr val="231F20"/>
                  </a:solidFill>
                  <a:latin typeface="Raleway" pitchFamily="2" charset="0"/>
                </a:rPr>
                <a:t> KAG (Step 2)</a:t>
              </a:r>
            </a:p>
          </p:txBody>
        </p:sp>
        <p:sp>
          <p:nvSpPr>
            <p:cNvPr id="26" name="rd482"/>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Runtime use:</a:t>
              </a:r>
              <a:r>
                <a:rPr lang="en-US" sz="950">
                  <a:solidFill>
                    <a:srgbClr val="231F20"/>
                  </a:solidFill>
                  <a:latin typeface="Raleway" pitchFamily="2" charset="0"/>
                </a:rPr>
                <a:t> Insights Server and Data Sources</a:t>
              </a:r>
              <a:endParaRPr lang="en-IN" sz="950">
                <a:solidFill>
                  <a:srgbClr val="231F20"/>
                </a:solidFill>
                <a:latin typeface="Raleway" pitchFamily="2" charset="0"/>
              </a:endParaRPr>
            </a:p>
          </p:txBody>
        </p:sp>
      </p:grpSp>
      <p:grpSp>
        <p:nvGrpSpPr>
          <p:cNvPr id="32" name="rd488"/>
          <p:cNvGrpSpPr/>
          <p:nvPr/>
        </p:nvGrpSpPr>
        <p:grpSpPr>
          <a:xfrm>
            <a:off x="2788920" y="1143000"/>
            <a:ext cx="1492758" cy="1874520"/>
            <a:chOff x="2788920" y="1143000"/>
            <a:chExt cx="1492758" cy="1874520"/>
          </a:xfrm>
        </p:grpSpPr>
        <p:sp>
          <p:nvSpPr>
            <p:cNvPr id="28" name="rd484"/>
            <p:cNvSpPr/>
            <p:nvPr/>
          </p:nvSpPr>
          <p:spPr>
            <a:xfrm>
              <a:off x="2788920"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29" name="rd485"/>
            <p:cNvSpPr/>
            <p:nvPr/>
          </p:nvSpPr>
          <p:spPr>
            <a:xfrm>
              <a:off x="2907792"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1</a:t>
              </a:r>
            </a:p>
          </p:txBody>
        </p:sp>
        <p:sp>
          <p:nvSpPr>
            <p:cNvPr id="30" name="rd486"/>
            <p:cNvSpPr txBox="1"/>
            <p:nvPr/>
          </p:nvSpPr>
          <p:spPr>
            <a:xfrm>
              <a:off x="2907792"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Domain Data Modelling</a:t>
              </a:r>
            </a:p>
          </p:txBody>
        </p:sp>
        <p:sp>
          <p:nvSpPr>
            <p:cNvPr id="31" name="rd487"/>
            <p:cNvSpPr txBox="1"/>
            <p:nvPr/>
          </p:nvSpPr>
          <p:spPr>
            <a:xfrm>
              <a:off x="2907792" y="213055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Turn use cases into entities, attributes and relationships.</a:t>
              </a:r>
              <a:endParaRPr lang="en-IN" sz="900">
                <a:solidFill>
                  <a:srgbClr val="231F20"/>
                </a:solidFill>
                <a:latin typeface="Raleway" pitchFamily="2" charset="0"/>
              </a:endParaRPr>
            </a:p>
          </p:txBody>
        </p:sp>
      </p:grpSp>
      <p:cxnSp>
        <p:nvCxnSpPr>
          <p:cNvPr id="33" name="rd489"/>
          <p:cNvCxnSpPr/>
          <p:nvPr/>
        </p:nvCxnSpPr>
        <p:spPr>
          <a:xfrm>
            <a:off x="4299966" y="208026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38" name="rd494"/>
          <p:cNvGrpSpPr/>
          <p:nvPr/>
        </p:nvGrpSpPr>
        <p:grpSpPr>
          <a:xfrm>
            <a:off x="4501134" y="1143000"/>
            <a:ext cx="1492758" cy="1874520"/>
            <a:chOff x="4501134" y="1143000"/>
            <a:chExt cx="1492758" cy="1874520"/>
          </a:xfrm>
        </p:grpSpPr>
        <p:sp>
          <p:nvSpPr>
            <p:cNvPr id="34" name="rd490"/>
            <p:cNvSpPr/>
            <p:nvPr/>
          </p:nvSpPr>
          <p:spPr>
            <a:xfrm>
              <a:off x="4501134"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5" name="rd491"/>
            <p:cNvSpPr/>
            <p:nvPr/>
          </p:nvSpPr>
          <p:spPr>
            <a:xfrm>
              <a:off x="4620006"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2</a:t>
              </a:r>
            </a:p>
          </p:txBody>
        </p:sp>
        <p:sp>
          <p:nvSpPr>
            <p:cNvPr id="36" name="rd492"/>
            <p:cNvSpPr txBox="1"/>
            <p:nvPr/>
          </p:nvSpPr>
          <p:spPr>
            <a:xfrm>
              <a:off x="4620006"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Meta Data Extraction</a:t>
              </a:r>
            </a:p>
          </p:txBody>
        </p:sp>
        <p:sp>
          <p:nvSpPr>
            <p:cNvPr id="37" name="rd493"/>
            <p:cNvSpPr txBox="1"/>
            <p:nvPr/>
          </p:nvSpPr>
          <p:spPr>
            <a:xfrm>
              <a:off x="4620006" y="213055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Capture definitions, data types and business meaning for each entity.</a:t>
              </a:r>
              <a:endParaRPr lang="en-IN" sz="900">
                <a:solidFill>
                  <a:srgbClr val="231F20"/>
                </a:solidFill>
                <a:latin typeface="Raleway" pitchFamily="2" charset="0"/>
              </a:endParaRPr>
            </a:p>
          </p:txBody>
        </p:sp>
      </p:grpSp>
      <p:cxnSp>
        <p:nvCxnSpPr>
          <p:cNvPr id="39" name="rd495"/>
          <p:cNvCxnSpPr/>
          <p:nvPr/>
        </p:nvCxnSpPr>
        <p:spPr>
          <a:xfrm>
            <a:off x="6012180" y="208026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44" name="rd500"/>
          <p:cNvGrpSpPr/>
          <p:nvPr/>
        </p:nvGrpSpPr>
        <p:grpSpPr>
          <a:xfrm>
            <a:off x="6213348" y="1143000"/>
            <a:ext cx="1492758" cy="1874520"/>
            <a:chOff x="6213348" y="1143000"/>
            <a:chExt cx="1492758" cy="1874520"/>
          </a:xfrm>
        </p:grpSpPr>
        <p:sp>
          <p:nvSpPr>
            <p:cNvPr id="40" name="rd496"/>
            <p:cNvSpPr/>
            <p:nvPr/>
          </p:nvSpPr>
          <p:spPr>
            <a:xfrm>
              <a:off x="6213348"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1" name="rd497"/>
            <p:cNvSpPr/>
            <p:nvPr/>
          </p:nvSpPr>
          <p:spPr>
            <a:xfrm>
              <a:off x="6332220"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3</a:t>
              </a:r>
            </a:p>
          </p:txBody>
        </p:sp>
        <p:sp>
          <p:nvSpPr>
            <p:cNvPr id="42" name="rd498"/>
            <p:cNvSpPr txBox="1"/>
            <p:nvPr/>
          </p:nvSpPr>
          <p:spPr>
            <a:xfrm>
              <a:off x="6332220"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Domain Enrichment</a:t>
              </a:r>
            </a:p>
          </p:txBody>
        </p:sp>
        <p:sp>
          <p:nvSpPr>
            <p:cNvPr id="43" name="rd499"/>
            <p:cNvSpPr txBox="1"/>
            <p:nvPr/>
          </p:nvSpPr>
          <p:spPr>
            <a:xfrm>
              <a:off x="6332220" y="213055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Combine the model and metadata into an enriched domain.</a:t>
              </a:r>
              <a:endParaRPr lang="en-IN" sz="900">
                <a:solidFill>
                  <a:srgbClr val="231F20"/>
                </a:solidFill>
                <a:latin typeface="Raleway" pitchFamily="2" charset="0"/>
              </a:endParaRPr>
            </a:p>
          </p:txBody>
        </p:sp>
      </p:grpSp>
      <p:cxnSp>
        <p:nvCxnSpPr>
          <p:cNvPr id="45" name="rd501"/>
          <p:cNvCxnSpPr/>
          <p:nvPr/>
        </p:nvCxnSpPr>
        <p:spPr>
          <a:xfrm>
            <a:off x="7724394" y="208026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50" name="rd506"/>
          <p:cNvGrpSpPr/>
          <p:nvPr/>
        </p:nvGrpSpPr>
        <p:grpSpPr>
          <a:xfrm>
            <a:off x="7925562" y="1143000"/>
            <a:ext cx="1492758" cy="1874520"/>
            <a:chOff x="7925562" y="1143000"/>
            <a:chExt cx="1492758" cy="1874520"/>
          </a:xfrm>
        </p:grpSpPr>
        <p:sp>
          <p:nvSpPr>
            <p:cNvPr id="46" name="rd502"/>
            <p:cNvSpPr/>
            <p:nvPr/>
          </p:nvSpPr>
          <p:spPr>
            <a:xfrm>
              <a:off x="7925562"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7" name="rd503"/>
            <p:cNvSpPr/>
            <p:nvPr/>
          </p:nvSpPr>
          <p:spPr>
            <a:xfrm>
              <a:off x="8044434"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4</a:t>
              </a:r>
            </a:p>
          </p:txBody>
        </p:sp>
        <p:sp>
          <p:nvSpPr>
            <p:cNvPr id="48" name="rd504"/>
            <p:cNvSpPr txBox="1"/>
            <p:nvPr/>
          </p:nvSpPr>
          <p:spPr>
            <a:xfrm>
              <a:off x="8044434"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Synthetic Data Generation</a:t>
              </a:r>
            </a:p>
          </p:txBody>
        </p:sp>
        <p:sp>
          <p:nvSpPr>
            <p:cNvPr id="49" name="rd505"/>
            <p:cNvSpPr txBox="1"/>
            <p:nvPr/>
          </p:nvSpPr>
          <p:spPr>
            <a:xfrm>
              <a:off x="8044434" y="213055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Generate realistic data from the enriched domain and load the database.</a:t>
              </a:r>
              <a:endParaRPr lang="en-IN" sz="900">
                <a:solidFill>
                  <a:srgbClr val="231F20"/>
                </a:solidFill>
                <a:latin typeface="Raleway" pitchFamily="2" charset="0"/>
              </a:endParaRPr>
            </a:p>
          </p:txBody>
        </p:sp>
      </p:grpSp>
      <p:sp>
        <p:nvSpPr>
          <p:cNvPr id="51" name="rd507"/>
          <p:cNvSpPr/>
          <p:nvPr/>
        </p:nvSpPr>
        <p:spPr>
          <a:xfrm>
            <a:off x="3802380" y="3017520"/>
            <a:ext cx="4869562" cy="502921"/>
          </a:xfrm>
          <a:custGeom>
            <a:avLst/>
            <a:gdLst/>
            <a:ahLst/>
            <a:cxnLst/>
            <a:rect l="0" t="0" r="0" b="0"/>
            <a:pathLst>
              <a:path w="4869562" h="502921">
                <a:moveTo>
                  <a:pt x="4869561" y="0"/>
                </a:moveTo>
                <a:lnTo>
                  <a:pt x="4869561" y="251460"/>
                </a:lnTo>
                <a:lnTo>
                  <a:pt x="0" y="251460"/>
                </a:lnTo>
                <a:lnTo>
                  <a:pt x="0" y="502920"/>
                </a:lnTo>
              </a:path>
            </a:pathLst>
          </a:cu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56" name="rd512"/>
          <p:cNvGrpSpPr/>
          <p:nvPr/>
        </p:nvGrpSpPr>
        <p:grpSpPr>
          <a:xfrm>
            <a:off x="2788920" y="3520440"/>
            <a:ext cx="2026920" cy="1874520"/>
            <a:chOff x="2788920" y="3520440"/>
            <a:chExt cx="2026920" cy="1874520"/>
          </a:xfrm>
        </p:grpSpPr>
        <p:sp>
          <p:nvSpPr>
            <p:cNvPr id="52" name="rd508"/>
            <p:cNvSpPr/>
            <p:nvPr/>
          </p:nvSpPr>
          <p:spPr>
            <a:xfrm>
              <a:off x="2788920" y="352044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3" name="rd509"/>
            <p:cNvSpPr/>
            <p:nvPr/>
          </p:nvSpPr>
          <p:spPr>
            <a:xfrm>
              <a:off x="290779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5</a:t>
              </a:r>
            </a:p>
          </p:txBody>
        </p:sp>
        <p:sp>
          <p:nvSpPr>
            <p:cNvPr id="54" name="rd510"/>
            <p:cNvSpPr txBox="1"/>
            <p:nvPr/>
          </p:nvSpPr>
          <p:spPr>
            <a:xfrm>
              <a:off x="2907792" y="403250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Lower Ontology</a:t>
              </a:r>
            </a:p>
          </p:txBody>
        </p:sp>
        <p:sp>
          <p:nvSpPr>
            <p:cNvPr id="55" name="rd511"/>
            <p:cNvSpPr txBox="1"/>
            <p:nvPr/>
          </p:nvSpPr>
          <p:spPr>
            <a:xfrm>
              <a:off x="2907792" y="450799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Organise domain-specific concepts and their relationships.</a:t>
              </a:r>
              <a:endParaRPr lang="en-IN" sz="900">
                <a:solidFill>
                  <a:srgbClr val="231F20"/>
                </a:solidFill>
                <a:latin typeface="Raleway" pitchFamily="2" charset="0"/>
              </a:endParaRPr>
            </a:p>
          </p:txBody>
        </p:sp>
      </p:grpSp>
      <p:cxnSp>
        <p:nvCxnSpPr>
          <p:cNvPr id="57" name="rd513"/>
          <p:cNvCxnSpPr/>
          <p:nvPr/>
        </p:nvCxnSpPr>
        <p:spPr>
          <a:xfrm>
            <a:off x="4834128" y="4457700"/>
            <a:ext cx="237744"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62" name="rd518"/>
          <p:cNvGrpSpPr/>
          <p:nvPr/>
        </p:nvGrpSpPr>
        <p:grpSpPr>
          <a:xfrm>
            <a:off x="5090160" y="3520440"/>
            <a:ext cx="2026920" cy="1874520"/>
            <a:chOff x="5090160" y="3520440"/>
            <a:chExt cx="2026920" cy="1874520"/>
          </a:xfrm>
        </p:grpSpPr>
        <p:sp>
          <p:nvSpPr>
            <p:cNvPr id="58" name="rd514"/>
            <p:cNvSpPr/>
            <p:nvPr/>
          </p:nvSpPr>
          <p:spPr>
            <a:xfrm>
              <a:off x="5090160" y="352044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9" name="rd515"/>
            <p:cNvSpPr/>
            <p:nvPr/>
          </p:nvSpPr>
          <p:spPr>
            <a:xfrm>
              <a:off x="520903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6</a:t>
              </a:r>
            </a:p>
          </p:txBody>
        </p:sp>
        <p:sp>
          <p:nvSpPr>
            <p:cNvPr id="60" name="rd516"/>
            <p:cNvSpPr txBox="1"/>
            <p:nvPr/>
          </p:nvSpPr>
          <p:spPr>
            <a:xfrm>
              <a:off x="5209032" y="403250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Upper Ontology</a:t>
              </a:r>
            </a:p>
          </p:txBody>
        </p:sp>
        <p:sp>
          <p:nvSpPr>
            <p:cNvPr id="61" name="rd517"/>
            <p:cNvSpPr txBox="1"/>
            <p:nvPr/>
          </p:nvSpPr>
          <p:spPr>
            <a:xfrm>
              <a:off x="5209032" y="450799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Generalise the lower ontology into broader, cross-domain concepts.</a:t>
              </a:r>
              <a:endParaRPr lang="en-IN" sz="900">
                <a:solidFill>
                  <a:srgbClr val="231F20"/>
                </a:solidFill>
                <a:latin typeface="Raleway" pitchFamily="2" charset="0"/>
              </a:endParaRPr>
            </a:p>
          </p:txBody>
        </p:sp>
      </p:grpSp>
      <p:cxnSp>
        <p:nvCxnSpPr>
          <p:cNvPr id="63" name="rd519"/>
          <p:cNvCxnSpPr/>
          <p:nvPr/>
        </p:nvCxnSpPr>
        <p:spPr>
          <a:xfrm>
            <a:off x="7135368" y="4457700"/>
            <a:ext cx="237744"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68" name="rd524"/>
          <p:cNvGrpSpPr/>
          <p:nvPr/>
        </p:nvGrpSpPr>
        <p:grpSpPr>
          <a:xfrm>
            <a:off x="7391400" y="3520440"/>
            <a:ext cx="2026920" cy="1874520"/>
            <a:chOff x="7391400" y="3520440"/>
            <a:chExt cx="2026920" cy="1874520"/>
          </a:xfrm>
        </p:grpSpPr>
        <p:sp>
          <p:nvSpPr>
            <p:cNvPr id="64" name="rd520"/>
            <p:cNvSpPr/>
            <p:nvPr/>
          </p:nvSpPr>
          <p:spPr>
            <a:xfrm>
              <a:off x="7391400" y="3520440"/>
              <a:ext cx="2026920"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5" name="rd521"/>
            <p:cNvSpPr/>
            <p:nvPr/>
          </p:nvSpPr>
          <p:spPr>
            <a:xfrm>
              <a:off x="751027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7</a:t>
              </a:r>
            </a:p>
          </p:txBody>
        </p:sp>
        <p:sp>
          <p:nvSpPr>
            <p:cNvPr id="66" name="rd522"/>
            <p:cNvSpPr txBox="1"/>
            <p:nvPr/>
          </p:nvSpPr>
          <p:spPr>
            <a:xfrm>
              <a:off x="7510272" y="4032504"/>
              <a:ext cx="1789176"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Populating KAG</a:t>
              </a:r>
            </a:p>
          </p:txBody>
        </p:sp>
        <p:sp>
          <p:nvSpPr>
            <p:cNvPr id="67" name="rd523"/>
            <p:cNvSpPr txBox="1"/>
            <p:nvPr/>
          </p:nvSpPr>
          <p:spPr>
            <a:xfrm>
              <a:off x="7510272" y="4507992"/>
              <a:ext cx="1789176"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Publish model, metadata and ontologies as the knowledge graph used at runtime.</a:t>
              </a:r>
              <a:endParaRPr lang="en-IN" sz="900">
                <a:solidFill>
                  <a:srgbClr val="231F20"/>
                </a:solidFill>
                <a:latin typeface="Raleway" pitchFamily="2" charset="0"/>
              </a:endParaRPr>
            </a:p>
          </p:txBody>
        </p:sp>
      </p:grpSp>
    </p:spTree>
    <p:extLst>
      <p:ext uri="{BB962C8B-B14F-4D97-AF65-F5344CB8AC3E}">
        <p14:creationId xmlns:p14="http://schemas.microsoft.com/office/powerpoint/2010/main" val="370648771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3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45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300"/>
                                        <p:tgtEl>
                                          <p:spTgt spid="33"/>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4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left)">
                                      <p:cBhvr>
                                        <p:cTn id="30" dur="300"/>
                                        <p:tgtEl>
                                          <p:spTgt spid="39"/>
                                        </p:tgtEl>
                                      </p:cBhvr>
                                    </p:animEffect>
                                  </p:childTnLst>
                                </p:cTn>
                              </p:par>
                            </p:childTnLst>
                          </p:cTn>
                        </p:par>
                        <p:par>
                          <p:cTn id="31" fill="hold">
                            <p:stCondLst>
                              <p:cond delay="300"/>
                            </p:stCondLst>
                            <p:childTnLst>
                              <p:par>
                                <p:cTn id="32" presetID="10" presetClass="entr" presetSubtype="0" fill="hold" nodeType="after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4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left)">
                                      <p:cBhvr>
                                        <p:cTn id="39" dur="300"/>
                                        <p:tgtEl>
                                          <p:spTgt spid="45"/>
                                        </p:tgtEl>
                                      </p:cBhvr>
                                    </p:animEffect>
                                  </p:childTnLst>
                                </p:cTn>
                              </p:par>
                            </p:childTnLst>
                          </p:cTn>
                        </p:par>
                        <p:par>
                          <p:cTn id="40" fill="hold">
                            <p:stCondLst>
                              <p:cond delay="300"/>
                            </p:stCondLst>
                            <p:childTnLst>
                              <p:par>
                                <p:cTn id="41" presetID="10" presetClass="entr" presetSubtype="0" fill="hold"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400"/>
                                        <p:tgtEl>
                                          <p:spTgt spid="5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fade">
                                      <p:cBhvr>
                                        <p:cTn id="48" dur="400"/>
                                        <p:tgtEl>
                                          <p:spTgt spid="51"/>
                                        </p:tgtEl>
                                      </p:cBhvr>
                                    </p:animEffect>
                                  </p:childTnLst>
                                </p:cTn>
                              </p:par>
                            </p:childTnLst>
                          </p:cTn>
                        </p:par>
                        <p:par>
                          <p:cTn id="49" fill="hold">
                            <p:stCondLst>
                              <p:cond delay="400"/>
                            </p:stCondLst>
                            <p:childTnLst>
                              <p:par>
                                <p:cTn id="50" presetID="10" presetClass="entr" presetSubtype="0" fill="hold" nodeType="after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400"/>
                                        <p:tgtEl>
                                          <p:spTgt spid="5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wipe(left)">
                                      <p:cBhvr>
                                        <p:cTn id="57" dur="300"/>
                                        <p:tgtEl>
                                          <p:spTgt spid="57"/>
                                        </p:tgtEl>
                                      </p:cBhvr>
                                    </p:animEffect>
                                  </p:childTnLst>
                                </p:cTn>
                              </p:par>
                            </p:childTnLst>
                          </p:cTn>
                        </p:par>
                        <p:par>
                          <p:cTn id="58" fill="hold">
                            <p:stCondLst>
                              <p:cond delay="300"/>
                            </p:stCondLst>
                            <p:childTnLst>
                              <p:par>
                                <p:cTn id="59" presetID="10" presetClass="entr" presetSubtype="0" fill="hold" nodeType="after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fade">
                                      <p:cBhvr>
                                        <p:cTn id="61" dur="400"/>
                                        <p:tgtEl>
                                          <p:spTgt spid="6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wipe(left)">
                                      <p:cBhvr>
                                        <p:cTn id="66" dur="300"/>
                                        <p:tgtEl>
                                          <p:spTgt spid="63"/>
                                        </p:tgtEl>
                                      </p:cBhvr>
                                    </p:animEffect>
                                  </p:childTnLst>
                                </p:cTn>
                              </p:par>
                            </p:childTnLst>
                          </p:cTn>
                        </p:par>
                        <p:par>
                          <p:cTn id="67" fill="hold">
                            <p:stCondLst>
                              <p:cond delay="300"/>
                            </p:stCondLst>
                            <p:childTnLst>
                              <p:par>
                                <p:cTn id="68" presetID="10" presetClass="entr" presetSubtype="0" fill="hold" nodeType="after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fade">
                                      <p:cBhvr>
                                        <p:cTn id="70" dur="400"/>
                                        <p:tgtEl>
                                          <p:spTgt spid="6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300"/>
                                        <p:tgtEl>
                                          <p:spTgt spid="22"/>
                                        </p:tgtEl>
                                      </p:cBhvr>
                                    </p:animEffect>
                                  </p:childTnLst>
                                </p:cTn>
                              </p:par>
                            </p:childTnLst>
                          </p:cTn>
                        </p:par>
                        <p:par>
                          <p:cTn id="76" fill="hold">
                            <p:stCondLst>
                              <p:cond delay="300"/>
                            </p:stCondLst>
                            <p:childTnLst>
                              <p:par>
                                <p:cTn id="77" presetID="10" presetClass="entr" presetSubtype="0" fill="hold"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450"/>
                                        <p:tgtEl>
                                          <p:spTgt spid="21"/>
                                        </p:tgtEl>
                                      </p:cBhvr>
                                    </p:animEffect>
                                  </p:childTnLst>
                                </p:cTn>
                              </p:par>
                            </p:childTnLst>
                          </p:cTn>
                        </p:par>
                        <p:par>
                          <p:cTn id="80" fill="hold">
                            <p:stCondLst>
                              <p:cond delay="750"/>
                            </p:stCondLst>
                            <p:childTnLst>
                              <p:par>
                                <p:cTn id="81" presetID="10" presetClass="entr" presetSubtype="0" fill="hold"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5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525"/>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526"/>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527"/>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KAG grounds every answer in domain knowledge</a:t>
            </a:r>
            <a:endParaRPr lang="en-IN" sz="2200" b="1">
              <a:solidFill>
                <a:srgbClr val="FFFFFF"/>
              </a:solidFill>
              <a:latin typeface="Raleway" pitchFamily="2" charset="0"/>
            </a:endParaRPr>
          </a:p>
        </p:txBody>
      </p:sp>
      <p:sp>
        <p:nvSpPr>
          <p:cNvPr id="5" name="rd528"/>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529"/>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10  |  Radiant Digital  •  Confidential  •  All Rights Reserved  •  2026</a:t>
            </a:r>
            <a:endParaRPr lang="en-IN" sz="700">
              <a:solidFill>
                <a:srgbClr val="FFFFFF"/>
              </a:solidFill>
              <a:latin typeface="Raleway" pitchFamily="2" charset="0"/>
            </a:endParaRPr>
          </a:p>
        </p:txBody>
      </p:sp>
      <p:pic>
        <p:nvPicPr>
          <p:cNvPr id="7" name="rd53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531"/>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BUILD TIME  |  STEP 2</a:t>
            </a:r>
          </a:p>
        </p:txBody>
      </p:sp>
      <p:sp>
        <p:nvSpPr>
          <p:cNvPr id="9" name="rd532"/>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Knowledge-Augmented Generation (KAG) stores four knowledge layers that the Insights Server reads as context at runtime.</a:t>
            </a:r>
            <a:endParaRPr lang="en-IN" sz="1100">
              <a:solidFill>
                <a:srgbClr val="231F20"/>
              </a:solidFill>
              <a:latin typeface="Raleway" pitchFamily="2" charset="0"/>
            </a:endParaRPr>
          </a:p>
        </p:txBody>
      </p:sp>
      <p:grpSp>
        <p:nvGrpSpPr>
          <p:cNvPr id="15" name="rd538"/>
          <p:cNvGrpSpPr/>
          <p:nvPr/>
        </p:nvGrpSpPr>
        <p:grpSpPr>
          <a:xfrm>
            <a:off x="457200" y="1143000"/>
            <a:ext cx="2103120" cy="4297680"/>
            <a:chOff x="457200" y="1143000"/>
            <a:chExt cx="2103120" cy="4297680"/>
          </a:xfrm>
        </p:grpSpPr>
        <p:sp>
          <p:nvSpPr>
            <p:cNvPr id="10" name="rd533"/>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534"/>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535"/>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Populating KAG (Data Factory stage 7)</a:t>
              </a:r>
              <a:endParaRPr lang="en-IN" sz="950">
                <a:solidFill>
                  <a:srgbClr val="231F20"/>
                </a:solidFill>
                <a:latin typeface="Raleway" pitchFamily="2" charset="0"/>
              </a:endParaRPr>
            </a:p>
          </p:txBody>
        </p:sp>
        <p:sp>
          <p:nvSpPr>
            <p:cNvPr id="13" name="rd536"/>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231F20"/>
                  </a:solidFill>
                  <a:latin typeface="Raleway" pitchFamily="2" charset="0"/>
                </a:rPr>
                <a:t>Domain model and metadata</a:t>
              </a:r>
            </a:p>
          </p:txBody>
        </p:sp>
        <p:sp>
          <p:nvSpPr>
            <p:cNvPr id="14" name="rd537"/>
            <p:cNvSpPr/>
            <p:nvPr/>
          </p:nvSpPr>
          <p:spPr>
            <a:xfrm>
              <a:off x="566928" y="3419856"/>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231F20"/>
                  </a:solidFill>
                  <a:latin typeface="Raleway" pitchFamily="2" charset="0"/>
                </a:rPr>
                <a:t>Lower and upper ontologies</a:t>
              </a:r>
            </a:p>
          </p:txBody>
        </p:sp>
      </p:grpSp>
      <p:sp>
        <p:nvSpPr>
          <p:cNvPr id="16" name="rd539"/>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2" name="rd545"/>
          <p:cNvGrpSpPr/>
          <p:nvPr/>
        </p:nvGrpSpPr>
        <p:grpSpPr>
          <a:xfrm>
            <a:off x="9628632" y="1143000"/>
            <a:ext cx="2103120" cy="4297680"/>
            <a:chOff x="9628632" y="1143000"/>
            <a:chExt cx="2103120" cy="4297680"/>
          </a:xfrm>
        </p:grpSpPr>
        <p:sp>
          <p:nvSpPr>
            <p:cNvPr id="17" name="rd540"/>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8" name="rd541"/>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9" name="rd542"/>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Context for intent classification</a:t>
              </a:r>
            </a:p>
          </p:txBody>
        </p:sp>
        <p:sp>
          <p:nvSpPr>
            <p:cNvPr id="20" name="rd543"/>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Grounding for Cypher query generation</a:t>
              </a:r>
              <a:endParaRPr lang="en-IN" sz="950">
                <a:solidFill>
                  <a:srgbClr val="FFFFFF"/>
                </a:solidFill>
                <a:latin typeface="Raleway" pitchFamily="2" charset="0"/>
              </a:endParaRPr>
            </a:p>
          </p:txBody>
        </p:sp>
        <p:sp>
          <p:nvSpPr>
            <p:cNvPr id="21" name="rd544"/>
            <p:cNvSpPr/>
            <p:nvPr/>
          </p:nvSpPr>
          <p:spPr>
            <a:xfrm>
              <a:off x="9738360" y="3419856"/>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Shared vocabulary across use cases</a:t>
              </a:r>
              <a:endParaRPr lang="en-IN" sz="950">
                <a:solidFill>
                  <a:srgbClr val="FFFFFF"/>
                </a:solidFill>
                <a:latin typeface="Raleway" pitchFamily="2" charset="0"/>
              </a:endParaRPr>
            </a:p>
          </p:txBody>
        </p:sp>
      </p:grpSp>
      <p:sp>
        <p:nvSpPr>
          <p:cNvPr id="23" name="rd546"/>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8" name="rd551"/>
          <p:cNvGrpSpPr/>
          <p:nvPr/>
        </p:nvGrpSpPr>
        <p:grpSpPr>
          <a:xfrm>
            <a:off x="457200" y="5623560"/>
            <a:ext cx="11265408" cy="731520"/>
            <a:chOff x="457200" y="5623560"/>
            <a:chExt cx="11265408" cy="731520"/>
          </a:xfrm>
        </p:grpSpPr>
        <p:sp>
          <p:nvSpPr>
            <p:cNvPr id="24" name="rd547"/>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5" name="rd548"/>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Upstream:</a:t>
              </a:r>
              <a:r>
                <a:rPr lang="en-IN" sz="950">
                  <a:solidFill>
                    <a:srgbClr val="231F20"/>
                  </a:solidFill>
                  <a:latin typeface="Raleway" pitchFamily="2" charset="0"/>
                </a:rPr>
                <a:t> Data Factory</a:t>
              </a:r>
            </a:p>
          </p:txBody>
        </p:sp>
        <p:sp>
          <p:nvSpPr>
            <p:cNvPr id="26" name="rd549"/>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Downstream:</a:t>
              </a:r>
              <a:r>
                <a:rPr lang="en-IN" sz="950">
                  <a:solidFill>
                    <a:srgbClr val="231F20"/>
                  </a:solidFill>
                  <a:latin typeface="Raleway" pitchFamily="2" charset="0"/>
                </a:rPr>
                <a:t> Insights Server (Context)</a:t>
              </a:r>
            </a:p>
          </p:txBody>
        </p:sp>
        <p:sp>
          <p:nvSpPr>
            <p:cNvPr id="27" name="rd550"/>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Read:</a:t>
              </a:r>
              <a:r>
                <a:rPr lang="en-US" sz="950">
                  <a:solidFill>
                    <a:srgbClr val="231F20"/>
                  </a:solidFill>
                  <a:latin typeface="Raleway" pitchFamily="2" charset="0"/>
                </a:rPr>
                <a:t> on every runtime request</a:t>
              </a:r>
              <a:endParaRPr lang="en-IN" sz="950">
                <a:solidFill>
                  <a:srgbClr val="231F20"/>
                </a:solidFill>
                <a:latin typeface="Raleway" pitchFamily="2" charset="0"/>
              </a:endParaRPr>
            </a:p>
          </p:txBody>
        </p:sp>
      </p:grpSp>
      <p:sp>
        <p:nvSpPr>
          <p:cNvPr id="29" name="rd552"/>
          <p:cNvSpPr txBox="1"/>
          <p:nvPr/>
        </p:nvSpPr>
        <p:spPr>
          <a:xfrm>
            <a:off x="2788920" y="1143000"/>
            <a:ext cx="3657600" cy="228600"/>
          </a:xfrm>
          <a:prstGeom prst="rect">
            <a:avLst/>
          </a:prstGeom>
          <a:noFill/>
        </p:spPr>
        <p:txBody>
          <a:bodyPr vert="horz" wrap="square" lIns="0" tIns="0" rIns="0" bIns="0" rtlCol="0" anchor="t">
            <a:noAutofit/>
          </a:bodyPr>
          <a:lstStyle/>
          <a:p>
            <a:r>
              <a:rPr lang="en-IN" sz="850" b="1">
                <a:solidFill>
                  <a:srgbClr val="0596AE"/>
                </a:solidFill>
                <a:latin typeface="Raleway" pitchFamily="2" charset="0"/>
              </a:rPr>
              <a:t>KNOWLEDGE LAYERS</a:t>
            </a:r>
          </a:p>
        </p:txBody>
      </p:sp>
      <p:sp>
        <p:nvSpPr>
          <p:cNvPr id="30" name="rd553"/>
          <p:cNvSpPr txBox="1"/>
          <p:nvPr/>
        </p:nvSpPr>
        <p:spPr>
          <a:xfrm>
            <a:off x="6903720" y="1143000"/>
            <a:ext cx="2468880" cy="228600"/>
          </a:xfrm>
          <a:prstGeom prst="rect">
            <a:avLst/>
          </a:prstGeom>
          <a:noFill/>
        </p:spPr>
        <p:txBody>
          <a:bodyPr vert="horz" wrap="square" lIns="0" tIns="0" rIns="0" bIns="0" rtlCol="0" anchor="t">
            <a:noAutofit/>
          </a:bodyPr>
          <a:lstStyle/>
          <a:p>
            <a:r>
              <a:rPr lang="en-IN" sz="850" b="1">
                <a:solidFill>
                  <a:srgbClr val="0596AE"/>
                </a:solidFill>
                <a:latin typeface="Raleway" pitchFamily="2" charset="0"/>
              </a:rPr>
              <a:t>WHAT IT HOLDS</a:t>
            </a:r>
          </a:p>
        </p:txBody>
      </p:sp>
      <p:grpSp>
        <p:nvGrpSpPr>
          <p:cNvPr id="34" name="rd557"/>
          <p:cNvGrpSpPr/>
          <p:nvPr/>
        </p:nvGrpSpPr>
        <p:grpSpPr>
          <a:xfrm>
            <a:off x="2834640" y="4434840"/>
            <a:ext cx="6537960" cy="868680"/>
            <a:chOff x="2834640" y="4434840"/>
            <a:chExt cx="6537960" cy="868680"/>
          </a:xfrm>
        </p:grpSpPr>
        <p:sp>
          <p:nvSpPr>
            <p:cNvPr id="31" name="rd554"/>
            <p:cNvSpPr/>
            <p:nvPr/>
          </p:nvSpPr>
          <p:spPr>
            <a:xfrm>
              <a:off x="2834640" y="4434840"/>
              <a:ext cx="3840480" cy="868680"/>
            </a:xfrm>
            <a:prstGeom prst="roundRect">
              <a:avLst>
                <a:gd name="adj" fmla="val 12000"/>
              </a:avLst>
            </a:prstGeom>
            <a:solidFill>
              <a:srgbClr val="074661"/>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FFFFFF"/>
                  </a:solidFill>
                  <a:latin typeface="Raleway" pitchFamily="2" charset="0"/>
                </a:rPr>
                <a:t>1   Domain Model</a:t>
              </a:r>
            </a:p>
          </p:txBody>
        </p:sp>
        <p:cxnSp>
          <p:nvCxnSpPr>
            <p:cNvPr id="32" name="rd555"/>
            <p:cNvCxnSpPr/>
            <p:nvPr/>
          </p:nvCxnSpPr>
          <p:spPr>
            <a:xfrm>
              <a:off x="6720840" y="4869180"/>
              <a:ext cx="91440" cy="0"/>
            </a:xfrm>
            <a:prstGeom prst="line">
              <a:avLst/>
            </a:prstGeom>
            <a:ln w="9525">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33" name="rd556"/>
            <p:cNvSpPr txBox="1"/>
            <p:nvPr/>
          </p:nvSpPr>
          <p:spPr>
            <a:xfrm>
              <a:off x="6903720" y="4434840"/>
              <a:ext cx="2468880" cy="868680"/>
            </a:xfrm>
            <a:prstGeom prst="rect">
              <a:avLst/>
            </a:prstGeom>
            <a:noFill/>
          </p:spPr>
          <p:txBody>
            <a:bodyPr vert="horz" wrap="square" lIns="0" tIns="0" rIns="0" bIns="0" rtlCol="0" anchor="ctr">
              <a:noAutofit/>
            </a:bodyPr>
            <a:lstStyle/>
            <a:p>
              <a:r>
                <a:rPr lang="en-US" sz="950">
                  <a:solidFill>
                    <a:srgbClr val="231F20"/>
                  </a:solidFill>
                  <a:latin typeface="Raleway" pitchFamily="2" charset="0"/>
                </a:rPr>
                <a:t>Entities, attributes and relationships of the business domain.</a:t>
              </a:r>
              <a:endParaRPr lang="en-IN" sz="950">
                <a:solidFill>
                  <a:srgbClr val="231F20"/>
                </a:solidFill>
                <a:latin typeface="Raleway" pitchFamily="2" charset="0"/>
              </a:endParaRPr>
            </a:p>
          </p:txBody>
        </p:sp>
      </p:grpSp>
      <p:grpSp>
        <p:nvGrpSpPr>
          <p:cNvPr id="38" name="rd561"/>
          <p:cNvGrpSpPr/>
          <p:nvPr/>
        </p:nvGrpSpPr>
        <p:grpSpPr>
          <a:xfrm>
            <a:off x="3108960" y="3429000"/>
            <a:ext cx="6263640" cy="868680"/>
            <a:chOff x="3108960" y="3429000"/>
            <a:chExt cx="6263640" cy="868680"/>
          </a:xfrm>
        </p:grpSpPr>
        <p:sp>
          <p:nvSpPr>
            <p:cNvPr id="35" name="rd558"/>
            <p:cNvSpPr/>
            <p:nvPr/>
          </p:nvSpPr>
          <p:spPr>
            <a:xfrm>
              <a:off x="3108960" y="3429000"/>
              <a:ext cx="3291840" cy="868680"/>
            </a:xfrm>
            <a:prstGeom prst="roundRect">
              <a:avLst>
                <a:gd name="adj" fmla="val 12000"/>
              </a:avLst>
            </a:prstGeom>
            <a:solidFill>
              <a:srgbClr val="0596AE"/>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FFFFFF"/>
                  </a:solidFill>
                  <a:latin typeface="Raleway" pitchFamily="2" charset="0"/>
                </a:rPr>
                <a:t>2   Metadata</a:t>
              </a:r>
            </a:p>
          </p:txBody>
        </p:sp>
        <p:cxnSp>
          <p:nvCxnSpPr>
            <p:cNvPr id="36" name="rd559"/>
            <p:cNvCxnSpPr/>
            <p:nvPr/>
          </p:nvCxnSpPr>
          <p:spPr>
            <a:xfrm>
              <a:off x="6446520" y="3863340"/>
              <a:ext cx="365760" cy="0"/>
            </a:xfrm>
            <a:prstGeom prst="line">
              <a:avLst/>
            </a:prstGeom>
            <a:ln w="9525">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37" name="rd560"/>
            <p:cNvSpPr txBox="1"/>
            <p:nvPr/>
          </p:nvSpPr>
          <p:spPr>
            <a:xfrm>
              <a:off x="6903720" y="3429000"/>
              <a:ext cx="2468880" cy="868680"/>
            </a:xfrm>
            <a:prstGeom prst="rect">
              <a:avLst/>
            </a:prstGeom>
            <a:noFill/>
          </p:spPr>
          <p:txBody>
            <a:bodyPr vert="horz" wrap="square" lIns="0" tIns="0" rIns="0" bIns="0" rtlCol="0" anchor="ctr">
              <a:noAutofit/>
            </a:bodyPr>
            <a:lstStyle/>
            <a:p>
              <a:r>
                <a:rPr lang="en-US" sz="950">
                  <a:solidFill>
                    <a:srgbClr val="231F20"/>
                  </a:solidFill>
                  <a:latin typeface="Raleway" pitchFamily="2" charset="0"/>
                </a:rPr>
                <a:t>Definitions, data types and business meaning for each entity and attribute.</a:t>
              </a:r>
              <a:endParaRPr lang="en-IN" sz="950">
                <a:solidFill>
                  <a:srgbClr val="231F20"/>
                </a:solidFill>
                <a:latin typeface="Raleway" pitchFamily="2" charset="0"/>
              </a:endParaRPr>
            </a:p>
          </p:txBody>
        </p:sp>
      </p:grpSp>
      <p:grpSp>
        <p:nvGrpSpPr>
          <p:cNvPr id="42" name="rd565"/>
          <p:cNvGrpSpPr/>
          <p:nvPr/>
        </p:nvGrpSpPr>
        <p:grpSpPr>
          <a:xfrm>
            <a:off x="3383280" y="2423160"/>
            <a:ext cx="5989320" cy="868680"/>
            <a:chOff x="3383280" y="2423160"/>
            <a:chExt cx="5989320" cy="868680"/>
          </a:xfrm>
        </p:grpSpPr>
        <p:sp>
          <p:nvSpPr>
            <p:cNvPr id="39" name="rd562"/>
            <p:cNvSpPr/>
            <p:nvPr/>
          </p:nvSpPr>
          <p:spPr>
            <a:xfrm>
              <a:off x="3383280" y="2423160"/>
              <a:ext cx="2743200" cy="868680"/>
            </a:xfrm>
            <a:prstGeom prst="roundRect">
              <a:avLst>
                <a:gd name="adj" fmla="val 12000"/>
              </a:avLst>
            </a:prstGeom>
            <a:solidFill>
              <a:srgbClr val="93C3CD"/>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074661"/>
                  </a:solidFill>
                  <a:latin typeface="Raleway" pitchFamily="2" charset="0"/>
                </a:rPr>
                <a:t>3   Lower Ontology</a:t>
              </a:r>
            </a:p>
          </p:txBody>
        </p:sp>
        <p:cxnSp>
          <p:nvCxnSpPr>
            <p:cNvPr id="40" name="rd563"/>
            <p:cNvCxnSpPr/>
            <p:nvPr/>
          </p:nvCxnSpPr>
          <p:spPr>
            <a:xfrm>
              <a:off x="6172200" y="2857500"/>
              <a:ext cx="640080" cy="0"/>
            </a:xfrm>
            <a:prstGeom prst="line">
              <a:avLst/>
            </a:prstGeom>
            <a:ln w="9525">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41" name="rd564"/>
            <p:cNvSpPr txBox="1"/>
            <p:nvPr/>
          </p:nvSpPr>
          <p:spPr>
            <a:xfrm>
              <a:off x="6903720" y="2423160"/>
              <a:ext cx="2468880" cy="868680"/>
            </a:xfrm>
            <a:prstGeom prst="rect">
              <a:avLst/>
            </a:prstGeom>
            <a:noFill/>
          </p:spPr>
          <p:txBody>
            <a:bodyPr vert="horz" wrap="square" lIns="0" tIns="0" rIns="0" bIns="0" rtlCol="0" anchor="ctr">
              <a:noAutofit/>
            </a:bodyPr>
            <a:lstStyle/>
            <a:p>
              <a:r>
                <a:rPr lang="en-US" sz="950">
                  <a:solidFill>
                    <a:srgbClr val="231F20"/>
                  </a:solidFill>
                  <a:latin typeface="Raleway" pitchFamily="2" charset="0"/>
                </a:rPr>
                <a:t>Domain-specific concepts and relationships used to build precise queries.</a:t>
              </a:r>
              <a:endParaRPr lang="en-IN" sz="950">
                <a:solidFill>
                  <a:srgbClr val="231F20"/>
                </a:solidFill>
                <a:latin typeface="Raleway" pitchFamily="2" charset="0"/>
              </a:endParaRPr>
            </a:p>
          </p:txBody>
        </p:sp>
      </p:grpSp>
      <p:grpSp>
        <p:nvGrpSpPr>
          <p:cNvPr id="46" name="rd569"/>
          <p:cNvGrpSpPr/>
          <p:nvPr/>
        </p:nvGrpSpPr>
        <p:grpSpPr>
          <a:xfrm>
            <a:off x="3657600" y="1417320"/>
            <a:ext cx="5715000" cy="868680"/>
            <a:chOff x="3657600" y="1417320"/>
            <a:chExt cx="5715000" cy="868680"/>
          </a:xfrm>
        </p:grpSpPr>
        <p:sp>
          <p:nvSpPr>
            <p:cNvPr id="43" name="rd566"/>
            <p:cNvSpPr/>
            <p:nvPr/>
          </p:nvSpPr>
          <p:spPr>
            <a:xfrm>
              <a:off x="3657600" y="1417320"/>
              <a:ext cx="2194560" cy="868680"/>
            </a:xfrm>
            <a:prstGeom prst="roundRect">
              <a:avLst>
                <a:gd name="adj" fmla="val 12000"/>
              </a:avLst>
            </a:prstGeom>
            <a:solidFill>
              <a:srgbClr val="E3F1F4"/>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300" b="1">
                  <a:solidFill>
                    <a:srgbClr val="074661"/>
                  </a:solidFill>
                  <a:latin typeface="Raleway" pitchFamily="2" charset="0"/>
                </a:rPr>
                <a:t>4   Upper Ontology</a:t>
              </a:r>
            </a:p>
          </p:txBody>
        </p:sp>
        <p:cxnSp>
          <p:nvCxnSpPr>
            <p:cNvPr id="44" name="rd567"/>
            <p:cNvCxnSpPr/>
            <p:nvPr/>
          </p:nvCxnSpPr>
          <p:spPr>
            <a:xfrm>
              <a:off x="5897880" y="1851660"/>
              <a:ext cx="914400" cy="0"/>
            </a:xfrm>
            <a:prstGeom prst="line">
              <a:avLst/>
            </a:prstGeom>
            <a:ln w="9525">
              <a:solidFill>
                <a:srgbClr val="93C3CD"/>
              </a:solidFill>
              <a:prstDash val="dash"/>
            </a:ln>
          </p:spPr>
          <p:style>
            <a:lnRef idx="1">
              <a:schemeClr val="accent1"/>
            </a:lnRef>
            <a:fillRef idx="0">
              <a:schemeClr val="accent1"/>
            </a:fillRef>
            <a:effectRef idx="0">
              <a:schemeClr val="accent1"/>
            </a:effectRef>
            <a:fontRef idx="minor">
              <a:schemeClr val="tx1"/>
            </a:fontRef>
          </p:style>
        </p:cxnSp>
        <p:sp>
          <p:nvSpPr>
            <p:cNvPr id="45" name="rd568"/>
            <p:cNvSpPr txBox="1"/>
            <p:nvPr/>
          </p:nvSpPr>
          <p:spPr>
            <a:xfrm>
              <a:off x="6903720" y="1417320"/>
              <a:ext cx="2468880" cy="868680"/>
            </a:xfrm>
            <a:prstGeom prst="rect">
              <a:avLst/>
            </a:prstGeom>
            <a:noFill/>
          </p:spPr>
          <p:txBody>
            <a:bodyPr vert="horz" wrap="square" lIns="0" tIns="0" rIns="0" bIns="0" rtlCol="0" anchor="ctr">
              <a:noAutofit/>
            </a:bodyPr>
            <a:lstStyle/>
            <a:p>
              <a:r>
                <a:rPr lang="en-US" sz="950">
                  <a:solidFill>
                    <a:srgbClr val="231F20"/>
                  </a:solidFill>
                  <a:latin typeface="Raleway" pitchFamily="2" charset="0"/>
                </a:rPr>
                <a:t>Broad concepts shared across domains, so an ask maps to business meaning.</a:t>
              </a:r>
              <a:endParaRPr lang="en-IN" sz="950">
                <a:solidFill>
                  <a:srgbClr val="231F20"/>
                </a:solidFill>
                <a:latin typeface="Raleway" pitchFamily="2" charset="0"/>
              </a:endParaRPr>
            </a:p>
          </p:txBody>
        </p:sp>
      </p:grpSp>
    </p:spTree>
    <p:extLst>
      <p:ext uri="{BB962C8B-B14F-4D97-AF65-F5344CB8AC3E}">
        <p14:creationId xmlns:p14="http://schemas.microsoft.com/office/powerpoint/2010/main" val="401990180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3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58" presetClass="entr" presetSubtype="0" accel="100000"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 calcmode="lin" valueType="num">
                                      <p:cBhvr>
                                        <p:cTn id="16" dur="450" fill="hold"/>
                                        <p:tgtEl>
                                          <p:spTgt spid="34"/>
                                        </p:tgtEl>
                                        <p:attrNameLst>
                                          <p:attrName>ppt_w</p:attrName>
                                        </p:attrNameLst>
                                      </p:cBhvr>
                                      <p:tavLst>
                                        <p:tav tm="0">
                                          <p:val>
                                            <p:strVal val="#ppt_w*2.5"/>
                                          </p:val>
                                        </p:tav>
                                        <p:tav tm="100000">
                                          <p:val>
                                            <p:strVal val="#ppt_w"/>
                                          </p:val>
                                        </p:tav>
                                      </p:tavLst>
                                    </p:anim>
                                    <p:anim calcmode="lin" valueType="num">
                                      <p:cBhvr>
                                        <p:cTn id="17" dur="450" fill="hold"/>
                                        <p:tgtEl>
                                          <p:spTgt spid="34"/>
                                        </p:tgtEl>
                                        <p:attrNameLst>
                                          <p:attrName>ppt_h</p:attrName>
                                        </p:attrNameLst>
                                      </p:cBhvr>
                                      <p:tavLst>
                                        <p:tav tm="0">
                                          <p:val>
                                            <p:strVal val="#ppt_h*0.01"/>
                                          </p:val>
                                        </p:tav>
                                        <p:tav tm="100000">
                                          <p:val>
                                            <p:strVal val="#ppt_h"/>
                                          </p:val>
                                        </p:tav>
                                      </p:tavLst>
                                    </p:anim>
                                    <p:anim calcmode="lin" valueType="num">
                                      <p:cBhvr>
                                        <p:cTn id="18" dur="450" fill="hold"/>
                                        <p:tgtEl>
                                          <p:spTgt spid="34"/>
                                        </p:tgtEl>
                                        <p:attrNameLst>
                                          <p:attrName>ppt_x</p:attrName>
                                        </p:attrNameLst>
                                      </p:cBhvr>
                                      <p:tavLst>
                                        <p:tav tm="0">
                                          <p:val>
                                            <p:strVal val="#ppt_x"/>
                                          </p:val>
                                        </p:tav>
                                        <p:tav tm="100000">
                                          <p:val>
                                            <p:strVal val="#ppt_x"/>
                                          </p:val>
                                        </p:tav>
                                      </p:tavLst>
                                    </p:anim>
                                    <p:anim calcmode="lin" valueType="num">
                                      <p:cBhvr>
                                        <p:cTn id="19" dur="450" fill="hold"/>
                                        <p:tgtEl>
                                          <p:spTgt spid="34"/>
                                        </p:tgtEl>
                                        <p:attrNameLst>
                                          <p:attrName>ppt_y</p:attrName>
                                        </p:attrNameLst>
                                      </p:cBhvr>
                                      <p:tavLst>
                                        <p:tav tm="0">
                                          <p:val>
                                            <p:strVal val="#ppt_h+1"/>
                                          </p:val>
                                        </p:tav>
                                        <p:tav tm="100000">
                                          <p:val>
                                            <p:strVal val="#ppt_y"/>
                                          </p:val>
                                        </p:tav>
                                      </p:tavLst>
                                    </p:anim>
                                    <p:animEffect transition="in" filter="fade">
                                      <p:cBhvr>
                                        <p:cTn id="20" dur="45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58" presetClass="entr" presetSubtype="0" accel="100000"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p:cTn id="25" dur="450" fill="hold"/>
                                        <p:tgtEl>
                                          <p:spTgt spid="38"/>
                                        </p:tgtEl>
                                        <p:attrNameLst>
                                          <p:attrName>ppt_w</p:attrName>
                                        </p:attrNameLst>
                                      </p:cBhvr>
                                      <p:tavLst>
                                        <p:tav tm="0">
                                          <p:val>
                                            <p:strVal val="#ppt_w*2.5"/>
                                          </p:val>
                                        </p:tav>
                                        <p:tav tm="100000">
                                          <p:val>
                                            <p:strVal val="#ppt_w"/>
                                          </p:val>
                                        </p:tav>
                                      </p:tavLst>
                                    </p:anim>
                                    <p:anim calcmode="lin" valueType="num">
                                      <p:cBhvr>
                                        <p:cTn id="26" dur="450" fill="hold"/>
                                        <p:tgtEl>
                                          <p:spTgt spid="38"/>
                                        </p:tgtEl>
                                        <p:attrNameLst>
                                          <p:attrName>ppt_h</p:attrName>
                                        </p:attrNameLst>
                                      </p:cBhvr>
                                      <p:tavLst>
                                        <p:tav tm="0">
                                          <p:val>
                                            <p:strVal val="#ppt_h*0.01"/>
                                          </p:val>
                                        </p:tav>
                                        <p:tav tm="100000">
                                          <p:val>
                                            <p:strVal val="#ppt_h"/>
                                          </p:val>
                                        </p:tav>
                                      </p:tavLst>
                                    </p:anim>
                                    <p:anim calcmode="lin" valueType="num">
                                      <p:cBhvr>
                                        <p:cTn id="27" dur="450" fill="hold"/>
                                        <p:tgtEl>
                                          <p:spTgt spid="38"/>
                                        </p:tgtEl>
                                        <p:attrNameLst>
                                          <p:attrName>ppt_x</p:attrName>
                                        </p:attrNameLst>
                                      </p:cBhvr>
                                      <p:tavLst>
                                        <p:tav tm="0">
                                          <p:val>
                                            <p:strVal val="#ppt_x"/>
                                          </p:val>
                                        </p:tav>
                                        <p:tav tm="100000">
                                          <p:val>
                                            <p:strVal val="#ppt_x"/>
                                          </p:val>
                                        </p:tav>
                                      </p:tavLst>
                                    </p:anim>
                                    <p:anim calcmode="lin" valueType="num">
                                      <p:cBhvr>
                                        <p:cTn id="28" dur="450" fill="hold"/>
                                        <p:tgtEl>
                                          <p:spTgt spid="38"/>
                                        </p:tgtEl>
                                        <p:attrNameLst>
                                          <p:attrName>ppt_y</p:attrName>
                                        </p:attrNameLst>
                                      </p:cBhvr>
                                      <p:tavLst>
                                        <p:tav tm="0">
                                          <p:val>
                                            <p:strVal val="#ppt_h+1"/>
                                          </p:val>
                                        </p:tav>
                                        <p:tav tm="100000">
                                          <p:val>
                                            <p:strVal val="#ppt_y"/>
                                          </p:val>
                                        </p:tav>
                                      </p:tavLst>
                                    </p:anim>
                                    <p:animEffect transition="in" filter="fade">
                                      <p:cBhvr>
                                        <p:cTn id="29" dur="450"/>
                                        <p:tgtEl>
                                          <p:spTgt spid="38"/>
                                        </p:tgtEl>
                                      </p:cBhvr>
                                    </p:animEffect>
                                  </p:childTnLst>
                                </p:cTn>
                              </p:par>
                            </p:childTnLst>
                          </p:cTn>
                        </p:par>
                      </p:childTnLst>
                    </p:cTn>
                  </p:par>
                  <p:par>
                    <p:cTn id="30" fill="hold">
                      <p:stCondLst>
                        <p:cond delay="indefinite"/>
                      </p:stCondLst>
                      <p:childTnLst>
                        <p:par>
                          <p:cTn id="31" fill="hold">
                            <p:stCondLst>
                              <p:cond delay="0"/>
                            </p:stCondLst>
                            <p:childTnLst>
                              <p:par>
                                <p:cTn id="32" presetID="58" presetClass="entr" presetSubtype="0" accel="100000" fill="hold" nodeType="clickEffect">
                                  <p:stCondLst>
                                    <p:cond delay="0"/>
                                  </p:stCondLst>
                                  <p:childTnLst>
                                    <p:set>
                                      <p:cBhvr>
                                        <p:cTn id="33" dur="1" fill="hold">
                                          <p:stCondLst>
                                            <p:cond delay="0"/>
                                          </p:stCondLst>
                                        </p:cTn>
                                        <p:tgtEl>
                                          <p:spTgt spid="42"/>
                                        </p:tgtEl>
                                        <p:attrNameLst>
                                          <p:attrName>style.visibility</p:attrName>
                                        </p:attrNameLst>
                                      </p:cBhvr>
                                      <p:to>
                                        <p:strVal val="visible"/>
                                      </p:to>
                                    </p:set>
                                    <p:anim calcmode="lin" valueType="num">
                                      <p:cBhvr>
                                        <p:cTn id="34" dur="450" fill="hold"/>
                                        <p:tgtEl>
                                          <p:spTgt spid="42"/>
                                        </p:tgtEl>
                                        <p:attrNameLst>
                                          <p:attrName>ppt_w</p:attrName>
                                        </p:attrNameLst>
                                      </p:cBhvr>
                                      <p:tavLst>
                                        <p:tav tm="0">
                                          <p:val>
                                            <p:strVal val="#ppt_w*2.5"/>
                                          </p:val>
                                        </p:tav>
                                        <p:tav tm="100000">
                                          <p:val>
                                            <p:strVal val="#ppt_w"/>
                                          </p:val>
                                        </p:tav>
                                      </p:tavLst>
                                    </p:anim>
                                    <p:anim calcmode="lin" valueType="num">
                                      <p:cBhvr>
                                        <p:cTn id="35" dur="450" fill="hold"/>
                                        <p:tgtEl>
                                          <p:spTgt spid="42"/>
                                        </p:tgtEl>
                                        <p:attrNameLst>
                                          <p:attrName>ppt_h</p:attrName>
                                        </p:attrNameLst>
                                      </p:cBhvr>
                                      <p:tavLst>
                                        <p:tav tm="0">
                                          <p:val>
                                            <p:strVal val="#ppt_h*0.01"/>
                                          </p:val>
                                        </p:tav>
                                        <p:tav tm="100000">
                                          <p:val>
                                            <p:strVal val="#ppt_h"/>
                                          </p:val>
                                        </p:tav>
                                      </p:tavLst>
                                    </p:anim>
                                    <p:anim calcmode="lin" valueType="num">
                                      <p:cBhvr>
                                        <p:cTn id="36" dur="450" fill="hold"/>
                                        <p:tgtEl>
                                          <p:spTgt spid="42"/>
                                        </p:tgtEl>
                                        <p:attrNameLst>
                                          <p:attrName>ppt_x</p:attrName>
                                        </p:attrNameLst>
                                      </p:cBhvr>
                                      <p:tavLst>
                                        <p:tav tm="0">
                                          <p:val>
                                            <p:strVal val="#ppt_x"/>
                                          </p:val>
                                        </p:tav>
                                        <p:tav tm="100000">
                                          <p:val>
                                            <p:strVal val="#ppt_x"/>
                                          </p:val>
                                        </p:tav>
                                      </p:tavLst>
                                    </p:anim>
                                    <p:anim calcmode="lin" valueType="num">
                                      <p:cBhvr>
                                        <p:cTn id="37" dur="450" fill="hold"/>
                                        <p:tgtEl>
                                          <p:spTgt spid="42"/>
                                        </p:tgtEl>
                                        <p:attrNameLst>
                                          <p:attrName>ppt_y</p:attrName>
                                        </p:attrNameLst>
                                      </p:cBhvr>
                                      <p:tavLst>
                                        <p:tav tm="0">
                                          <p:val>
                                            <p:strVal val="#ppt_h+1"/>
                                          </p:val>
                                        </p:tav>
                                        <p:tav tm="100000">
                                          <p:val>
                                            <p:strVal val="#ppt_y"/>
                                          </p:val>
                                        </p:tav>
                                      </p:tavLst>
                                    </p:anim>
                                    <p:animEffect transition="in" filter="fade">
                                      <p:cBhvr>
                                        <p:cTn id="38" dur="450"/>
                                        <p:tgtEl>
                                          <p:spTgt spid="42"/>
                                        </p:tgtEl>
                                      </p:cBhvr>
                                    </p:animEffect>
                                  </p:childTnLst>
                                </p:cTn>
                              </p:par>
                            </p:childTnLst>
                          </p:cTn>
                        </p:par>
                      </p:childTnLst>
                    </p:cTn>
                  </p:par>
                  <p:par>
                    <p:cTn id="39" fill="hold">
                      <p:stCondLst>
                        <p:cond delay="indefinite"/>
                      </p:stCondLst>
                      <p:childTnLst>
                        <p:par>
                          <p:cTn id="40" fill="hold">
                            <p:stCondLst>
                              <p:cond delay="0"/>
                            </p:stCondLst>
                            <p:childTnLst>
                              <p:par>
                                <p:cTn id="41" presetID="58" presetClass="entr" presetSubtype="0" accel="100000" fill="hold" nodeType="clickEffect">
                                  <p:stCondLst>
                                    <p:cond delay="0"/>
                                  </p:stCondLst>
                                  <p:childTnLst>
                                    <p:set>
                                      <p:cBhvr>
                                        <p:cTn id="42" dur="1" fill="hold">
                                          <p:stCondLst>
                                            <p:cond delay="0"/>
                                          </p:stCondLst>
                                        </p:cTn>
                                        <p:tgtEl>
                                          <p:spTgt spid="46"/>
                                        </p:tgtEl>
                                        <p:attrNameLst>
                                          <p:attrName>style.visibility</p:attrName>
                                        </p:attrNameLst>
                                      </p:cBhvr>
                                      <p:to>
                                        <p:strVal val="visible"/>
                                      </p:to>
                                    </p:set>
                                    <p:anim calcmode="lin" valueType="num">
                                      <p:cBhvr>
                                        <p:cTn id="43" dur="450" fill="hold"/>
                                        <p:tgtEl>
                                          <p:spTgt spid="46"/>
                                        </p:tgtEl>
                                        <p:attrNameLst>
                                          <p:attrName>ppt_w</p:attrName>
                                        </p:attrNameLst>
                                      </p:cBhvr>
                                      <p:tavLst>
                                        <p:tav tm="0">
                                          <p:val>
                                            <p:strVal val="#ppt_w*2.5"/>
                                          </p:val>
                                        </p:tav>
                                        <p:tav tm="100000">
                                          <p:val>
                                            <p:strVal val="#ppt_w"/>
                                          </p:val>
                                        </p:tav>
                                      </p:tavLst>
                                    </p:anim>
                                    <p:anim calcmode="lin" valueType="num">
                                      <p:cBhvr>
                                        <p:cTn id="44" dur="450" fill="hold"/>
                                        <p:tgtEl>
                                          <p:spTgt spid="46"/>
                                        </p:tgtEl>
                                        <p:attrNameLst>
                                          <p:attrName>ppt_h</p:attrName>
                                        </p:attrNameLst>
                                      </p:cBhvr>
                                      <p:tavLst>
                                        <p:tav tm="0">
                                          <p:val>
                                            <p:strVal val="#ppt_h*0.01"/>
                                          </p:val>
                                        </p:tav>
                                        <p:tav tm="100000">
                                          <p:val>
                                            <p:strVal val="#ppt_h"/>
                                          </p:val>
                                        </p:tav>
                                      </p:tavLst>
                                    </p:anim>
                                    <p:anim calcmode="lin" valueType="num">
                                      <p:cBhvr>
                                        <p:cTn id="45" dur="450" fill="hold"/>
                                        <p:tgtEl>
                                          <p:spTgt spid="46"/>
                                        </p:tgtEl>
                                        <p:attrNameLst>
                                          <p:attrName>ppt_x</p:attrName>
                                        </p:attrNameLst>
                                      </p:cBhvr>
                                      <p:tavLst>
                                        <p:tav tm="0">
                                          <p:val>
                                            <p:strVal val="#ppt_x"/>
                                          </p:val>
                                        </p:tav>
                                        <p:tav tm="100000">
                                          <p:val>
                                            <p:strVal val="#ppt_x"/>
                                          </p:val>
                                        </p:tav>
                                      </p:tavLst>
                                    </p:anim>
                                    <p:anim calcmode="lin" valueType="num">
                                      <p:cBhvr>
                                        <p:cTn id="46" dur="450" fill="hold"/>
                                        <p:tgtEl>
                                          <p:spTgt spid="46"/>
                                        </p:tgtEl>
                                        <p:attrNameLst>
                                          <p:attrName>ppt_y</p:attrName>
                                        </p:attrNameLst>
                                      </p:cBhvr>
                                      <p:tavLst>
                                        <p:tav tm="0">
                                          <p:val>
                                            <p:strVal val="#ppt_h+1"/>
                                          </p:val>
                                        </p:tav>
                                        <p:tav tm="100000">
                                          <p:val>
                                            <p:strVal val="#ppt_y"/>
                                          </p:val>
                                        </p:tav>
                                      </p:tavLst>
                                    </p:anim>
                                    <p:animEffect transition="in" filter="fade">
                                      <p:cBhvr>
                                        <p:cTn id="47" dur="45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300"/>
                                        <p:tgtEl>
                                          <p:spTgt spid="23"/>
                                        </p:tgtEl>
                                      </p:cBhvr>
                                    </p:animEffect>
                                  </p:childTnLst>
                                </p:cTn>
                              </p:par>
                            </p:childTnLst>
                          </p:cTn>
                        </p:par>
                        <p:par>
                          <p:cTn id="53" fill="hold">
                            <p:stCondLst>
                              <p:cond delay="300"/>
                            </p:stCondLst>
                            <p:childTnLst>
                              <p:par>
                                <p:cTn id="54" presetID="10"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childTnLst>
                          </p:cTn>
                        </p:par>
                        <p:par>
                          <p:cTn id="57" fill="hold">
                            <p:stCondLst>
                              <p:cond delay="750"/>
                            </p:stCondLst>
                            <p:childTnLst>
                              <p:par>
                                <p:cTn id="58" presetID="10" presetClass="entr" presetSubtype="0" fill="hold"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570"/>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571"/>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572"/>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The React app turns JSON into live GenUI</a:t>
            </a:r>
            <a:endParaRPr lang="en-IN" sz="2200" b="1">
              <a:solidFill>
                <a:srgbClr val="FFFFFF"/>
              </a:solidFill>
              <a:latin typeface="Raleway" pitchFamily="2" charset="0"/>
            </a:endParaRPr>
          </a:p>
        </p:txBody>
      </p:sp>
      <p:sp>
        <p:nvSpPr>
          <p:cNvPr id="5" name="rd573"/>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574"/>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11  |  Radiant Digital  •  Confidential  •  All Rights Reserved  •  2026</a:t>
            </a:r>
            <a:endParaRPr lang="en-IN" sz="700">
              <a:solidFill>
                <a:srgbClr val="FFFFFF"/>
              </a:solidFill>
              <a:latin typeface="Raleway" pitchFamily="2" charset="0"/>
            </a:endParaRPr>
          </a:p>
        </p:txBody>
      </p:sp>
      <p:pic>
        <p:nvPicPr>
          <p:cNvPr id="7" name="rd57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576"/>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RUNTIME  |  STEP 2</a:t>
            </a:r>
          </a:p>
        </p:txBody>
      </p:sp>
      <p:sp>
        <p:nvSpPr>
          <p:cNvPr id="9" name="rd577"/>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The use-case-specific conversational application: it sends each ask to the Insights API and renders the JSON it receives as GenUI.</a:t>
            </a:r>
            <a:endParaRPr lang="en-IN" sz="1100">
              <a:solidFill>
                <a:srgbClr val="231F20"/>
              </a:solidFill>
              <a:latin typeface="Raleway" pitchFamily="2" charset="0"/>
            </a:endParaRPr>
          </a:p>
        </p:txBody>
      </p:sp>
      <p:grpSp>
        <p:nvGrpSpPr>
          <p:cNvPr id="15" name="rd583"/>
          <p:cNvGrpSpPr/>
          <p:nvPr/>
        </p:nvGrpSpPr>
        <p:grpSpPr>
          <a:xfrm>
            <a:off x="457200" y="1143000"/>
            <a:ext cx="2103120" cy="4297680"/>
            <a:chOff x="457200" y="1143000"/>
            <a:chExt cx="2103120" cy="4297680"/>
          </a:xfrm>
        </p:grpSpPr>
        <p:sp>
          <p:nvSpPr>
            <p:cNvPr id="10" name="rd578"/>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579"/>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580"/>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React app from the Experience Factory (Git)</a:t>
              </a:r>
              <a:endParaRPr lang="en-IN" sz="950">
                <a:solidFill>
                  <a:srgbClr val="231F20"/>
                </a:solidFill>
                <a:latin typeface="Raleway" pitchFamily="2" charset="0"/>
              </a:endParaRPr>
            </a:p>
          </p:txBody>
        </p:sp>
        <p:sp>
          <p:nvSpPr>
            <p:cNvPr id="13" name="rd581"/>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231F20"/>
                  </a:solidFill>
                  <a:latin typeface="Raleway" pitchFamily="2" charset="0"/>
                </a:rPr>
                <a:t>User questions</a:t>
              </a:r>
            </a:p>
          </p:txBody>
        </p:sp>
        <p:sp>
          <p:nvSpPr>
            <p:cNvPr id="14" name="rd582"/>
            <p:cNvSpPr/>
            <p:nvPr/>
          </p:nvSpPr>
          <p:spPr>
            <a:xfrm>
              <a:off x="566928" y="3419856"/>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Response JSON from the Insights Factory</a:t>
              </a:r>
              <a:endParaRPr lang="en-IN" sz="950">
                <a:solidFill>
                  <a:srgbClr val="231F20"/>
                </a:solidFill>
                <a:latin typeface="Raleway" pitchFamily="2" charset="0"/>
              </a:endParaRPr>
            </a:p>
          </p:txBody>
        </p:sp>
      </p:grpSp>
      <p:sp>
        <p:nvSpPr>
          <p:cNvPr id="16" name="rd584"/>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2" name="rd590"/>
          <p:cNvGrpSpPr/>
          <p:nvPr/>
        </p:nvGrpSpPr>
        <p:grpSpPr>
          <a:xfrm>
            <a:off x="9628632" y="1143000"/>
            <a:ext cx="2103120" cy="4297680"/>
            <a:chOff x="9628632" y="1143000"/>
            <a:chExt cx="2103120" cy="4297680"/>
          </a:xfrm>
        </p:grpSpPr>
        <p:sp>
          <p:nvSpPr>
            <p:cNvPr id="17" name="rd585"/>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8" name="rd586"/>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9" name="rd587"/>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Component, Variant, Ask requests</a:t>
              </a:r>
            </a:p>
          </p:txBody>
        </p:sp>
        <p:sp>
          <p:nvSpPr>
            <p:cNvPr id="20" name="rd588"/>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Rendered GenUI answers</a:t>
              </a:r>
            </a:p>
          </p:txBody>
        </p:sp>
        <p:sp>
          <p:nvSpPr>
            <p:cNvPr id="21" name="rd589"/>
            <p:cNvSpPr/>
            <p:nvPr/>
          </p:nvSpPr>
          <p:spPr>
            <a:xfrm>
              <a:off x="9738360" y="3419856"/>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Demo-ready use case for Market Leaders</a:t>
              </a:r>
              <a:endParaRPr lang="en-IN" sz="950">
                <a:solidFill>
                  <a:srgbClr val="FFFFFF"/>
                </a:solidFill>
                <a:latin typeface="Raleway" pitchFamily="2" charset="0"/>
              </a:endParaRPr>
            </a:p>
          </p:txBody>
        </p:sp>
      </p:grpSp>
      <p:sp>
        <p:nvSpPr>
          <p:cNvPr id="23" name="rd591"/>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8" name="rd596"/>
          <p:cNvGrpSpPr/>
          <p:nvPr/>
        </p:nvGrpSpPr>
        <p:grpSpPr>
          <a:xfrm>
            <a:off x="457200" y="5623560"/>
            <a:ext cx="11265408" cy="731520"/>
            <a:chOff x="457200" y="5623560"/>
            <a:chExt cx="11265408" cy="731520"/>
          </a:xfrm>
        </p:grpSpPr>
        <p:sp>
          <p:nvSpPr>
            <p:cNvPr id="24" name="rd592"/>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5" name="rd593"/>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Calls:</a:t>
              </a:r>
              <a:r>
                <a:rPr lang="en-US" sz="950">
                  <a:solidFill>
                    <a:srgbClr val="231F20"/>
                  </a:solidFill>
                  <a:latin typeface="Raleway" pitchFamily="2" charset="0"/>
                </a:rPr>
                <a:t> Insights Factory (Data Insights API)</a:t>
              </a:r>
              <a:endParaRPr lang="en-IN" sz="950">
                <a:solidFill>
                  <a:srgbClr val="231F20"/>
                </a:solidFill>
                <a:latin typeface="Raleway" pitchFamily="2" charset="0"/>
              </a:endParaRPr>
            </a:p>
          </p:txBody>
        </p:sp>
        <p:sp>
          <p:nvSpPr>
            <p:cNvPr id="26" name="rd594"/>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Receives:</a:t>
              </a:r>
              <a:r>
                <a:rPr lang="en-US" sz="950">
                  <a:solidFill>
                    <a:srgbClr val="231F20"/>
                  </a:solidFill>
                  <a:latin typeface="Raleway" pitchFamily="2" charset="0"/>
                </a:rPr>
                <a:t> Response JSON per component</a:t>
              </a:r>
              <a:endParaRPr lang="en-IN" sz="950">
                <a:solidFill>
                  <a:srgbClr val="231F20"/>
                </a:solidFill>
                <a:latin typeface="Raleway" pitchFamily="2" charset="0"/>
              </a:endParaRPr>
            </a:p>
          </p:txBody>
        </p:sp>
        <p:sp>
          <p:nvSpPr>
            <p:cNvPr id="27" name="rd595"/>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Delivers:</a:t>
              </a:r>
              <a:r>
                <a:rPr lang="en-IN" sz="950">
                  <a:solidFill>
                    <a:srgbClr val="231F20"/>
                  </a:solidFill>
                  <a:latin typeface="Raleway" pitchFamily="2" charset="0"/>
                </a:rPr>
                <a:t> demo-ready experience</a:t>
              </a:r>
            </a:p>
          </p:txBody>
        </p:sp>
      </p:grpSp>
      <p:grpSp>
        <p:nvGrpSpPr>
          <p:cNvPr id="35" name="rd603"/>
          <p:cNvGrpSpPr/>
          <p:nvPr/>
        </p:nvGrpSpPr>
        <p:grpSpPr>
          <a:xfrm>
            <a:off x="2788920" y="1143000"/>
            <a:ext cx="3246120" cy="4297680"/>
            <a:chOff x="2788920" y="1143000"/>
            <a:chExt cx="3246120" cy="4297680"/>
          </a:xfrm>
        </p:grpSpPr>
        <p:sp>
          <p:nvSpPr>
            <p:cNvPr id="29" name="rd597"/>
            <p:cNvSpPr/>
            <p:nvPr/>
          </p:nvSpPr>
          <p:spPr>
            <a:xfrm>
              <a:off x="2788920" y="1143000"/>
              <a:ext cx="3246120" cy="4297680"/>
            </a:xfrm>
            <a:prstGeom prst="rect">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0" name="rd598"/>
            <p:cNvSpPr/>
            <p:nvPr/>
          </p:nvSpPr>
          <p:spPr>
            <a:xfrm>
              <a:off x="2788920" y="1143000"/>
              <a:ext cx="3246120" cy="2743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1" name="rd599"/>
            <p:cNvSpPr/>
            <p:nvPr/>
          </p:nvSpPr>
          <p:spPr>
            <a:xfrm>
              <a:off x="2926080" y="1234440"/>
              <a:ext cx="91440" cy="91440"/>
            </a:xfrm>
            <a:prstGeom prst="ellipse">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2" name="rd600"/>
            <p:cNvSpPr/>
            <p:nvPr/>
          </p:nvSpPr>
          <p:spPr>
            <a:xfrm>
              <a:off x="3063240" y="1234440"/>
              <a:ext cx="91440" cy="91440"/>
            </a:xfrm>
            <a:prstGeom prst="ellipse">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3" name="rd601"/>
            <p:cNvSpPr/>
            <p:nvPr/>
          </p:nvSpPr>
          <p:spPr>
            <a:xfrm>
              <a:off x="3200400" y="1234440"/>
              <a:ext cx="91440" cy="91440"/>
            </a:xfrm>
            <a:prstGeom prst="ellipse">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4" name="rd602"/>
            <p:cNvSpPr txBox="1"/>
            <p:nvPr/>
          </p:nvSpPr>
          <p:spPr>
            <a:xfrm>
              <a:off x="3383280" y="1161288"/>
              <a:ext cx="2560320" cy="237744"/>
            </a:xfrm>
            <a:prstGeom prst="rect">
              <a:avLst/>
            </a:prstGeom>
            <a:noFill/>
          </p:spPr>
          <p:txBody>
            <a:bodyPr vert="horz" wrap="square" lIns="0" tIns="0" rIns="0" bIns="0" rtlCol="0" anchor="ctr">
              <a:noAutofit/>
            </a:bodyPr>
            <a:lstStyle/>
            <a:p>
              <a:r>
                <a:rPr lang="en-IN" sz="800" b="1">
                  <a:solidFill>
                    <a:srgbClr val="FFFFFF"/>
                  </a:solidFill>
                  <a:latin typeface="Raleway" pitchFamily="2" charset="0"/>
                </a:rPr>
                <a:t>Conversational UI</a:t>
              </a:r>
            </a:p>
          </p:txBody>
        </p:sp>
      </p:grpSp>
      <p:sp>
        <p:nvSpPr>
          <p:cNvPr id="36" name="rd604"/>
          <p:cNvSpPr/>
          <p:nvPr/>
        </p:nvSpPr>
        <p:spPr>
          <a:xfrm>
            <a:off x="3794760" y="1600200"/>
            <a:ext cx="2103120" cy="438912"/>
          </a:xfrm>
          <a:prstGeom prst="roundRect">
            <a:avLst>
              <a:gd name="adj" fmla="val 25000"/>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850">
                <a:solidFill>
                  <a:srgbClr val="074661"/>
                </a:solidFill>
                <a:latin typeface="Raleway" pitchFamily="2" charset="0"/>
              </a:rPr>
              <a:t>Which member segments carry the most churn risk?</a:t>
            </a:r>
            <a:endParaRPr lang="en-IN" sz="850">
              <a:solidFill>
                <a:srgbClr val="074661"/>
              </a:solidFill>
              <a:latin typeface="Raleway" pitchFamily="2" charset="0"/>
            </a:endParaRPr>
          </a:p>
        </p:txBody>
      </p:sp>
      <p:grpSp>
        <p:nvGrpSpPr>
          <p:cNvPr id="63" name="rd631"/>
          <p:cNvGrpSpPr/>
          <p:nvPr/>
        </p:nvGrpSpPr>
        <p:grpSpPr>
          <a:xfrm>
            <a:off x="2926080" y="2148840"/>
            <a:ext cx="2971800" cy="3163824"/>
            <a:chOff x="2926080" y="2148840"/>
            <a:chExt cx="2971800" cy="3163824"/>
          </a:xfrm>
        </p:grpSpPr>
        <p:sp>
          <p:nvSpPr>
            <p:cNvPr id="37" name="rd605"/>
            <p:cNvSpPr txBox="1"/>
            <p:nvPr/>
          </p:nvSpPr>
          <p:spPr>
            <a:xfrm>
              <a:off x="2926080" y="2148840"/>
              <a:ext cx="2926080" cy="201168"/>
            </a:xfrm>
            <a:prstGeom prst="rect">
              <a:avLst/>
            </a:prstGeom>
            <a:noFill/>
          </p:spPr>
          <p:txBody>
            <a:bodyPr vert="horz" wrap="square" lIns="0" tIns="0" rIns="0" bIns="0" rtlCol="0" anchor="ctr">
              <a:noAutofit/>
            </a:bodyPr>
            <a:lstStyle/>
            <a:p>
              <a:r>
                <a:rPr lang="en-IN" sz="750" b="1">
                  <a:solidFill>
                    <a:srgbClr val="5B6B73"/>
                  </a:solidFill>
                  <a:latin typeface="Raleway" pitchFamily="2" charset="0"/>
                </a:rPr>
                <a:t>GenUI response</a:t>
              </a:r>
            </a:p>
          </p:txBody>
        </p:sp>
        <p:sp>
          <p:nvSpPr>
            <p:cNvPr id="38" name="rd606"/>
            <p:cNvSpPr/>
            <p:nvPr/>
          </p:nvSpPr>
          <p:spPr>
            <a:xfrm>
              <a:off x="2926080" y="2377440"/>
              <a:ext cx="941832" cy="566928"/>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9" name="rd607"/>
            <p:cNvSpPr txBox="1"/>
            <p:nvPr/>
          </p:nvSpPr>
          <p:spPr>
            <a:xfrm>
              <a:off x="2999232" y="2423160"/>
              <a:ext cx="822960" cy="182880"/>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At risk</a:t>
              </a:r>
            </a:p>
          </p:txBody>
        </p:sp>
        <p:sp>
          <p:nvSpPr>
            <p:cNvPr id="40" name="rd608"/>
            <p:cNvSpPr/>
            <p:nvPr/>
          </p:nvSpPr>
          <p:spPr>
            <a:xfrm>
              <a:off x="2999232" y="2679192"/>
              <a:ext cx="566928" cy="146304"/>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1" name="rd609"/>
            <p:cNvSpPr/>
            <p:nvPr/>
          </p:nvSpPr>
          <p:spPr>
            <a:xfrm>
              <a:off x="3931920" y="2377440"/>
              <a:ext cx="941832" cy="566928"/>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2" name="rd610"/>
            <p:cNvSpPr txBox="1"/>
            <p:nvPr/>
          </p:nvSpPr>
          <p:spPr>
            <a:xfrm>
              <a:off x="4005072" y="2423160"/>
              <a:ext cx="822960" cy="182880"/>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LTV at risk</a:t>
              </a:r>
            </a:p>
          </p:txBody>
        </p:sp>
        <p:sp>
          <p:nvSpPr>
            <p:cNvPr id="43" name="rd611"/>
            <p:cNvSpPr/>
            <p:nvPr/>
          </p:nvSpPr>
          <p:spPr>
            <a:xfrm>
              <a:off x="4005072" y="2679192"/>
              <a:ext cx="566928" cy="146304"/>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4" name="rd612"/>
            <p:cNvSpPr/>
            <p:nvPr/>
          </p:nvSpPr>
          <p:spPr>
            <a:xfrm>
              <a:off x="4937760" y="2377440"/>
              <a:ext cx="941832" cy="566928"/>
            </a:xfrm>
            <a:prstGeom prst="roundRect">
              <a:avLst>
                <a:gd name="adj" fmla="val 1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5" name="rd613"/>
            <p:cNvSpPr txBox="1"/>
            <p:nvPr/>
          </p:nvSpPr>
          <p:spPr>
            <a:xfrm>
              <a:off x="5010912" y="2423160"/>
              <a:ext cx="822960" cy="182880"/>
            </a:xfrm>
            <a:prstGeom prst="rect">
              <a:avLst/>
            </a:prstGeom>
            <a:noFill/>
          </p:spPr>
          <p:txBody>
            <a:bodyPr vert="horz" wrap="square" lIns="0" tIns="0" rIns="0" bIns="0" rtlCol="0" anchor="t">
              <a:noAutofit/>
            </a:bodyPr>
            <a:lstStyle/>
            <a:p>
              <a:r>
                <a:rPr lang="en-IN" sz="700">
                  <a:solidFill>
                    <a:srgbClr val="5B6B73"/>
                  </a:solidFill>
                  <a:latin typeface="Raleway" pitchFamily="2" charset="0"/>
                </a:rPr>
                <a:t>Avg churn</a:t>
              </a:r>
            </a:p>
          </p:txBody>
        </p:sp>
        <p:sp>
          <p:nvSpPr>
            <p:cNvPr id="46" name="rd614"/>
            <p:cNvSpPr/>
            <p:nvPr/>
          </p:nvSpPr>
          <p:spPr>
            <a:xfrm>
              <a:off x="5010912" y="2679192"/>
              <a:ext cx="566928" cy="146304"/>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cxnSp>
          <p:nvCxnSpPr>
            <p:cNvPr id="47" name="rd615"/>
            <p:cNvCxnSpPr/>
            <p:nvPr/>
          </p:nvCxnSpPr>
          <p:spPr>
            <a:xfrm>
              <a:off x="2971800" y="4251960"/>
              <a:ext cx="2926080" cy="0"/>
            </a:xfrm>
            <a:prstGeom prst="line">
              <a:avLst/>
            </a:prstGeom>
            <a:ln w="9525">
              <a:solidFill>
                <a:srgbClr val="93C3CD"/>
              </a:solidFill>
            </a:ln>
          </p:spPr>
          <p:style>
            <a:lnRef idx="1">
              <a:schemeClr val="accent1"/>
            </a:lnRef>
            <a:fillRef idx="0">
              <a:schemeClr val="accent1"/>
            </a:fillRef>
            <a:effectRef idx="0">
              <a:schemeClr val="accent1"/>
            </a:effectRef>
            <a:fontRef idx="minor">
              <a:schemeClr val="tx1"/>
            </a:fontRef>
          </p:style>
        </p:cxnSp>
        <p:sp>
          <p:nvSpPr>
            <p:cNvPr id="48" name="rd616"/>
            <p:cNvSpPr/>
            <p:nvPr/>
          </p:nvSpPr>
          <p:spPr>
            <a:xfrm>
              <a:off x="3108960" y="3749040"/>
              <a:ext cx="292608" cy="50292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9" name="rd617"/>
            <p:cNvSpPr/>
            <p:nvPr/>
          </p:nvSpPr>
          <p:spPr>
            <a:xfrm>
              <a:off x="3566160" y="3520440"/>
              <a:ext cx="292608" cy="73152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0" name="rd618"/>
            <p:cNvSpPr/>
            <p:nvPr/>
          </p:nvSpPr>
          <p:spPr>
            <a:xfrm>
              <a:off x="4023360" y="3611880"/>
              <a:ext cx="292608" cy="64008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1" name="rd619"/>
            <p:cNvSpPr/>
            <p:nvPr/>
          </p:nvSpPr>
          <p:spPr>
            <a:xfrm>
              <a:off x="4480560" y="3291840"/>
              <a:ext cx="292608" cy="96012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2" name="rd620"/>
            <p:cNvSpPr/>
            <p:nvPr/>
          </p:nvSpPr>
          <p:spPr>
            <a:xfrm>
              <a:off x="4937760" y="3429000"/>
              <a:ext cx="292608" cy="82296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3" name="rd621"/>
            <p:cNvSpPr/>
            <p:nvPr/>
          </p:nvSpPr>
          <p:spPr>
            <a:xfrm>
              <a:off x="5394960" y="3154680"/>
              <a:ext cx="292608" cy="109728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4" name="rd622"/>
            <p:cNvSpPr/>
            <p:nvPr/>
          </p:nvSpPr>
          <p:spPr>
            <a:xfrm>
              <a:off x="2926080" y="4434840"/>
              <a:ext cx="2971800" cy="256032"/>
            </a:xfrm>
            <a:prstGeom prst="rect">
              <a:avLst/>
            </a:prstGeom>
            <a:solidFill>
              <a:srgbClr val="E3F1F4"/>
            </a:solidFill>
            <a:ln w="6350">
              <a:solidFill>
                <a:srgbClr val="D5E3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5" name="rd623"/>
            <p:cNvSpPr/>
            <p:nvPr/>
          </p:nvSpPr>
          <p:spPr>
            <a:xfrm>
              <a:off x="3017520" y="4526280"/>
              <a:ext cx="914400" cy="73152"/>
            </a:xfrm>
            <a:prstGeom prst="rect">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6" name="rd624"/>
            <p:cNvSpPr/>
            <p:nvPr/>
          </p:nvSpPr>
          <p:spPr>
            <a:xfrm>
              <a:off x="4480560" y="4526280"/>
              <a:ext cx="548640" cy="73152"/>
            </a:xfrm>
            <a:prstGeom prst="rect">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7" name="rd625"/>
            <p:cNvSpPr/>
            <p:nvPr/>
          </p:nvSpPr>
          <p:spPr>
            <a:xfrm>
              <a:off x="2926080" y="4745736"/>
              <a:ext cx="2971800" cy="256032"/>
            </a:xfrm>
            <a:prstGeom prst="rect">
              <a:avLst/>
            </a:prstGeom>
            <a:solidFill>
              <a:srgbClr val="FFFFFF"/>
            </a:solidFill>
            <a:ln w="6350">
              <a:solidFill>
                <a:srgbClr val="D5E3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8" name="rd626"/>
            <p:cNvSpPr/>
            <p:nvPr/>
          </p:nvSpPr>
          <p:spPr>
            <a:xfrm>
              <a:off x="3017520" y="4837176"/>
              <a:ext cx="914400" cy="73152"/>
            </a:xfrm>
            <a:prstGeom prst="rect">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9" name="rd627"/>
            <p:cNvSpPr/>
            <p:nvPr/>
          </p:nvSpPr>
          <p:spPr>
            <a:xfrm>
              <a:off x="4480560" y="4837176"/>
              <a:ext cx="548640" cy="73152"/>
            </a:xfrm>
            <a:prstGeom prst="rect">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0" name="rd628"/>
            <p:cNvSpPr/>
            <p:nvPr/>
          </p:nvSpPr>
          <p:spPr>
            <a:xfrm>
              <a:off x="2926080" y="5056632"/>
              <a:ext cx="2971800" cy="256032"/>
            </a:xfrm>
            <a:prstGeom prst="rect">
              <a:avLst/>
            </a:prstGeom>
            <a:solidFill>
              <a:srgbClr val="FFFFFF"/>
            </a:solidFill>
            <a:ln w="6350">
              <a:solidFill>
                <a:srgbClr val="D5E3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1" name="rd629"/>
            <p:cNvSpPr/>
            <p:nvPr/>
          </p:nvSpPr>
          <p:spPr>
            <a:xfrm>
              <a:off x="3017520" y="5148072"/>
              <a:ext cx="914400" cy="73152"/>
            </a:xfrm>
            <a:prstGeom prst="rect">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2" name="rd630"/>
            <p:cNvSpPr/>
            <p:nvPr/>
          </p:nvSpPr>
          <p:spPr>
            <a:xfrm>
              <a:off x="4480560" y="5148072"/>
              <a:ext cx="548640" cy="73152"/>
            </a:xfrm>
            <a:prstGeom prst="rect">
              <a:avLst/>
            </a:prstGeom>
            <a:solidFill>
              <a:srgbClr val="93C3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grpSp>
      <p:sp>
        <p:nvSpPr>
          <p:cNvPr id="64" name="rd632"/>
          <p:cNvSpPr/>
          <p:nvPr/>
        </p:nvSpPr>
        <p:spPr>
          <a:xfrm>
            <a:off x="4434840" y="2130552"/>
            <a:ext cx="1463040" cy="201168"/>
          </a:xfrm>
          <a:prstGeom prst="roundRect">
            <a:avLst>
              <a:gd name="adj" fmla="val 30000"/>
            </a:avLst>
          </a:prstGeom>
          <a:solidFill>
            <a:srgbClr val="FBF4D6"/>
          </a:solidFill>
          <a:ln w="9525">
            <a:solidFill>
              <a:srgbClr val="EFDB8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 } ChurnModel JSON</a:t>
            </a:r>
          </a:p>
        </p:txBody>
      </p:sp>
      <p:grpSp>
        <p:nvGrpSpPr>
          <p:cNvPr id="69" name="rd637"/>
          <p:cNvGrpSpPr/>
          <p:nvPr/>
        </p:nvGrpSpPr>
        <p:grpSpPr>
          <a:xfrm>
            <a:off x="6263640" y="1143000"/>
            <a:ext cx="3154680" cy="960120"/>
            <a:chOff x="6263640" y="1143000"/>
            <a:chExt cx="3154680" cy="960120"/>
          </a:xfrm>
        </p:grpSpPr>
        <p:sp>
          <p:nvSpPr>
            <p:cNvPr id="65" name="rd633"/>
            <p:cNvSpPr/>
            <p:nvPr/>
          </p:nvSpPr>
          <p:spPr>
            <a:xfrm>
              <a:off x="6263640" y="1143000"/>
              <a:ext cx="3154680" cy="960120"/>
            </a:xfrm>
            <a:prstGeom prst="roundRect">
              <a:avLst>
                <a:gd name="adj" fmla="val 8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6" name="rd634"/>
            <p:cNvSpPr/>
            <p:nvPr/>
          </p:nvSpPr>
          <p:spPr>
            <a:xfrm>
              <a:off x="6382512"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1</a:t>
              </a:r>
            </a:p>
          </p:txBody>
        </p:sp>
        <p:sp>
          <p:nvSpPr>
            <p:cNvPr id="67" name="rd635"/>
            <p:cNvSpPr txBox="1"/>
            <p:nvPr/>
          </p:nvSpPr>
          <p:spPr>
            <a:xfrm>
              <a:off x="6812280" y="1234440"/>
              <a:ext cx="2514600" cy="365760"/>
            </a:xfrm>
            <a:prstGeom prst="rect">
              <a:avLst/>
            </a:prstGeom>
            <a:noFill/>
          </p:spPr>
          <p:txBody>
            <a:bodyPr vert="horz" wrap="square" lIns="0" tIns="0" rIns="0" bIns="0" rtlCol="0" anchor="ctr">
              <a:noAutofit/>
            </a:bodyPr>
            <a:lstStyle/>
            <a:p>
              <a:r>
                <a:rPr lang="en-IN" sz="1050" b="1">
                  <a:solidFill>
                    <a:srgbClr val="074661"/>
                  </a:solidFill>
                  <a:latin typeface="Raleway" pitchFamily="2" charset="0"/>
                </a:rPr>
                <a:t>Integrates with Insights API</a:t>
              </a:r>
            </a:p>
          </p:txBody>
        </p:sp>
        <p:sp>
          <p:nvSpPr>
            <p:cNvPr id="68" name="rd636"/>
            <p:cNvSpPr txBox="1"/>
            <p:nvPr/>
          </p:nvSpPr>
          <p:spPr>
            <a:xfrm>
              <a:off x="6812280" y="1600200"/>
              <a:ext cx="2514600" cy="457200"/>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Calls the Data Insights API with Component, Variant, Ask.</a:t>
              </a:r>
              <a:endParaRPr lang="en-IN" sz="900">
                <a:solidFill>
                  <a:srgbClr val="231F20"/>
                </a:solidFill>
                <a:latin typeface="Raleway" pitchFamily="2" charset="0"/>
              </a:endParaRPr>
            </a:p>
          </p:txBody>
        </p:sp>
      </p:grpSp>
      <p:grpSp>
        <p:nvGrpSpPr>
          <p:cNvPr id="74" name="rd642"/>
          <p:cNvGrpSpPr/>
          <p:nvPr/>
        </p:nvGrpSpPr>
        <p:grpSpPr>
          <a:xfrm>
            <a:off x="6263640" y="2221992"/>
            <a:ext cx="3154680" cy="960120"/>
            <a:chOff x="6263640" y="2221992"/>
            <a:chExt cx="3154680" cy="960120"/>
          </a:xfrm>
        </p:grpSpPr>
        <p:sp>
          <p:nvSpPr>
            <p:cNvPr id="70" name="rd638"/>
            <p:cNvSpPr/>
            <p:nvPr/>
          </p:nvSpPr>
          <p:spPr>
            <a:xfrm>
              <a:off x="6263640" y="2221992"/>
              <a:ext cx="3154680" cy="960120"/>
            </a:xfrm>
            <a:prstGeom prst="roundRect">
              <a:avLst>
                <a:gd name="adj" fmla="val 8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71" name="rd639"/>
            <p:cNvSpPr/>
            <p:nvPr/>
          </p:nvSpPr>
          <p:spPr>
            <a:xfrm>
              <a:off x="6382512" y="2340864"/>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2</a:t>
              </a:r>
            </a:p>
          </p:txBody>
        </p:sp>
        <p:sp>
          <p:nvSpPr>
            <p:cNvPr id="72" name="rd640"/>
            <p:cNvSpPr txBox="1"/>
            <p:nvPr/>
          </p:nvSpPr>
          <p:spPr>
            <a:xfrm>
              <a:off x="6812280" y="2313432"/>
              <a:ext cx="2514600" cy="365760"/>
            </a:xfrm>
            <a:prstGeom prst="rect">
              <a:avLst/>
            </a:prstGeom>
            <a:noFill/>
          </p:spPr>
          <p:txBody>
            <a:bodyPr vert="horz" wrap="square" lIns="0" tIns="0" rIns="0" bIns="0" rtlCol="0" anchor="ctr">
              <a:noAutofit/>
            </a:bodyPr>
            <a:lstStyle/>
            <a:p>
              <a:r>
                <a:rPr lang="en-IN" sz="1050" b="1">
                  <a:solidFill>
                    <a:srgbClr val="074661"/>
                  </a:solidFill>
                  <a:latin typeface="Raleway" pitchFamily="2" charset="0"/>
                </a:rPr>
                <a:t>Conversational UI</a:t>
              </a:r>
            </a:p>
          </p:txBody>
        </p:sp>
        <p:sp>
          <p:nvSpPr>
            <p:cNvPr id="73" name="rd641"/>
            <p:cNvSpPr txBox="1"/>
            <p:nvPr/>
          </p:nvSpPr>
          <p:spPr>
            <a:xfrm>
              <a:off x="6812280" y="2679192"/>
              <a:ext cx="2514600" cy="457200"/>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Captures the user question in the context of the conversation.</a:t>
              </a:r>
              <a:endParaRPr lang="en-IN" sz="900">
                <a:solidFill>
                  <a:srgbClr val="231F20"/>
                </a:solidFill>
                <a:latin typeface="Raleway" pitchFamily="2" charset="0"/>
              </a:endParaRPr>
            </a:p>
          </p:txBody>
        </p:sp>
      </p:grpSp>
      <p:grpSp>
        <p:nvGrpSpPr>
          <p:cNvPr id="79" name="rd647"/>
          <p:cNvGrpSpPr/>
          <p:nvPr/>
        </p:nvGrpSpPr>
        <p:grpSpPr>
          <a:xfrm>
            <a:off x="6263640" y="3300984"/>
            <a:ext cx="3154680" cy="960120"/>
            <a:chOff x="6263640" y="3300984"/>
            <a:chExt cx="3154680" cy="960120"/>
          </a:xfrm>
        </p:grpSpPr>
        <p:sp>
          <p:nvSpPr>
            <p:cNvPr id="75" name="rd643"/>
            <p:cNvSpPr/>
            <p:nvPr/>
          </p:nvSpPr>
          <p:spPr>
            <a:xfrm>
              <a:off x="6263640" y="3300984"/>
              <a:ext cx="3154680" cy="960120"/>
            </a:xfrm>
            <a:prstGeom prst="roundRect">
              <a:avLst>
                <a:gd name="adj" fmla="val 8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76" name="rd644"/>
            <p:cNvSpPr/>
            <p:nvPr/>
          </p:nvSpPr>
          <p:spPr>
            <a:xfrm>
              <a:off x="6382512" y="3419856"/>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3</a:t>
              </a:r>
            </a:p>
          </p:txBody>
        </p:sp>
        <p:sp>
          <p:nvSpPr>
            <p:cNvPr id="77" name="rd645"/>
            <p:cNvSpPr txBox="1"/>
            <p:nvPr/>
          </p:nvSpPr>
          <p:spPr>
            <a:xfrm>
              <a:off x="6812280" y="3392424"/>
              <a:ext cx="2514600" cy="365760"/>
            </a:xfrm>
            <a:prstGeom prst="rect">
              <a:avLst/>
            </a:prstGeom>
            <a:noFill/>
          </p:spPr>
          <p:txBody>
            <a:bodyPr vert="horz" wrap="square" lIns="0" tIns="0" rIns="0" bIns="0" rtlCol="0" anchor="ctr">
              <a:noAutofit/>
            </a:bodyPr>
            <a:lstStyle/>
            <a:p>
              <a:r>
                <a:rPr lang="it-IT" sz="1050" b="1">
                  <a:solidFill>
                    <a:srgbClr val="074661"/>
                  </a:solidFill>
                  <a:latin typeface="Raleway" pitchFamily="2" charset="0"/>
                </a:rPr>
                <a:t>Renders Response Data in GenUI</a:t>
              </a:r>
              <a:endParaRPr lang="en-IN" sz="1050" b="1">
                <a:solidFill>
                  <a:srgbClr val="074661"/>
                </a:solidFill>
                <a:latin typeface="Raleway" pitchFamily="2" charset="0"/>
              </a:endParaRPr>
            </a:p>
          </p:txBody>
        </p:sp>
        <p:sp>
          <p:nvSpPr>
            <p:cNvPr id="78" name="rd646"/>
            <p:cNvSpPr txBox="1"/>
            <p:nvPr/>
          </p:nvSpPr>
          <p:spPr>
            <a:xfrm>
              <a:off x="6812280" y="3758184"/>
              <a:ext cx="2514600" cy="457200"/>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Maps Response JSON to the matching React GenUI component.</a:t>
              </a:r>
              <a:endParaRPr lang="en-IN" sz="900">
                <a:solidFill>
                  <a:srgbClr val="231F20"/>
                </a:solidFill>
                <a:latin typeface="Raleway" pitchFamily="2" charset="0"/>
              </a:endParaRPr>
            </a:p>
          </p:txBody>
        </p:sp>
      </p:grpSp>
      <p:grpSp>
        <p:nvGrpSpPr>
          <p:cNvPr id="84" name="rd652"/>
          <p:cNvGrpSpPr/>
          <p:nvPr/>
        </p:nvGrpSpPr>
        <p:grpSpPr>
          <a:xfrm>
            <a:off x="6263640" y="4379976"/>
            <a:ext cx="3154680" cy="960120"/>
            <a:chOff x="6263640" y="4379976"/>
            <a:chExt cx="3154680" cy="960120"/>
          </a:xfrm>
        </p:grpSpPr>
        <p:sp>
          <p:nvSpPr>
            <p:cNvPr id="80" name="rd648"/>
            <p:cNvSpPr/>
            <p:nvPr/>
          </p:nvSpPr>
          <p:spPr>
            <a:xfrm>
              <a:off x="6263640" y="4379976"/>
              <a:ext cx="3154680" cy="960120"/>
            </a:xfrm>
            <a:prstGeom prst="roundRect">
              <a:avLst>
                <a:gd name="adj" fmla="val 8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81" name="rd649"/>
            <p:cNvSpPr/>
            <p:nvPr/>
          </p:nvSpPr>
          <p:spPr>
            <a:xfrm>
              <a:off x="6382512" y="4498848"/>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4</a:t>
              </a:r>
            </a:p>
          </p:txBody>
        </p:sp>
        <p:sp>
          <p:nvSpPr>
            <p:cNvPr id="82" name="rd650"/>
            <p:cNvSpPr txBox="1"/>
            <p:nvPr/>
          </p:nvSpPr>
          <p:spPr>
            <a:xfrm>
              <a:off x="6812280" y="4471416"/>
              <a:ext cx="2514600" cy="365760"/>
            </a:xfrm>
            <a:prstGeom prst="rect">
              <a:avLst/>
            </a:prstGeom>
            <a:noFill/>
          </p:spPr>
          <p:txBody>
            <a:bodyPr vert="horz" wrap="square" lIns="0" tIns="0" rIns="0" bIns="0" rtlCol="0" anchor="ctr">
              <a:noAutofit/>
            </a:bodyPr>
            <a:lstStyle/>
            <a:p>
              <a:r>
                <a:rPr lang="en-IN" sz="1050" b="1">
                  <a:solidFill>
                    <a:srgbClr val="074661"/>
                  </a:solidFill>
                  <a:latin typeface="Raleway" pitchFamily="2" charset="0"/>
                </a:rPr>
                <a:t>GenUI Component JSON Data</a:t>
              </a:r>
            </a:p>
          </p:txBody>
        </p:sp>
        <p:sp>
          <p:nvSpPr>
            <p:cNvPr id="83" name="rd651"/>
            <p:cNvSpPr txBox="1"/>
            <p:nvPr/>
          </p:nvSpPr>
          <p:spPr>
            <a:xfrm>
              <a:off x="6812280" y="4837176"/>
              <a:ext cx="2514600" cy="457200"/>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Each component consumes a typed JSON contract, such as ChurnModel or NpsData.</a:t>
              </a:r>
              <a:endParaRPr lang="en-IN" sz="900">
                <a:solidFill>
                  <a:srgbClr val="231F20"/>
                </a:solidFill>
                <a:latin typeface="Raleway" pitchFamily="2" charset="0"/>
              </a:endParaRPr>
            </a:p>
          </p:txBody>
        </p:sp>
      </p:grpSp>
    </p:spTree>
    <p:extLst>
      <p:ext uri="{BB962C8B-B14F-4D97-AF65-F5344CB8AC3E}">
        <p14:creationId xmlns:p14="http://schemas.microsoft.com/office/powerpoint/2010/main" val="127918360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3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4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fade">
                                      <p:cBhvr>
                                        <p:cTn id="21" dur="400"/>
                                        <p:tgtEl>
                                          <p:spTgt spid="74"/>
                                        </p:tgtEl>
                                      </p:cBhvr>
                                    </p:animEffect>
                                  </p:childTnLst>
                                </p:cTn>
                              </p:par>
                            </p:childTnLst>
                          </p:cTn>
                        </p:par>
                        <p:par>
                          <p:cTn id="22" fill="hold">
                            <p:stCondLst>
                              <p:cond delay="400"/>
                            </p:stCondLst>
                            <p:childTnLst>
                              <p:par>
                                <p:cTn id="23" presetID="10" presetClass="entr" presetSubtype="0" fill="hold"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400"/>
                                        <p:tgtEl>
                                          <p:spTgt spid="35"/>
                                        </p:tgtEl>
                                      </p:cBhvr>
                                    </p:animEffect>
                                  </p:childTnLst>
                                </p:cTn>
                              </p:par>
                            </p:childTnLst>
                          </p:cTn>
                        </p:par>
                        <p:par>
                          <p:cTn id="26" fill="hold">
                            <p:stCondLst>
                              <p:cond delay="800"/>
                            </p:stCondLst>
                            <p:childTnLst>
                              <p:par>
                                <p:cTn id="27" presetID="22" presetClass="entr" presetSubtype="2"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right)">
                                      <p:cBhvr>
                                        <p:cTn id="29" dur="400"/>
                                        <p:tgtEl>
                                          <p:spTgt spid="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9"/>
                                        </p:tgtEl>
                                        <p:attrNameLst>
                                          <p:attrName>style.visibility</p:attrName>
                                        </p:attrNameLst>
                                      </p:cBhvr>
                                      <p:to>
                                        <p:strVal val="visible"/>
                                      </p:to>
                                    </p:set>
                                    <p:animEffect transition="in" filter="fade">
                                      <p:cBhvr>
                                        <p:cTn id="34" dur="400"/>
                                        <p:tgtEl>
                                          <p:spTgt spid="79"/>
                                        </p:tgtEl>
                                      </p:cBhvr>
                                    </p:animEffect>
                                  </p:childTnLst>
                                </p:cTn>
                              </p:par>
                            </p:childTnLst>
                          </p:cTn>
                        </p:par>
                        <p:par>
                          <p:cTn id="35" fill="hold">
                            <p:stCondLst>
                              <p:cond delay="400"/>
                            </p:stCondLst>
                            <p:childTnLst>
                              <p:par>
                                <p:cTn id="36" presetID="10" presetClass="entr" presetSubtype="0" fill="hold" nodeType="after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fade">
                                      <p:cBhvr>
                                        <p:cTn id="38" dur="600"/>
                                        <p:tgtEl>
                                          <p:spTgt spid="6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fade">
                                      <p:cBhvr>
                                        <p:cTn id="43" dur="400"/>
                                        <p:tgtEl>
                                          <p:spTgt spid="84"/>
                                        </p:tgtEl>
                                      </p:cBhvr>
                                    </p:animEffect>
                                  </p:childTnLst>
                                </p:cTn>
                              </p:par>
                            </p:childTnLst>
                          </p:cTn>
                        </p:par>
                        <p:par>
                          <p:cTn id="44" fill="hold">
                            <p:stCondLst>
                              <p:cond delay="400"/>
                            </p:stCondLst>
                            <p:childTnLst>
                              <p:par>
                                <p:cTn id="45" presetID="58" presetClass="entr" presetSubtype="0" accel="100000" fill="hold" grpId="0" nodeType="afterEffect">
                                  <p:stCondLst>
                                    <p:cond delay="0"/>
                                  </p:stCondLst>
                                  <p:childTnLst>
                                    <p:set>
                                      <p:cBhvr>
                                        <p:cTn id="46" dur="1" fill="hold">
                                          <p:stCondLst>
                                            <p:cond delay="0"/>
                                          </p:stCondLst>
                                        </p:cTn>
                                        <p:tgtEl>
                                          <p:spTgt spid="64"/>
                                        </p:tgtEl>
                                        <p:attrNameLst>
                                          <p:attrName>style.visibility</p:attrName>
                                        </p:attrNameLst>
                                      </p:cBhvr>
                                      <p:to>
                                        <p:strVal val="visible"/>
                                      </p:to>
                                    </p:set>
                                    <p:anim calcmode="lin" valueType="num">
                                      <p:cBhvr>
                                        <p:cTn id="47" dur="400" fill="hold"/>
                                        <p:tgtEl>
                                          <p:spTgt spid="64"/>
                                        </p:tgtEl>
                                        <p:attrNameLst>
                                          <p:attrName>ppt_w</p:attrName>
                                        </p:attrNameLst>
                                      </p:cBhvr>
                                      <p:tavLst>
                                        <p:tav tm="0">
                                          <p:val>
                                            <p:strVal val="#ppt_w*2.5"/>
                                          </p:val>
                                        </p:tav>
                                        <p:tav tm="100000">
                                          <p:val>
                                            <p:strVal val="#ppt_w"/>
                                          </p:val>
                                        </p:tav>
                                      </p:tavLst>
                                    </p:anim>
                                    <p:anim calcmode="lin" valueType="num">
                                      <p:cBhvr>
                                        <p:cTn id="48" dur="400" fill="hold"/>
                                        <p:tgtEl>
                                          <p:spTgt spid="64"/>
                                        </p:tgtEl>
                                        <p:attrNameLst>
                                          <p:attrName>ppt_h</p:attrName>
                                        </p:attrNameLst>
                                      </p:cBhvr>
                                      <p:tavLst>
                                        <p:tav tm="0">
                                          <p:val>
                                            <p:strVal val="#ppt_h*0.01"/>
                                          </p:val>
                                        </p:tav>
                                        <p:tav tm="100000">
                                          <p:val>
                                            <p:strVal val="#ppt_h"/>
                                          </p:val>
                                        </p:tav>
                                      </p:tavLst>
                                    </p:anim>
                                    <p:anim calcmode="lin" valueType="num">
                                      <p:cBhvr>
                                        <p:cTn id="49" dur="400" fill="hold"/>
                                        <p:tgtEl>
                                          <p:spTgt spid="64"/>
                                        </p:tgtEl>
                                        <p:attrNameLst>
                                          <p:attrName>ppt_x</p:attrName>
                                        </p:attrNameLst>
                                      </p:cBhvr>
                                      <p:tavLst>
                                        <p:tav tm="0">
                                          <p:val>
                                            <p:strVal val="#ppt_x"/>
                                          </p:val>
                                        </p:tav>
                                        <p:tav tm="100000">
                                          <p:val>
                                            <p:strVal val="#ppt_x"/>
                                          </p:val>
                                        </p:tav>
                                      </p:tavLst>
                                    </p:anim>
                                    <p:anim calcmode="lin" valueType="num">
                                      <p:cBhvr>
                                        <p:cTn id="50" dur="400" fill="hold"/>
                                        <p:tgtEl>
                                          <p:spTgt spid="64"/>
                                        </p:tgtEl>
                                        <p:attrNameLst>
                                          <p:attrName>ppt_y</p:attrName>
                                        </p:attrNameLst>
                                      </p:cBhvr>
                                      <p:tavLst>
                                        <p:tav tm="0">
                                          <p:val>
                                            <p:strVal val="#ppt_h+1"/>
                                          </p:val>
                                        </p:tav>
                                        <p:tav tm="100000">
                                          <p:val>
                                            <p:strVal val="#ppt_y"/>
                                          </p:val>
                                        </p:tav>
                                      </p:tavLst>
                                    </p:anim>
                                    <p:animEffect transition="in" filter="fade">
                                      <p:cBhvr>
                                        <p:cTn id="51" dur="400"/>
                                        <p:tgtEl>
                                          <p:spTgt spid="6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300"/>
                                        <p:tgtEl>
                                          <p:spTgt spid="23"/>
                                        </p:tgtEl>
                                      </p:cBhvr>
                                    </p:animEffect>
                                  </p:childTnLst>
                                </p:cTn>
                              </p:par>
                            </p:childTnLst>
                          </p:cTn>
                        </p:par>
                        <p:par>
                          <p:cTn id="57" fill="hold">
                            <p:stCondLst>
                              <p:cond delay="300"/>
                            </p:stCondLst>
                            <p:childTnLst>
                              <p:par>
                                <p:cTn id="58" presetID="10" presetClass="entr" presetSubtype="0" fill="hold"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childTnLst>
                          </p:cTn>
                        </p:par>
                        <p:par>
                          <p:cTn id="61" fill="hold">
                            <p:stCondLst>
                              <p:cond delay="750"/>
                            </p:stCondLst>
                            <p:childTnLst>
                              <p:par>
                                <p:cTn id="62" presetID="10" presetClass="entr" presetSubtype="0" fill="hold" nodeType="after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P spid="36" grpId="0" animBg="1"/>
      <p:bldP spid="6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653"/>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654"/>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655"/>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Insights Factory: a thin API that shapes data</a:t>
            </a:r>
            <a:endParaRPr lang="en-IN" sz="2200" b="1">
              <a:solidFill>
                <a:srgbClr val="FFFFFF"/>
              </a:solidFill>
              <a:latin typeface="Raleway" pitchFamily="2" charset="0"/>
            </a:endParaRPr>
          </a:p>
        </p:txBody>
      </p:sp>
      <p:sp>
        <p:nvSpPr>
          <p:cNvPr id="5" name="rd656"/>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657"/>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12  |  Radiant Digital  •  Confidential  •  All Rights Reserved  •  2026</a:t>
            </a:r>
            <a:endParaRPr lang="en-IN" sz="700">
              <a:solidFill>
                <a:srgbClr val="FFFFFF"/>
              </a:solidFill>
              <a:latin typeface="Raleway" pitchFamily="2" charset="0"/>
            </a:endParaRPr>
          </a:p>
        </p:txBody>
      </p:sp>
      <p:pic>
        <p:nvPicPr>
          <p:cNvPr id="7" name="rd65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659"/>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RUNTIME  |  STEP 2</a:t>
            </a:r>
          </a:p>
        </p:txBody>
      </p:sp>
      <p:sp>
        <p:nvSpPr>
          <p:cNvPr id="9" name="rd660"/>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The Data Insights API, a deliberately thin Do Nothing API: it delegates reasoning to the Insights Server and shapes results into GenUI JSON.</a:t>
            </a:r>
            <a:endParaRPr lang="en-IN" sz="1100">
              <a:solidFill>
                <a:srgbClr val="231F20"/>
              </a:solidFill>
              <a:latin typeface="Raleway" pitchFamily="2" charset="0"/>
            </a:endParaRPr>
          </a:p>
        </p:txBody>
      </p:sp>
      <p:grpSp>
        <p:nvGrpSpPr>
          <p:cNvPr id="15" name="rd666"/>
          <p:cNvGrpSpPr/>
          <p:nvPr/>
        </p:nvGrpSpPr>
        <p:grpSpPr>
          <a:xfrm>
            <a:off x="457200" y="1143000"/>
            <a:ext cx="2103120" cy="4297680"/>
            <a:chOff x="457200" y="1143000"/>
            <a:chExt cx="2103120" cy="4297680"/>
          </a:xfrm>
        </p:grpSpPr>
        <p:sp>
          <p:nvSpPr>
            <p:cNvPr id="10" name="rd661"/>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662"/>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663"/>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Component, Variant, Ask from the React app</a:t>
              </a:r>
              <a:endParaRPr lang="en-IN" sz="950">
                <a:solidFill>
                  <a:srgbClr val="231F20"/>
                </a:solidFill>
                <a:latin typeface="Raleway" pitchFamily="2" charset="0"/>
              </a:endParaRPr>
            </a:p>
          </p:txBody>
        </p:sp>
        <p:sp>
          <p:nvSpPr>
            <p:cNvPr id="13" name="rd664"/>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Result set data from the Insights Server</a:t>
              </a:r>
              <a:endParaRPr lang="en-IN" sz="950">
                <a:solidFill>
                  <a:srgbClr val="231F20"/>
                </a:solidFill>
                <a:latin typeface="Raleway" pitchFamily="2" charset="0"/>
              </a:endParaRPr>
            </a:p>
          </p:txBody>
        </p:sp>
        <p:sp>
          <p:nvSpPr>
            <p:cNvPr id="14" name="rd665"/>
            <p:cNvSpPr/>
            <p:nvPr/>
          </p:nvSpPr>
          <p:spPr>
            <a:xfrm>
              <a:off x="566928" y="3419856"/>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231F20"/>
                  </a:solidFill>
                  <a:latin typeface="Raleway" pitchFamily="2" charset="0"/>
                </a:rPr>
                <a:t>Component JSON models</a:t>
              </a:r>
            </a:p>
          </p:txBody>
        </p:sp>
      </p:grpSp>
      <p:sp>
        <p:nvSpPr>
          <p:cNvPr id="16" name="rd667"/>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2" name="rd673"/>
          <p:cNvGrpSpPr/>
          <p:nvPr/>
        </p:nvGrpSpPr>
        <p:grpSpPr>
          <a:xfrm>
            <a:off x="9628632" y="1143000"/>
            <a:ext cx="2103120" cy="4297680"/>
            <a:chOff x="9628632" y="1143000"/>
            <a:chExt cx="2103120" cy="4297680"/>
          </a:xfrm>
        </p:grpSpPr>
        <p:sp>
          <p:nvSpPr>
            <p:cNvPr id="17" name="rd668"/>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8" name="rd669"/>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9" name="rd670"/>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Payload to the Insights Server LLM workflow</a:t>
              </a:r>
              <a:endParaRPr lang="en-IN" sz="950">
                <a:solidFill>
                  <a:srgbClr val="FFFFFF"/>
                </a:solidFill>
                <a:latin typeface="Raleway" pitchFamily="2" charset="0"/>
              </a:endParaRPr>
            </a:p>
          </p:txBody>
        </p:sp>
        <p:sp>
          <p:nvSpPr>
            <p:cNvPr id="20" name="rd671"/>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Response JSON per component</a:t>
              </a:r>
            </a:p>
          </p:txBody>
        </p:sp>
        <p:sp>
          <p:nvSpPr>
            <p:cNvPr id="21" name="rd672"/>
            <p:cNvSpPr/>
            <p:nvPr/>
          </p:nvSpPr>
          <p:spPr>
            <a:xfrm>
              <a:off x="9738360" y="3419856"/>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One stable contract for every use case</a:t>
              </a:r>
              <a:endParaRPr lang="en-IN" sz="950">
                <a:solidFill>
                  <a:srgbClr val="FFFFFF"/>
                </a:solidFill>
                <a:latin typeface="Raleway" pitchFamily="2" charset="0"/>
              </a:endParaRPr>
            </a:p>
          </p:txBody>
        </p:sp>
      </p:grpSp>
      <p:sp>
        <p:nvSpPr>
          <p:cNvPr id="23" name="rd674"/>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8" name="rd679"/>
          <p:cNvGrpSpPr/>
          <p:nvPr/>
        </p:nvGrpSpPr>
        <p:grpSpPr>
          <a:xfrm>
            <a:off x="457200" y="5623560"/>
            <a:ext cx="11265408" cy="731520"/>
            <a:chOff x="457200" y="5623560"/>
            <a:chExt cx="11265408" cy="731520"/>
          </a:xfrm>
        </p:grpSpPr>
        <p:sp>
          <p:nvSpPr>
            <p:cNvPr id="24" name="rd675"/>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5" name="rd676"/>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Called by:</a:t>
              </a:r>
              <a:r>
                <a:rPr lang="en-IN" sz="950">
                  <a:solidFill>
                    <a:srgbClr val="231F20"/>
                  </a:solidFill>
                  <a:latin typeface="Raleway" pitchFamily="2" charset="0"/>
                </a:rPr>
                <a:t> React Application</a:t>
              </a:r>
            </a:p>
          </p:txBody>
        </p:sp>
        <p:sp>
          <p:nvSpPr>
            <p:cNvPr id="26" name="rd677"/>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Calls:</a:t>
              </a:r>
              <a:r>
                <a:rPr lang="en-US" sz="950">
                  <a:solidFill>
                    <a:srgbClr val="231F20"/>
                  </a:solidFill>
                  <a:latin typeface="Raleway" pitchFamily="2" charset="0"/>
                </a:rPr>
                <a:t> Insights Server (Step 3)</a:t>
              </a:r>
              <a:endParaRPr lang="en-IN" sz="950">
                <a:solidFill>
                  <a:srgbClr val="231F20"/>
                </a:solidFill>
                <a:latin typeface="Raleway" pitchFamily="2" charset="0"/>
              </a:endParaRPr>
            </a:p>
          </p:txBody>
        </p:sp>
        <p:sp>
          <p:nvSpPr>
            <p:cNvPr id="27" name="rd678"/>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Contract:</a:t>
              </a:r>
              <a:r>
                <a:rPr lang="en-US" sz="950">
                  <a:solidFill>
                    <a:srgbClr val="231F20"/>
                  </a:solidFill>
                  <a:latin typeface="Raleway" pitchFamily="2" charset="0"/>
                </a:rPr>
                <a:t> Component, Variant, Ask in; JSON out</a:t>
              </a:r>
              <a:endParaRPr lang="en-IN" sz="950">
                <a:solidFill>
                  <a:srgbClr val="231F20"/>
                </a:solidFill>
                <a:latin typeface="Raleway" pitchFamily="2" charset="0"/>
              </a:endParaRPr>
            </a:p>
          </p:txBody>
        </p:sp>
      </p:grpSp>
      <p:grpSp>
        <p:nvGrpSpPr>
          <p:cNvPr id="33" name="rd684"/>
          <p:cNvGrpSpPr/>
          <p:nvPr/>
        </p:nvGrpSpPr>
        <p:grpSpPr>
          <a:xfrm>
            <a:off x="2788920" y="1143000"/>
            <a:ext cx="3246120" cy="658368"/>
            <a:chOff x="2788920" y="1143000"/>
            <a:chExt cx="3246120" cy="658368"/>
          </a:xfrm>
        </p:grpSpPr>
        <p:sp>
          <p:nvSpPr>
            <p:cNvPr id="29" name="rd680"/>
            <p:cNvSpPr/>
            <p:nvPr/>
          </p:nvSpPr>
          <p:spPr>
            <a:xfrm>
              <a:off x="2788920" y="1143000"/>
              <a:ext cx="3246120" cy="658368"/>
            </a:xfrm>
            <a:prstGeom prst="roundRect">
              <a:avLst>
                <a:gd name="adj" fmla="val 10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0" name="rd681"/>
            <p:cNvSpPr/>
            <p:nvPr/>
          </p:nvSpPr>
          <p:spPr>
            <a:xfrm>
              <a:off x="2898648" y="1325880"/>
              <a:ext cx="292608" cy="29260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50" b="1">
                  <a:solidFill>
                    <a:srgbClr val="FFFFFF"/>
                  </a:solidFill>
                  <a:latin typeface="Raleway" pitchFamily="2" charset="0"/>
                </a:rPr>
                <a:t>1</a:t>
              </a:r>
            </a:p>
          </p:txBody>
        </p:sp>
        <p:sp>
          <p:nvSpPr>
            <p:cNvPr id="31" name="rd682"/>
            <p:cNvSpPr txBox="1"/>
            <p:nvPr/>
          </p:nvSpPr>
          <p:spPr>
            <a:xfrm>
              <a:off x="3291840" y="1197864"/>
              <a:ext cx="2651760" cy="237744"/>
            </a:xfrm>
            <a:prstGeom prst="rect">
              <a:avLst/>
            </a:prstGeom>
            <a:noFill/>
          </p:spPr>
          <p:txBody>
            <a:bodyPr vert="horz" wrap="square" lIns="0" tIns="0" rIns="0" bIns="0" rtlCol="0" anchor="ctr">
              <a:noAutofit/>
            </a:bodyPr>
            <a:lstStyle/>
            <a:p>
              <a:r>
                <a:rPr lang="en-US" sz="1000" b="1">
                  <a:solidFill>
                    <a:srgbClr val="074661"/>
                  </a:solidFill>
                  <a:latin typeface="Raleway" pitchFamily="2" charset="0"/>
                </a:rPr>
                <a:t>5 Standard APIs are defined</a:t>
              </a:r>
              <a:endParaRPr lang="en-IN" sz="1000" b="1">
                <a:solidFill>
                  <a:srgbClr val="074661"/>
                </a:solidFill>
                <a:latin typeface="Raleway" pitchFamily="2" charset="0"/>
              </a:endParaRPr>
            </a:p>
          </p:txBody>
        </p:sp>
        <p:sp>
          <p:nvSpPr>
            <p:cNvPr id="32" name="rd683"/>
            <p:cNvSpPr txBox="1"/>
            <p:nvPr/>
          </p:nvSpPr>
          <p:spPr>
            <a:xfrm>
              <a:off x="3291840" y="1435608"/>
              <a:ext cx="2651760" cy="329184"/>
            </a:xfrm>
            <a:prstGeom prst="rect">
              <a:avLst/>
            </a:prstGeom>
            <a:noFill/>
          </p:spPr>
          <p:txBody>
            <a:bodyPr vert="horz" wrap="square" lIns="0" tIns="0" rIns="0" bIns="0" rtlCol="0" anchor="t">
              <a:noAutofit/>
            </a:bodyPr>
            <a:lstStyle/>
            <a:p>
              <a:r>
                <a:rPr lang="en-US" sz="850">
                  <a:solidFill>
                    <a:srgbClr val="231F20"/>
                  </a:solidFill>
                  <a:latin typeface="Raleway" pitchFamily="2" charset="0"/>
                </a:rPr>
                <a:t>A fixed, reusable API surface shared by every use case.</a:t>
              </a:r>
              <a:endParaRPr lang="en-IN" sz="850">
                <a:solidFill>
                  <a:srgbClr val="231F20"/>
                </a:solidFill>
                <a:latin typeface="Raleway" pitchFamily="2" charset="0"/>
              </a:endParaRPr>
            </a:p>
          </p:txBody>
        </p:sp>
      </p:grpSp>
      <p:grpSp>
        <p:nvGrpSpPr>
          <p:cNvPr id="38" name="rd689"/>
          <p:cNvGrpSpPr/>
          <p:nvPr/>
        </p:nvGrpSpPr>
        <p:grpSpPr>
          <a:xfrm>
            <a:off x="2788920" y="1865376"/>
            <a:ext cx="3246120" cy="658368"/>
            <a:chOff x="2788920" y="1865376"/>
            <a:chExt cx="3246120" cy="658368"/>
          </a:xfrm>
        </p:grpSpPr>
        <p:sp>
          <p:nvSpPr>
            <p:cNvPr id="34" name="rd685"/>
            <p:cNvSpPr/>
            <p:nvPr/>
          </p:nvSpPr>
          <p:spPr>
            <a:xfrm>
              <a:off x="2788920" y="1865376"/>
              <a:ext cx="3246120" cy="658368"/>
            </a:xfrm>
            <a:prstGeom prst="roundRect">
              <a:avLst>
                <a:gd name="adj" fmla="val 10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5" name="rd686"/>
            <p:cNvSpPr/>
            <p:nvPr/>
          </p:nvSpPr>
          <p:spPr>
            <a:xfrm>
              <a:off x="2898648" y="2048256"/>
              <a:ext cx="292608" cy="29260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50" b="1">
                  <a:solidFill>
                    <a:srgbClr val="FFFFFF"/>
                  </a:solidFill>
                  <a:latin typeface="Raleway" pitchFamily="2" charset="0"/>
                </a:rPr>
                <a:t>2</a:t>
              </a:r>
            </a:p>
          </p:txBody>
        </p:sp>
        <p:sp>
          <p:nvSpPr>
            <p:cNvPr id="36" name="rd687"/>
            <p:cNvSpPr txBox="1"/>
            <p:nvPr/>
          </p:nvSpPr>
          <p:spPr>
            <a:xfrm>
              <a:off x="3291840" y="1920240"/>
              <a:ext cx="2651760" cy="237744"/>
            </a:xfrm>
            <a:prstGeom prst="rect">
              <a:avLst/>
            </a:prstGeom>
            <a:noFill/>
          </p:spPr>
          <p:txBody>
            <a:bodyPr vert="horz" wrap="square" lIns="0" tIns="0" rIns="0" bIns="0" rtlCol="0" anchor="ctr">
              <a:noAutofit/>
            </a:bodyPr>
            <a:lstStyle/>
            <a:p>
              <a:r>
                <a:rPr lang="en-US" sz="1000" b="1">
                  <a:solidFill>
                    <a:srgbClr val="074661"/>
                  </a:solidFill>
                  <a:latin typeface="Raleway" pitchFamily="2" charset="0"/>
                </a:rPr>
                <a:t>Defined JSON structure for GenUI</a:t>
              </a:r>
              <a:endParaRPr lang="en-IN" sz="1000" b="1">
                <a:solidFill>
                  <a:srgbClr val="074661"/>
                </a:solidFill>
                <a:latin typeface="Raleway" pitchFamily="2" charset="0"/>
              </a:endParaRPr>
            </a:p>
          </p:txBody>
        </p:sp>
        <p:sp>
          <p:nvSpPr>
            <p:cNvPr id="37" name="rd688"/>
            <p:cNvSpPr txBox="1"/>
            <p:nvPr/>
          </p:nvSpPr>
          <p:spPr>
            <a:xfrm>
              <a:off x="3291840" y="2157984"/>
              <a:ext cx="2651760" cy="329184"/>
            </a:xfrm>
            <a:prstGeom prst="rect">
              <a:avLst/>
            </a:prstGeom>
            <a:noFill/>
          </p:spPr>
          <p:txBody>
            <a:bodyPr vert="horz" wrap="square" lIns="0" tIns="0" rIns="0" bIns="0" rtlCol="0" anchor="t">
              <a:noAutofit/>
            </a:bodyPr>
            <a:lstStyle/>
            <a:p>
              <a:r>
                <a:rPr lang="it-IT" sz="850">
                  <a:solidFill>
                    <a:srgbClr val="231F20"/>
                  </a:solidFill>
                  <a:latin typeface="Raleway" pitchFamily="2" charset="0"/>
                </a:rPr>
                <a:t>One JSON model per GenUI component.</a:t>
              </a:r>
              <a:endParaRPr lang="en-IN" sz="850">
                <a:solidFill>
                  <a:srgbClr val="231F20"/>
                </a:solidFill>
                <a:latin typeface="Raleway" pitchFamily="2" charset="0"/>
              </a:endParaRPr>
            </a:p>
          </p:txBody>
        </p:sp>
      </p:grpSp>
      <p:grpSp>
        <p:nvGrpSpPr>
          <p:cNvPr id="43" name="rd694"/>
          <p:cNvGrpSpPr/>
          <p:nvPr/>
        </p:nvGrpSpPr>
        <p:grpSpPr>
          <a:xfrm>
            <a:off x="2788920" y="2587752"/>
            <a:ext cx="3246120" cy="658368"/>
            <a:chOff x="2788920" y="2587752"/>
            <a:chExt cx="3246120" cy="658368"/>
          </a:xfrm>
        </p:grpSpPr>
        <p:sp>
          <p:nvSpPr>
            <p:cNvPr id="39" name="rd690"/>
            <p:cNvSpPr/>
            <p:nvPr/>
          </p:nvSpPr>
          <p:spPr>
            <a:xfrm>
              <a:off x="2788920" y="2587752"/>
              <a:ext cx="3246120" cy="658368"/>
            </a:xfrm>
            <a:prstGeom prst="roundRect">
              <a:avLst>
                <a:gd name="adj" fmla="val 10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0" name="rd691"/>
            <p:cNvSpPr/>
            <p:nvPr/>
          </p:nvSpPr>
          <p:spPr>
            <a:xfrm>
              <a:off x="2898648" y="2770632"/>
              <a:ext cx="292608" cy="29260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50" b="1">
                  <a:solidFill>
                    <a:srgbClr val="FFFFFF"/>
                  </a:solidFill>
                  <a:latin typeface="Raleway" pitchFamily="2" charset="0"/>
                </a:rPr>
                <a:t>3</a:t>
              </a:r>
            </a:p>
          </p:txBody>
        </p:sp>
        <p:sp>
          <p:nvSpPr>
            <p:cNvPr id="41" name="rd692"/>
            <p:cNvSpPr txBox="1"/>
            <p:nvPr/>
          </p:nvSpPr>
          <p:spPr>
            <a:xfrm>
              <a:off x="3291840" y="2642616"/>
              <a:ext cx="2651760" cy="23774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Defined input payload</a:t>
              </a:r>
            </a:p>
          </p:txBody>
        </p:sp>
        <p:sp>
          <p:nvSpPr>
            <p:cNvPr id="42" name="rd693"/>
            <p:cNvSpPr txBox="1"/>
            <p:nvPr/>
          </p:nvSpPr>
          <p:spPr>
            <a:xfrm>
              <a:off x="3291840" y="2880360"/>
              <a:ext cx="2651760" cy="329184"/>
            </a:xfrm>
            <a:prstGeom prst="rect">
              <a:avLst/>
            </a:prstGeom>
            <a:noFill/>
          </p:spPr>
          <p:txBody>
            <a:bodyPr vert="horz" wrap="square" lIns="0" tIns="0" rIns="0" bIns="0" rtlCol="0" anchor="t">
              <a:noAutofit/>
            </a:bodyPr>
            <a:lstStyle/>
            <a:p>
              <a:r>
                <a:rPr lang="en-US" sz="850">
                  <a:solidFill>
                    <a:srgbClr val="231F20"/>
                  </a:solidFill>
                  <a:latin typeface="Raleway" pitchFamily="2" charset="0"/>
                </a:rPr>
                <a:t>Every request names the Component and Variant, plus the Ask.</a:t>
              </a:r>
              <a:endParaRPr lang="en-IN" sz="850">
                <a:solidFill>
                  <a:srgbClr val="231F20"/>
                </a:solidFill>
                <a:latin typeface="Raleway" pitchFamily="2" charset="0"/>
              </a:endParaRPr>
            </a:p>
          </p:txBody>
        </p:sp>
      </p:grpSp>
      <p:grpSp>
        <p:nvGrpSpPr>
          <p:cNvPr id="48" name="rd699"/>
          <p:cNvGrpSpPr/>
          <p:nvPr/>
        </p:nvGrpSpPr>
        <p:grpSpPr>
          <a:xfrm>
            <a:off x="2788920" y="3310128"/>
            <a:ext cx="3246120" cy="658368"/>
            <a:chOff x="2788920" y="3310128"/>
            <a:chExt cx="3246120" cy="658368"/>
          </a:xfrm>
        </p:grpSpPr>
        <p:sp>
          <p:nvSpPr>
            <p:cNvPr id="44" name="rd695"/>
            <p:cNvSpPr/>
            <p:nvPr/>
          </p:nvSpPr>
          <p:spPr>
            <a:xfrm>
              <a:off x="2788920" y="3310128"/>
              <a:ext cx="3246120" cy="658368"/>
            </a:xfrm>
            <a:prstGeom prst="roundRect">
              <a:avLst>
                <a:gd name="adj" fmla="val 10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5" name="rd696"/>
            <p:cNvSpPr/>
            <p:nvPr/>
          </p:nvSpPr>
          <p:spPr>
            <a:xfrm>
              <a:off x="2898648" y="3493008"/>
              <a:ext cx="292608" cy="29260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50" b="1">
                  <a:solidFill>
                    <a:srgbClr val="FFFFFF"/>
                  </a:solidFill>
                  <a:latin typeface="Raleway" pitchFamily="2" charset="0"/>
                </a:rPr>
                <a:t>4</a:t>
              </a:r>
            </a:p>
          </p:txBody>
        </p:sp>
        <p:sp>
          <p:nvSpPr>
            <p:cNvPr id="46" name="rd697"/>
            <p:cNvSpPr txBox="1"/>
            <p:nvPr/>
          </p:nvSpPr>
          <p:spPr>
            <a:xfrm>
              <a:off x="3291840" y="3364992"/>
              <a:ext cx="2651760" cy="23774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Connects with Insights Server</a:t>
              </a:r>
            </a:p>
          </p:txBody>
        </p:sp>
        <p:sp>
          <p:nvSpPr>
            <p:cNvPr id="47" name="rd698"/>
            <p:cNvSpPr txBox="1"/>
            <p:nvPr/>
          </p:nvSpPr>
          <p:spPr>
            <a:xfrm>
              <a:off x="3291840" y="3602736"/>
              <a:ext cx="2651760" cy="329184"/>
            </a:xfrm>
            <a:prstGeom prst="rect">
              <a:avLst/>
            </a:prstGeom>
            <a:noFill/>
          </p:spPr>
          <p:txBody>
            <a:bodyPr vert="horz" wrap="square" lIns="0" tIns="0" rIns="0" bIns="0" rtlCol="0" anchor="t">
              <a:noAutofit/>
            </a:bodyPr>
            <a:lstStyle/>
            <a:p>
              <a:r>
                <a:rPr lang="en-US" sz="850">
                  <a:solidFill>
                    <a:srgbClr val="231F20"/>
                  </a:solidFill>
                  <a:latin typeface="Raleway" pitchFamily="2" charset="0"/>
                </a:rPr>
                <a:t>Forwards the payload; all reasoning happens in the LLM workflow.</a:t>
              </a:r>
              <a:endParaRPr lang="en-IN" sz="850">
                <a:solidFill>
                  <a:srgbClr val="231F20"/>
                </a:solidFill>
                <a:latin typeface="Raleway" pitchFamily="2" charset="0"/>
              </a:endParaRPr>
            </a:p>
          </p:txBody>
        </p:sp>
      </p:grpSp>
      <p:grpSp>
        <p:nvGrpSpPr>
          <p:cNvPr id="53" name="rd704"/>
          <p:cNvGrpSpPr/>
          <p:nvPr/>
        </p:nvGrpSpPr>
        <p:grpSpPr>
          <a:xfrm>
            <a:off x="2788920" y="4032504"/>
            <a:ext cx="3246120" cy="658368"/>
            <a:chOff x="2788920" y="4032504"/>
            <a:chExt cx="3246120" cy="658368"/>
          </a:xfrm>
        </p:grpSpPr>
        <p:sp>
          <p:nvSpPr>
            <p:cNvPr id="49" name="rd700"/>
            <p:cNvSpPr/>
            <p:nvPr/>
          </p:nvSpPr>
          <p:spPr>
            <a:xfrm>
              <a:off x="2788920" y="4032504"/>
              <a:ext cx="3246120" cy="658368"/>
            </a:xfrm>
            <a:prstGeom prst="roundRect">
              <a:avLst>
                <a:gd name="adj" fmla="val 10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0" name="rd701"/>
            <p:cNvSpPr/>
            <p:nvPr/>
          </p:nvSpPr>
          <p:spPr>
            <a:xfrm>
              <a:off x="2898648" y="4215384"/>
              <a:ext cx="292608" cy="29260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50" b="1">
                  <a:solidFill>
                    <a:srgbClr val="FFFFFF"/>
                  </a:solidFill>
                  <a:latin typeface="Raleway" pitchFamily="2" charset="0"/>
                </a:rPr>
                <a:t>5</a:t>
              </a:r>
            </a:p>
          </p:txBody>
        </p:sp>
        <p:sp>
          <p:nvSpPr>
            <p:cNvPr id="51" name="rd702"/>
            <p:cNvSpPr txBox="1"/>
            <p:nvPr/>
          </p:nvSpPr>
          <p:spPr>
            <a:xfrm>
              <a:off x="3291840" y="4087368"/>
              <a:ext cx="2651760" cy="237744"/>
            </a:xfrm>
            <a:prstGeom prst="rect">
              <a:avLst/>
            </a:prstGeom>
            <a:noFill/>
          </p:spPr>
          <p:txBody>
            <a:bodyPr vert="horz" wrap="square" lIns="0" tIns="0" rIns="0" bIns="0" rtlCol="0" anchor="ctr">
              <a:noAutofit/>
            </a:bodyPr>
            <a:lstStyle/>
            <a:p>
              <a:r>
                <a:rPr lang="en-US" sz="1000" b="1">
                  <a:solidFill>
                    <a:srgbClr val="074661"/>
                  </a:solidFill>
                  <a:latin typeface="Raleway" pitchFamily="2" charset="0"/>
                </a:rPr>
                <a:t>Retrieves data from Insights Server</a:t>
              </a:r>
              <a:endParaRPr lang="en-IN" sz="1000" b="1">
                <a:solidFill>
                  <a:srgbClr val="074661"/>
                </a:solidFill>
                <a:latin typeface="Raleway" pitchFamily="2" charset="0"/>
              </a:endParaRPr>
            </a:p>
          </p:txBody>
        </p:sp>
        <p:sp>
          <p:nvSpPr>
            <p:cNvPr id="52" name="rd703"/>
            <p:cNvSpPr txBox="1"/>
            <p:nvPr/>
          </p:nvSpPr>
          <p:spPr>
            <a:xfrm>
              <a:off x="3291840" y="4325112"/>
              <a:ext cx="2651760" cy="329184"/>
            </a:xfrm>
            <a:prstGeom prst="rect">
              <a:avLst/>
            </a:prstGeom>
            <a:noFill/>
          </p:spPr>
          <p:txBody>
            <a:bodyPr vert="horz" wrap="square" lIns="0" tIns="0" rIns="0" bIns="0" rtlCol="0" anchor="t">
              <a:noAutofit/>
            </a:bodyPr>
            <a:lstStyle/>
            <a:p>
              <a:r>
                <a:rPr lang="en-US" sz="850">
                  <a:solidFill>
                    <a:srgbClr val="231F20"/>
                  </a:solidFill>
                  <a:latin typeface="Raleway" pitchFamily="2" charset="0"/>
                </a:rPr>
                <a:t>Receives the result set data for the request.</a:t>
              </a:r>
              <a:endParaRPr lang="en-IN" sz="850">
                <a:solidFill>
                  <a:srgbClr val="231F20"/>
                </a:solidFill>
                <a:latin typeface="Raleway" pitchFamily="2" charset="0"/>
              </a:endParaRPr>
            </a:p>
          </p:txBody>
        </p:sp>
      </p:grpSp>
      <p:grpSp>
        <p:nvGrpSpPr>
          <p:cNvPr id="58" name="rd709"/>
          <p:cNvGrpSpPr/>
          <p:nvPr/>
        </p:nvGrpSpPr>
        <p:grpSpPr>
          <a:xfrm>
            <a:off x="2788920" y="4754880"/>
            <a:ext cx="3246120" cy="658368"/>
            <a:chOff x="2788920" y="4754880"/>
            <a:chExt cx="3246120" cy="658368"/>
          </a:xfrm>
        </p:grpSpPr>
        <p:sp>
          <p:nvSpPr>
            <p:cNvPr id="54" name="rd705"/>
            <p:cNvSpPr/>
            <p:nvPr/>
          </p:nvSpPr>
          <p:spPr>
            <a:xfrm>
              <a:off x="2788920" y="4754880"/>
              <a:ext cx="3246120" cy="658368"/>
            </a:xfrm>
            <a:prstGeom prst="roundRect">
              <a:avLst>
                <a:gd name="adj" fmla="val 10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5" name="rd706"/>
            <p:cNvSpPr/>
            <p:nvPr/>
          </p:nvSpPr>
          <p:spPr>
            <a:xfrm>
              <a:off x="2898648" y="4937760"/>
              <a:ext cx="292608" cy="292608"/>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950" b="1">
                  <a:solidFill>
                    <a:srgbClr val="FFFFFF"/>
                  </a:solidFill>
                  <a:latin typeface="Raleway" pitchFamily="2" charset="0"/>
                </a:rPr>
                <a:t>6</a:t>
              </a:r>
            </a:p>
          </p:txBody>
        </p:sp>
        <p:sp>
          <p:nvSpPr>
            <p:cNvPr id="56" name="rd707"/>
            <p:cNvSpPr txBox="1"/>
            <p:nvPr/>
          </p:nvSpPr>
          <p:spPr>
            <a:xfrm>
              <a:off x="3291840" y="4809744"/>
              <a:ext cx="2651760" cy="237744"/>
            </a:xfrm>
            <a:prstGeom prst="rect">
              <a:avLst/>
            </a:prstGeom>
            <a:noFill/>
          </p:spPr>
          <p:txBody>
            <a:bodyPr vert="horz" wrap="square" lIns="0" tIns="0" rIns="0" bIns="0" rtlCol="0" anchor="ctr">
              <a:noAutofit/>
            </a:bodyPr>
            <a:lstStyle/>
            <a:p>
              <a:r>
                <a:rPr lang="en-IN" sz="1000" b="1">
                  <a:solidFill>
                    <a:srgbClr val="074661"/>
                  </a:solidFill>
                  <a:latin typeface="Raleway" pitchFamily="2" charset="0"/>
                </a:rPr>
                <a:t>Transform utility</a:t>
              </a:r>
            </a:p>
          </p:txBody>
        </p:sp>
        <p:sp>
          <p:nvSpPr>
            <p:cNvPr id="57" name="rd708"/>
            <p:cNvSpPr txBox="1"/>
            <p:nvPr/>
          </p:nvSpPr>
          <p:spPr>
            <a:xfrm>
              <a:off x="3291840" y="5047488"/>
              <a:ext cx="2651760" cy="329184"/>
            </a:xfrm>
            <a:prstGeom prst="rect">
              <a:avLst/>
            </a:prstGeom>
            <a:noFill/>
          </p:spPr>
          <p:txBody>
            <a:bodyPr vert="horz" wrap="square" lIns="0" tIns="0" rIns="0" bIns="0" rtlCol="0" anchor="t">
              <a:noAutofit/>
            </a:bodyPr>
            <a:lstStyle/>
            <a:p>
              <a:r>
                <a:rPr lang="en-US" sz="850">
                  <a:solidFill>
                    <a:srgbClr val="231F20"/>
                  </a:solidFill>
                  <a:latin typeface="Raleway" pitchFamily="2" charset="0"/>
                </a:rPr>
                <a:t>Maps raw data rows to the component Response JSON.</a:t>
              </a:r>
              <a:endParaRPr lang="en-IN" sz="850">
                <a:solidFill>
                  <a:srgbClr val="231F20"/>
                </a:solidFill>
                <a:latin typeface="Raleway" pitchFamily="2" charset="0"/>
              </a:endParaRPr>
            </a:p>
          </p:txBody>
        </p:sp>
      </p:grpSp>
      <p:grpSp>
        <p:nvGrpSpPr>
          <p:cNvPr id="75" name="rd726"/>
          <p:cNvGrpSpPr/>
          <p:nvPr/>
        </p:nvGrpSpPr>
        <p:grpSpPr>
          <a:xfrm>
            <a:off x="6217920" y="1143000"/>
            <a:ext cx="3200400" cy="4297680"/>
            <a:chOff x="6217920" y="1143000"/>
            <a:chExt cx="3200400" cy="4297680"/>
          </a:xfrm>
        </p:grpSpPr>
        <p:sp>
          <p:nvSpPr>
            <p:cNvPr id="59" name="rd710"/>
            <p:cNvSpPr/>
            <p:nvPr/>
          </p:nvSpPr>
          <p:spPr>
            <a:xfrm>
              <a:off x="6217920" y="1143000"/>
              <a:ext cx="320040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0" name="rd711"/>
            <p:cNvSpPr txBox="1"/>
            <p:nvPr/>
          </p:nvSpPr>
          <p:spPr>
            <a:xfrm>
              <a:off x="6355080" y="1216152"/>
              <a:ext cx="292608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TRANSFORM UTILITY</a:t>
              </a:r>
            </a:p>
          </p:txBody>
        </p:sp>
        <p:sp>
          <p:nvSpPr>
            <p:cNvPr id="61" name="rd712"/>
            <p:cNvSpPr txBox="1"/>
            <p:nvPr/>
          </p:nvSpPr>
          <p:spPr>
            <a:xfrm>
              <a:off x="6355080" y="1444752"/>
              <a:ext cx="2926080" cy="365760"/>
            </a:xfrm>
            <a:prstGeom prst="rect">
              <a:avLst/>
            </a:prstGeom>
            <a:noFill/>
          </p:spPr>
          <p:txBody>
            <a:bodyPr vert="horz" wrap="square" lIns="0" tIns="0" rIns="0" bIns="0" rtlCol="0" anchor="t">
              <a:noAutofit/>
            </a:bodyPr>
            <a:lstStyle/>
            <a:p>
              <a:r>
                <a:rPr lang="en-IN" sz="900">
                  <a:solidFill>
                    <a:srgbClr val="231F20"/>
                  </a:solidFill>
                  <a:latin typeface="Raleway" pitchFamily="2" charset="0"/>
                </a:rPr>
                <a:t>Declarative mapping: one JSON model per GenUI component</a:t>
              </a:r>
            </a:p>
          </p:txBody>
        </p:sp>
        <p:sp>
          <p:nvSpPr>
            <p:cNvPr id="62" name="rd713"/>
            <p:cNvSpPr/>
            <p:nvPr/>
          </p:nvSpPr>
          <p:spPr>
            <a:xfrm>
              <a:off x="6355080" y="1901952"/>
              <a:ext cx="841248" cy="384048"/>
            </a:xfrm>
            <a:prstGeom prst="roundRect">
              <a:avLst>
                <a:gd name="adj" fmla="val 2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27432" tIns="0" rIns="27432" bIns="0" rtlCol="0" anchor="ctr"/>
            <a:lstStyle/>
            <a:p>
              <a:pPr algn="ctr"/>
              <a:r>
                <a:rPr lang="en-IN" sz="800" b="1">
                  <a:solidFill>
                    <a:srgbClr val="074661"/>
                  </a:solidFill>
                  <a:latin typeface="Raleway" pitchFamily="2" charset="0"/>
                </a:rPr>
                <a:t>Raw rows</a:t>
              </a:r>
            </a:p>
          </p:txBody>
        </p:sp>
        <p:cxnSp>
          <p:nvCxnSpPr>
            <p:cNvPr id="63" name="rd714"/>
            <p:cNvCxnSpPr/>
            <p:nvPr/>
          </p:nvCxnSpPr>
          <p:spPr>
            <a:xfrm>
              <a:off x="7214616" y="2093976"/>
              <a:ext cx="164592" cy="0"/>
            </a:xfrm>
            <a:prstGeom prst="line">
              <a:avLst/>
            </a:prstGeom>
            <a:ln w="15875">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sp>
          <p:nvSpPr>
            <p:cNvPr id="64" name="rd715"/>
            <p:cNvSpPr/>
            <p:nvPr/>
          </p:nvSpPr>
          <p:spPr>
            <a:xfrm>
              <a:off x="7397496" y="1901952"/>
              <a:ext cx="841248" cy="384048"/>
            </a:xfrm>
            <a:prstGeom prst="roundRect">
              <a:avLst>
                <a:gd name="adj" fmla="val 2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27432" tIns="0" rIns="27432" bIns="0" rtlCol="0" anchor="ctr"/>
            <a:lstStyle/>
            <a:p>
              <a:pPr algn="ctr"/>
              <a:r>
                <a:rPr lang="en-IN" sz="800" b="1">
                  <a:solidFill>
                    <a:srgbClr val="074661"/>
                  </a:solidFill>
                  <a:latin typeface="Raleway" pitchFamily="2" charset="0"/>
                </a:rPr>
                <a:t>Component model</a:t>
              </a:r>
            </a:p>
          </p:txBody>
        </p:sp>
        <p:cxnSp>
          <p:nvCxnSpPr>
            <p:cNvPr id="65" name="rd716"/>
            <p:cNvCxnSpPr/>
            <p:nvPr/>
          </p:nvCxnSpPr>
          <p:spPr>
            <a:xfrm>
              <a:off x="8257032" y="2093976"/>
              <a:ext cx="164592" cy="0"/>
            </a:xfrm>
            <a:prstGeom prst="line">
              <a:avLst/>
            </a:prstGeom>
            <a:ln w="15875">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sp>
          <p:nvSpPr>
            <p:cNvPr id="66" name="rd717"/>
            <p:cNvSpPr/>
            <p:nvPr/>
          </p:nvSpPr>
          <p:spPr>
            <a:xfrm>
              <a:off x="8439912" y="1901952"/>
              <a:ext cx="841248" cy="384048"/>
            </a:xfrm>
            <a:prstGeom prst="roundRect">
              <a:avLst>
                <a:gd name="adj" fmla="val 20000"/>
              </a:avLst>
            </a:prstGeom>
            <a:solidFill>
              <a:srgbClr val="074661"/>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27432" tIns="0" rIns="27432" bIns="0" rtlCol="0" anchor="ctr"/>
            <a:lstStyle/>
            <a:p>
              <a:pPr algn="ctr"/>
              <a:r>
                <a:rPr lang="en-IN" sz="800" b="1">
                  <a:solidFill>
                    <a:srgbClr val="FFFFFF"/>
                  </a:solidFill>
                  <a:latin typeface="Raleway" pitchFamily="2" charset="0"/>
                </a:rPr>
                <a:t>Response JSON</a:t>
              </a:r>
            </a:p>
          </p:txBody>
        </p:sp>
        <p:sp>
          <p:nvSpPr>
            <p:cNvPr id="67" name="rd718"/>
            <p:cNvSpPr/>
            <p:nvPr/>
          </p:nvSpPr>
          <p:spPr>
            <a:xfrm>
              <a:off x="6355080" y="2423160"/>
              <a:ext cx="2926080" cy="17830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700">
                  <a:solidFill>
                    <a:srgbClr val="FFFFFF"/>
                  </a:solidFill>
                  <a:latin typeface="Consolas" panose="020B0609020204030204" pitchFamily="49" charset="0"/>
                </a:rPr>
                <a:t>{</a:t>
              </a:r>
            </a:p>
            <a:p>
              <a:r>
                <a:rPr lang="en-IN" sz="700">
                  <a:solidFill>
                    <a:srgbClr val="FFFFFF"/>
                  </a:solidFill>
                  <a:latin typeface="Consolas" panose="020B0609020204030204" pitchFamily="49" charset="0"/>
                </a:rPr>
                <a:t>  "component": "ChurnModel",</a:t>
              </a:r>
            </a:p>
            <a:p>
              <a:r>
                <a:rPr lang="en-IN" sz="700">
                  <a:solidFill>
                    <a:srgbClr val="FFFFFF"/>
                  </a:solidFill>
                  <a:latin typeface="Consolas" panose="020B0609020204030204" pitchFamily="49" charset="0"/>
                </a:rPr>
                <a:t>  "output": {</a:t>
              </a:r>
            </a:p>
            <a:p>
              <a:r>
                <a:rPr lang="en-IN" sz="700">
                  <a:solidFill>
                    <a:srgbClr val="FFFFFF"/>
                  </a:solidFill>
                  <a:latin typeface="Consolas" panose="020B0609020204030204" pitchFamily="49" charset="0"/>
                </a:rPr>
                <a:t>    "summary": { "type": "object", ... },</a:t>
              </a:r>
            </a:p>
            <a:p>
              <a:r>
                <a:rPr lang="en-IN" sz="700">
                  <a:solidFill>
                    <a:srgbClr val="FFFFFF"/>
                  </a:solidFill>
                  <a:latin typeface="Consolas" panose="020B0609020204030204" pitchFamily="49" charset="0"/>
                </a:rPr>
                <a:t>    "weekly_trend": {</a:t>
              </a:r>
            </a:p>
            <a:p>
              <a:r>
                <a:rPr lang="en-IN" sz="700">
                  <a:solidFill>
                    <a:srgbClr val="FFFFFF"/>
                  </a:solidFill>
                  <a:latin typeface="Consolas" panose="020B0609020204030204" pitchFamily="49" charset="0"/>
                </a:rPr>
                <a:t>      "type": "array",</a:t>
              </a:r>
            </a:p>
            <a:p>
              <a:r>
                <a:rPr lang="en-IN" sz="700">
                  <a:solidFill>
                    <a:srgbClr val="FFFFFF"/>
                  </a:solidFill>
                  <a:latin typeface="Consolas" panose="020B0609020204030204" pitchFamily="49" charset="0"/>
                </a:rPr>
                <a:t>      "source": "weekly_trend_rows",</a:t>
              </a:r>
            </a:p>
            <a:p>
              <a:r>
                <a:rPr lang="en-IN" sz="700">
                  <a:solidFill>
                    <a:srgbClr val="FFFFFF"/>
                  </a:solidFill>
                  <a:latin typeface="Consolas" panose="020B0609020204030204" pitchFamily="49" charset="0"/>
                </a:rPr>
                <a:t>      "output": {</a:t>
              </a:r>
            </a:p>
            <a:p>
              <a:r>
                <a:rPr lang="en-IN" sz="700">
                  <a:solidFill>
                    <a:srgbClr val="FFFFFF"/>
                  </a:solidFill>
                  <a:latin typeface="Consolas" panose="020B0609020204030204" pitchFamily="49" charset="0"/>
                </a:rPr>
                <a:t>        "week": { "type": "field", "source": "week" }</a:t>
              </a:r>
            </a:p>
            <a:p>
              <a:r>
                <a:rPr lang="en-IN" sz="700">
                  <a:solidFill>
                    <a:srgbClr val="FFFFFF"/>
                  </a:solidFill>
                  <a:latin typeface="Consolas" panose="020B0609020204030204" pitchFamily="49" charset="0"/>
                </a:rPr>
                <a:t>      } } } }</a:t>
              </a:r>
            </a:p>
          </p:txBody>
        </p:sp>
        <p:sp>
          <p:nvSpPr>
            <p:cNvPr id="68" name="rd719"/>
            <p:cNvSpPr txBox="1"/>
            <p:nvPr/>
          </p:nvSpPr>
          <p:spPr>
            <a:xfrm>
              <a:off x="6355080" y="4315968"/>
              <a:ext cx="2926080" cy="201168"/>
            </a:xfrm>
            <a:prstGeom prst="rect">
              <a:avLst/>
            </a:prstGeom>
            <a:noFill/>
          </p:spPr>
          <p:txBody>
            <a:bodyPr vert="horz" wrap="square" lIns="0" tIns="0" rIns="0" bIns="0" rtlCol="0" anchor="t">
              <a:noAutofit/>
            </a:bodyPr>
            <a:lstStyle/>
            <a:p>
              <a:r>
                <a:rPr lang="en-IN" sz="800" b="1">
                  <a:solidFill>
                    <a:srgbClr val="0596AE"/>
                  </a:solidFill>
                  <a:latin typeface="Raleway" pitchFamily="2" charset="0"/>
                </a:rPr>
                <a:t>NODE TYPES</a:t>
              </a:r>
            </a:p>
          </p:txBody>
        </p:sp>
        <p:sp>
          <p:nvSpPr>
            <p:cNvPr id="69" name="rd720"/>
            <p:cNvSpPr/>
            <p:nvPr/>
          </p:nvSpPr>
          <p:spPr>
            <a:xfrm>
              <a:off x="6355080" y="4553712"/>
              <a:ext cx="548640" cy="219456"/>
            </a:xfrm>
            <a:prstGeom prst="roundRect">
              <a:avLst>
                <a:gd name="adj" fmla="val 3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static</a:t>
              </a:r>
            </a:p>
          </p:txBody>
        </p:sp>
        <p:sp>
          <p:nvSpPr>
            <p:cNvPr id="70" name="rd721"/>
            <p:cNvSpPr/>
            <p:nvPr/>
          </p:nvSpPr>
          <p:spPr>
            <a:xfrm>
              <a:off x="6949440" y="4553712"/>
              <a:ext cx="548640" cy="219456"/>
            </a:xfrm>
            <a:prstGeom prst="roundRect">
              <a:avLst>
                <a:gd name="adj" fmla="val 3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field</a:t>
              </a:r>
            </a:p>
          </p:txBody>
        </p:sp>
        <p:sp>
          <p:nvSpPr>
            <p:cNvPr id="71" name="rd722"/>
            <p:cNvSpPr/>
            <p:nvPr/>
          </p:nvSpPr>
          <p:spPr>
            <a:xfrm>
              <a:off x="7543800" y="4553712"/>
              <a:ext cx="548640" cy="219456"/>
            </a:xfrm>
            <a:prstGeom prst="roundRect">
              <a:avLst>
                <a:gd name="adj" fmla="val 3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template</a:t>
              </a:r>
            </a:p>
          </p:txBody>
        </p:sp>
        <p:sp>
          <p:nvSpPr>
            <p:cNvPr id="72" name="rd723"/>
            <p:cNvSpPr/>
            <p:nvPr/>
          </p:nvSpPr>
          <p:spPr>
            <a:xfrm>
              <a:off x="8138160" y="4553712"/>
              <a:ext cx="548640" cy="219456"/>
            </a:xfrm>
            <a:prstGeom prst="roundRect">
              <a:avLst>
                <a:gd name="adj" fmla="val 3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object</a:t>
              </a:r>
            </a:p>
          </p:txBody>
        </p:sp>
        <p:sp>
          <p:nvSpPr>
            <p:cNvPr id="73" name="rd724"/>
            <p:cNvSpPr/>
            <p:nvPr/>
          </p:nvSpPr>
          <p:spPr>
            <a:xfrm>
              <a:off x="8732520" y="4553712"/>
              <a:ext cx="548640" cy="219456"/>
            </a:xfrm>
            <a:prstGeom prst="roundRect">
              <a:avLst>
                <a:gd name="adj" fmla="val 30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750" b="1">
                  <a:solidFill>
                    <a:srgbClr val="074661"/>
                  </a:solidFill>
                  <a:latin typeface="Raleway" pitchFamily="2" charset="0"/>
                </a:rPr>
                <a:t>array</a:t>
              </a:r>
            </a:p>
          </p:txBody>
        </p:sp>
        <p:sp>
          <p:nvSpPr>
            <p:cNvPr id="74" name="rd725"/>
            <p:cNvSpPr txBox="1"/>
            <p:nvPr/>
          </p:nvSpPr>
          <p:spPr>
            <a:xfrm>
              <a:off x="6355080" y="4846320"/>
              <a:ext cx="2971800" cy="502920"/>
            </a:xfrm>
            <a:prstGeom prst="rect">
              <a:avLst/>
            </a:prstGeom>
            <a:noFill/>
          </p:spPr>
          <p:txBody>
            <a:bodyPr vert="horz" wrap="square" lIns="0" tIns="0" rIns="0" bIns="0" rtlCol="0" anchor="t">
              <a:noAutofit/>
            </a:bodyPr>
            <a:lstStyle/>
            <a:p>
              <a:r>
                <a:rPr lang="en-US" sz="800">
                  <a:solidFill>
                    <a:srgbClr val="5B6B73"/>
                  </a:solidFill>
                  <a:latin typeface="Raleway" pitchFamily="2" charset="0"/>
                </a:rPr>
                <a:t>field reads a column, template fills text, object nests, array maps child rows, static sets a constant.</a:t>
              </a:r>
              <a:endParaRPr lang="en-IN" sz="800">
                <a:solidFill>
                  <a:srgbClr val="5B6B73"/>
                </a:solidFill>
                <a:latin typeface="Raleway" pitchFamily="2" charset="0"/>
              </a:endParaRPr>
            </a:p>
          </p:txBody>
        </p:sp>
      </p:grpSp>
    </p:spTree>
    <p:extLst>
      <p:ext uri="{BB962C8B-B14F-4D97-AF65-F5344CB8AC3E}">
        <p14:creationId xmlns:p14="http://schemas.microsoft.com/office/powerpoint/2010/main" val="62231768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3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4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400"/>
                                        <p:tgtEl>
                                          <p:spTgt spid="3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4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4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fade">
                                      <p:cBhvr>
                                        <p:cTn id="36" dur="4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fade">
                                      <p:cBhvr>
                                        <p:cTn id="41" dur="400"/>
                                        <p:tgtEl>
                                          <p:spTgt spid="58"/>
                                        </p:tgtEl>
                                      </p:cBhvr>
                                    </p:animEffect>
                                  </p:childTnLst>
                                </p:cTn>
                              </p:par>
                            </p:childTnLst>
                          </p:cTn>
                        </p:par>
                        <p:par>
                          <p:cTn id="42" fill="hold">
                            <p:stCondLst>
                              <p:cond delay="400"/>
                            </p:stCondLst>
                            <p:childTnLst>
                              <p:par>
                                <p:cTn id="43" presetID="10" presetClass="entr" presetSubtype="0" fill="hold" nodeType="after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fade">
                                      <p:cBhvr>
                                        <p:cTn id="45" dur="500"/>
                                        <p:tgtEl>
                                          <p:spTgt spid="7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300"/>
                                        <p:tgtEl>
                                          <p:spTgt spid="23"/>
                                        </p:tgtEl>
                                      </p:cBhvr>
                                    </p:animEffect>
                                  </p:childTnLst>
                                </p:cTn>
                              </p:par>
                            </p:childTnLst>
                          </p:cTn>
                        </p:par>
                        <p:par>
                          <p:cTn id="51" fill="hold">
                            <p:stCondLst>
                              <p:cond delay="300"/>
                            </p:stCondLst>
                            <p:childTnLst>
                              <p:par>
                                <p:cTn id="52" presetID="10" presetClass="entr" presetSubtype="0" fill="hold" nodeType="after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childTnLst>
                          </p:cTn>
                        </p:par>
                        <p:par>
                          <p:cTn id="55" fill="hold">
                            <p:stCondLst>
                              <p:cond delay="750"/>
                            </p:stCondLst>
                            <p:childTnLst>
                              <p:par>
                                <p:cTn id="56" presetID="10"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727"/>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728"/>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729"/>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Insights Server runs an eight-stage LLM workflow</a:t>
            </a:r>
            <a:endParaRPr lang="en-IN" sz="2200" b="1">
              <a:solidFill>
                <a:srgbClr val="FFFFFF"/>
              </a:solidFill>
              <a:latin typeface="Raleway" pitchFamily="2" charset="0"/>
            </a:endParaRPr>
          </a:p>
        </p:txBody>
      </p:sp>
      <p:sp>
        <p:nvSpPr>
          <p:cNvPr id="5" name="rd730"/>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731"/>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13  |  Radiant Digital  •  Confidential  •  All Rights Reserved  •  2026</a:t>
            </a:r>
            <a:endParaRPr lang="en-IN" sz="700">
              <a:solidFill>
                <a:srgbClr val="FFFFFF"/>
              </a:solidFill>
              <a:latin typeface="Raleway" pitchFamily="2" charset="0"/>
            </a:endParaRPr>
          </a:p>
        </p:txBody>
      </p:sp>
      <p:pic>
        <p:nvPicPr>
          <p:cNvPr id="7" name="rd73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733"/>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RUNTIME  |  STEP 3</a:t>
            </a:r>
          </a:p>
        </p:txBody>
      </p:sp>
      <p:sp>
        <p:nvSpPr>
          <p:cNvPr id="9" name="rd734"/>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The LLM-powered runtime: it decides whether to answer, what to fetch, how to reason and how to deliver the result.</a:t>
            </a:r>
            <a:endParaRPr lang="en-IN" sz="1100">
              <a:solidFill>
                <a:srgbClr val="231F20"/>
              </a:solidFill>
              <a:latin typeface="Raleway" pitchFamily="2" charset="0"/>
            </a:endParaRPr>
          </a:p>
        </p:txBody>
      </p:sp>
      <p:grpSp>
        <p:nvGrpSpPr>
          <p:cNvPr id="15" name="rd740"/>
          <p:cNvGrpSpPr/>
          <p:nvPr/>
        </p:nvGrpSpPr>
        <p:grpSpPr>
          <a:xfrm>
            <a:off x="457200" y="1143000"/>
            <a:ext cx="2103120" cy="4297680"/>
            <a:chOff x="457200" y="1143000"/>
            <a:chExt cx="2103120" cy="4297680"/>
          </a:xfrm>
        </p:grpSpPr>
        <p:sp>
          <p:nvSpPr>
            <p:cNvPr id="10" name="rd735"/>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736"/>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737"/>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Component, Variant, Ask from the Insights Factory</a:t>
              </a:r>
              <a:endParaRPr lang="en-IN" sz="950">
                <a:solidFill>
                  <a:srgbClr val="231F20"/>
                </a:solidFill>
                <a:latin typeface="Raleway" pitchFamily="2" charset="0"/>
              </a:endParaRPr>
            </a:p>
          </p:txBody>
        </p:sp>
        <p:sp>
          <p:nvSpPr>
            <p:cNvPr id="13" name="rd738"/>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231F20"/>
                  </a:solidFill>
                  <a:latin typeface="Raleway" pitchFamily="2" charset="0"/>
                </a:rPr>
                <a:t>Context from the KAG</a:t>
              </a:r>
            </a:p>
          </p:txBody>
        </p:sp>
        <p:sp>
          <p:nvSpPr>
            <p:cNvPr id="14" name="rd739"/>
            <p:cNvSpPr/>
            <p:nvPr/>
          </p:nvSpPr>
          <p:spPr>
            <a:xfrm>
              <a:off x="566928" y="3419856"/>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Raw data from the Data Sources</a:t>
              </a:r>
              <a:endParaRPr lang="en-IN" sz="950">
                <a:solidFill>
                  <a:srgbClr val="231F20"/>
                </a:solidFill>
                <a:latin typeface="Raleway" pitchFamily="2" charset="0"/>
              </a:endParaRPr>
            </a:p>
          </p:txBody>
        </p:sp>
      </p:grpSp>
      <p:sp>
        <p:nvSpPr>
          <p:cNvPr id="16" name="rd741"/>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2" name="rd747"/>
          <p:cNvGrpSpPr/>
          <p:nvPr/>
        </p:nvGrpSpPr>
        <p:grpSpPr>
          <a:xfrm>
            <a:off x="9628632" y="1143000"/>
            <a:ext cx="2103120" cy="4297680"/>
            <a:chOff x="9628632" y="1143000"/>
            <a:chExt cx="2103120" cy="4297680"/>
          </a:xfrm>
        </p:grpSpPr>
        <p:sp>
          <p:nvSpPr>
            <p:cNvPr id="17" name="rd742"/>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8" name="rd743"/>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9" name="rd744"/>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Result set data, hydrated and typed</a:t>
              </a:r>
              <a:endParaRPr lang="en-IN" sz="950">
                <a:solidFill>
                  <a:srgbClr val="FFFFFF"/>
                </a:solidFill>
                <a:latin typeface="Raleway" pitchFamily="2" charset="0"/>
              </a:endParaRPr>
            </a:p>
          </p:txBody>
        </p:sp>
        <p:sp>
          <p:nvSpPr>
            <p:cNvPr id="20" name="rd745"/>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IN" sz="950">
                  <a:solidFill>
                    <a:srgbClr val="FFFFFF"/>
                  </a:solidFill>
                  <a:latin typeface="Raleway" pitchFamily="2" charset="0"/>
                </a:rPr>
                <a:t>Streamed response</a:t>
              </a:r>
            </a:p>
          </p:txBody>
        </p:sp>
        <p:sp>
          <p:nvSpPr>
            <p:cNvPr id="21" name="rd746"/>
            <p:cNvSpPr/>
            <p:nvPr/>
          </p:nvSpPr>
          <p:spPr>
            <a:xfrm>
              <a:off x="9738360" y="3419856"/>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Clarifying question when the ask is unclear</a:t>
              </a:r>
              <a:endParaRPr lang="en-IN" sz="950">
                <a:solidFill>
                  <a:srgbClr val="FFFFFF"/>
                </a:solidFill>
                <a:latin typeface="Raleway" pitchFamily="2" charset="0"/>
              </a:endParaRPr>
            </a:p>
          </p:txBody>
        </p:sp>
      </p:grpSp>
      <p:sp>
        <p:nvSpPr>
          <p:cNvPr id="23" name="rd748"/>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8" name="rd753"/>
          <p:cNvGrpSpPr/>
          <p:nvPr/>
        </p:nvGrpSpPr>
        <p:grpSpPr>
          <a:xfrm>
            <a:off x="457200" y="5623560"/>
            <a:ext cx="11265408" cy="731520"/>
            <a:chOff x="457200" y="5623560"/>
            <a:chExt cx="11265408" cy="731520"/>
          </a:xfrm>
        </p:grpSpPr>
        <p:sp>
          <p:nvSpPr>
            <p:cNvPr id="24" name="rd749"/>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5" name="rd750"/>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Called by:</a:t>
              </a:r>
              <a:r>
                <a:rPr lang="en-IN" sz="950">
                  <a:solidFill>
                    <a:srgbClr val="231F20"/>
                  </a:solidFill>
                  <a:latin typeface="Raleway" pitchFamily="2" charset="0"/>
                </a:rPr>
                <a:t> Insights Factory</a:t>
              </a:r>
            </a:p>
          </p:txBody>
        </p:sp>
        <p:sp>
          <p:nvSpPr>
            <p:cNvPr id="26" name="rd751"/>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Reads:</a:t>
              </a:r>
              <a:r>
                <a:rPr lang="en-IN" sz="950">
                  <a:solidFill>
                    <a:srgbClr val="231F20"/>
                  </a:solidFill>
                  <a:latin typeface="Raleway" pitchFamily="2" charset="0"/>
                </a:rPr>
                <a:t> KAG context</a:t>
              </a:r>
            </a:p>
          </p:txBody>
        </p:sp>
        <p:sp>
          <p:nvSpPr>
            <p:cNvPr id="27" name="rd752"/>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fr-FR" sz="950" b="1">
                  <a:solidFill>
                    <a:srgbClr val="074661"/>
                  </a:solidFill>
                  <a:latin typeface="Raleway" pitchFamily="2" charset="0"/>
                </a:rPr>
                <a:t>Queries:</a:t>
              </a:r>
              <a:r>
                <a:rPr lang="fr-FR" sz="950">
                  <a:solidFill>
                    <a:srgbClr val="231F20"/>
                  </a:solidFill>
                  <a:latin typeface="Raleway" pitchFamily="2" charset="0"/>
                </a:rPr>
                <a:t> Data Sources via Cypher</a:t>
              </a:r>
              <a:endParaRPr lang="en-IN" sz="950">
                <a:solidFill>
                  <a:srgbClr val="231F20"/>
                </a:solidFill>
                <a:latin typeface="Raleway" pitchFamily="2" charset="0"/>
              </a:endParaRPr>
            </a:p>
          </p:txBody>
        </p:sp>
      </p:grpSp>
      <p:grpSp>
        <p:nvGrpSpPr>
          <p:cNvPr id="34" name="rd759"/>
          <p:cNvGrpSpPr/>
          <p:nvPr/>
        </p:nvGrpSpPr>
        <p:grpSpPr>
          <a:xfrm>
            <a:off x="2788920" y="1143000"/>
            <a:ext cx="1492758" cy="1874520"/>
            <a:chOff x="2788920" y="1143000"/>
            <a:chExt cx="1492758" cy="1874520"/>
          </a:xfrm>
        </p:grpSpPr>
        <p:sp>
          <p:nvSpPr>
            <p:cNvPr id="29" name="rd754"/>
            <p:cNvSpPr/>
            <p:nvPr/>
          </p:nvSpPr>
          <p:spPr>
            <a:xfrm>
              <a:off x="2788920"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0" name="rd755"/>
            <p:cNvSpPr/>
            <p:nvPr/>
          </p:nvSpPr>
          <p:spPr>
            <a:xfrm>
              <a:off x="2907792"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1</a:t>
              </a:r>
            </a:p>
          </p:txBody>
        </p:sp>
        <p:sp>
          <p:nvSpPr>
            <p:cNvPr id="31" name="rd756"/>
            <p:cNvSpPr txBox="1"/>
            <p:nvPr/>
          </p:nvSpPr>
          <p:spPr>
            <a:xfrm>
              <a:off x="2907792"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Cache Lookup</a:t>
              </a:r>
            </a:p>
          </p:txBody>
        </p:sp>
        <p:sp>
          <p:nvSpPr>
            <p:cNvPr id="32" name="rd757"/>
            <p:cNvSpPr txBox="1"/>
            <p:nvPr/>
          </p:nvSpPr>
          <p:spPr>
            <a:xfrm>
              <a:off x="2907792" y="2130552"/>
              <a:ext cx="1255014" cy="484632"/>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Checks for a stored answer before doing any work.</a:t>
              </a:r>
              <a:endParaRPr lang="en-IN" sz="900">
                <a:solidFill>
                  <a:srgbClr val="231F20"/>
                </a:solidFill>
                <a:latin typeface="Raleway" pitchFamily="2" charset="0"/>
              </a:endParaRPr>
            </a:p>
          </p:txBody>
        </p:sp>
        <p:sp>
          <p:nvSpPr>
            <p:cNvPr id="33" name="rd758"/>
            <p:cNvSpPr/>
            <p:nvPr/>
          </p:nvSpPr>
          <p:spPr>
            <a:xfrm>
              <a:off x="2880360" y="2651760"/>
              <a:ext cx="1309878" cy="274320"/>
            </a:xfrm>
            <a:prstGeom prst="roundRect">
              <a:avLst>
                <a:gd name="adj" fmla="val 20000"/>
              </a:avLst>
            </a:prstGeom>
            <a:solidFill>
              <a:srgbClr val="FBF4D6"/>
            </a:solidFill>
            <a:ln w="9525">
              <a:solidFill>
                <a:srgbClr val="EFDB8B"/>
              </a:solidFill>
            </a:ln>
          </p:spPr>
          <p:style>
            <a:lnRef idx="2">
              <a:schemeClr val="accent1">
                <a:shade val="50000"/>
              </a:schemeClr>
            </a:lnRef>
            <a:fillRef idx="1">
              <a:schemeClr val="accent1"/>
            </a:fillRef>
            <a:effectRef idx="0">
              <a:schemeClr val="accent1"/>
            </a:effectRef>
            <a:fontRef idx="minor">
              <a:schemeClr val="lt1"/>
            </a:fontRef>
          </p:style>
          <p:txBody>
            <a:bodyPr lIns="27432" tIns="0" rIns="27432" bIns="0" rtlCol="0" anchor="ctr"/>
            <a:lstStyle/>
            <a:p>
              <a:pPr algn="ctr"/>
              <a:r>
                <a:rPr lang="en-IN" sz="800" b="1">
                  <a:solidFill>
                    <a:srgbClr val="074661"/>
                  </a:solidFill>
                  <a:latin typeface="Raleway" pitchFamily="2" charset="0"/>
                </a:rPr>
                <a:t>Hit: return result</a:t>
              </a:r>
            </a:p>
          </p:txBody>
        </p:sp>
      </p:grpSp>
      <p:cxnSp>
        <p:nvCxnSpPr>
          <p:cNvPr id="35" name="rd760"/>
          <p:cNvCxnSpPr/>
          <p:nvPr/>
        </p:nvCxnSpPr>
        <p:spPr>
          <a:xfrm>
            <a:off x="4299966" y="208026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40" name="rd765"/>
          <p:cNvGrpSpPr/>
          <p:nvPr/>
        </p:nvGrpSpPr>
        <p:grpSpPr>
          <a:xfrm>
            <a:off x="4501134" y="1143000"/>
            <a:ext cx="1492758" cy="1874520"/>
            <a:chOff x="4501134" y="1143000"/>
            <a:chExt cx="1492758" cy="1874520"/>
          </a:xfrm>
        </p:grpSpPr>
        <p:sp>
          <p:nvSpPr>
            <p:cNvPr id="36" name="rd761"/>
            <p:cNvSpPr/>
            <p:nvPr/>
          </p:nvSpPr>
          <p:spPr>
            <a:xfrm>
              <a:off x="4501134"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7" name="rd762"/>
            <p:cNvSpPr/>
            <p:nvPr/>
          </p:nvSpPr>
          <p:spPr>
            <a:xfrm>
              <a:off x="4620006"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2</a:t>
              </a:r>
            </a:p>
          </p:txBody>
        </p:sp>
        <p:sp>
          <p:nvSpPr>
            <p:cNvPr id="38" name="rd763"/>
            <p:cNvSpPr txBox="1"/>
            <p:nvPr/>
          </p:nvSpPr>
          <p:spPr>
            <a:xfrm>
              <a:off x="4620006"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Intent Classification</a:t>
              </a:r>
            </a:p>
          </p:txBody>
        </p:sp>
        <p:sp>
          <p:nvSpPr>
            <p:cNvPr id="39" name="rd764"/>
            <p:cNvSpPr txBox="1"/>
            <p:nvPr/>
          </p:nvSpPr>
          <p:spPr>
            <a:xfrm>
              <a:off x="4620006" y="213055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Identifies what the user wants and picks the processing path, using KAG context.</a:t>
              </a:r>
              <a:endParaRPr lang="en-IN" sz="900">
                <a:solidFill>
                  <a:srgbClr val="231F20"/>
                </a:solidFill>
                <a:latin typeface="Raleway" pitchFamily="2" charset="0"/>
              </a:endParaRPr>
            </a:p>
          </p:txBody>
        </p:sp>
      </p:grpSp>
      <p:cxnSp>
        <p:nvCxnSpPr>
          <p:cNvPr id="41" name="rd766"/>
          <p:cNvCxnSpPr/>
          <p:nvPr/>
        </p:nvCxnSpPr>
        <p:spPr>
          <a:xfrm>
            <a:off x="6012180" y="208026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47" name="rd772"/>
          <p:cNvGrpSpPr/>
          <p:nvPr/>
        </p:nvGrpSpPr>
        <p:grpSpPr>
          <a:xfrm>
            <a:off x="6213348" y="1143000"/>
            <a:ext cx="1492758" cy="1874520"/>
            <a:chOff x="6213348" y="1143000"/>
            <a:chExt cx="1492758" cy="1874520"/>
          </a:xfrm>
        </p:grpSpPr>
        <p:sp>
          <p:nvSpPr>
            <p:cNvPr id="42" name="rd767"/>
            <p:cNvSpPr/>
            <p:nvPr/>
          </p:nvSpPr>
          <p:spPr>
            <a:xfrm>
              <a:off x="6213348"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3" name="rd768"/>
            <p:cNvSpPr/>
            <p:nvPr/>
          </p:nvSpPr>
          <p:spPr>
            <a:xfrm>
              <a:off x="6332220"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3</a:t>
              </a:r>
            </a:p>
          </p:txBody>
        </p:sp>
        <p:sp>
          <p:nvSpPr>
            <p:cNvPr id="44" name="rd769"/>
            <p:cNvSpPr txBox="1"/>
            <p:nvPr/>
          </p:nvSpPr>
          <p:spPr>
            <a:xfrm>
              <a:off x="6332220"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Clarification Gate</a:t>
              </a:r>
            </a:p>
          </p:txBody>
        </p:sp>
        <p:sp>
          <p:nvSpPr>
            <p:cNvPr id="45" name="rd770"/>
            <p:cNvSpPr txBox="1"/>
            <p:nvPr/>
          </p:nvSpPr>
          <p:spPr>
            <a:xfrm>
              <a:off x="6332220" y="2130552"/>
              <a:ext cx="1255014" cy="484632"/>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Decides whether more information is needed.</a:t>
              </a:r>
              <a:endParaRPr lang="en-IN" sz="900">
                <a:solidFill>
                  <a:srgbClr val="231F20"/>
                </a:solidFill>
                <a:latin typeface="Raleway" pitchFamily="2" charset="0"/>
              </a:endParaRPr>
            </a:p>
          </p:txBody>
        </p:sp>
        <p:sp>
          <p:nvSpPr>
            <p:cNvPr id="46" name="rd771"/>
            <p:cNvSpPr/>
            <p:nvPr/>
          </p:nvSpPr>
          <p:spPr>
            <a:xfrm>
              <a:off x="6304788" y="2651760"/>
              <a:ext cx="1309878" cy="274320"/>
            </a:xfrm>
            <a:prstGeom prst="roundRect">
              <a:avLst>
                <a:gd name="adj" fmla="val 20000"/>
              </a:avLst>
            </a:prstGeom>
            <a:solidFill>
              <a:srgbClr val="FBF4D6"/>
            </a:solidFill>
            <a:ln w="9525">
              <a:solidFill>
                <a:srgbClr val="EFDB8B"/>
              </a:solidFill>
            </a:ln>
          </p:spPr>
          <p:style>
            <a:lnRef idx="2">
              <a:schemeClr val="accent1">
                <a:shade val="50000"/>
              </a:schemeClr>
            </a:lnRef>
            <a:fillRef idx="1">
              <a:schemeClr val="accent1"/>
            </a:fillRef>
            <a:effectRef idx="0">
              <a:schemeClr val="accent1"/>
            </a:effectRef>
            <a:fontRef idx="minor">
              <a:schemeClr val="lt1"/>
            </a:fontRef>
          </p:style>
          <p:txBody>
            <a:bodyPr lIns="27432" tIns="0" rIns="27432" bIns="0" rtlCol="0" anchor="ctr"/>
            <a:lstStyle/>
            <a:p>
              <a:pPr algn="ctr"/>
              <a:r>
                <a:rPr lang="en-IN" sz="800" b="1">
                  <a:solidFill>
                    <a:srgbClr val="074661"/>
                  </a:solidFill>
                  <a:latin typeface="Raleway" pitchFamily="2" charset="0"/>
                </a:rPr>
                <a:t>Unclear: ask user</a:t>
              </a:r>
            </a:p>
          </p:txBody>
        </p:sp>
      </p:grpSp>
      <p:cxnSp>
        <p:nvCxnSpPr>
          <p:cNvPr id="48" name="rd773"/>
          <p:cNvCxnSpPr/>
          <p:nvPr/>
        </p:nvCxnSpPr>
        <p:spPr>
          <a:xfrm>
            <a:off x="7724394" y="208026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53" name="rd778"/>
          <p:cNvGrpSpPr/>
          <p:nvPr/>
        </p:nvGrpSpPr>
        <p:grpSpPr>
          <a:xfrm>
            <a:off x="7925562" y="1143000"/>
            <a:ext cx="1492758" cy="1874520"/>
            <a:chOff x="7925562" y="1143000"/>
            <a:chExt cx="1492758" cy="1874520"/>
          </a:xfrm>
        </p:grpSpPr>
        <p:sp>
          <p:nvSpPr>
            <p:cNvPr id="49" name="rd774"/>
            <p:cNvSpPr/>
            <p:nvPr/>
          </p:nvSpPr>
          <p:spPr>
            <a:xfrm>
              <a:off x="7925562" y="114300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0" name="rd775"/>
            <p:cNvSpPr/>
            <p:nvPr/>
          </p:nvSpPr>
          <p:spPr>
            <a:xfrm>
              <a:off x="8044434" y="126187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4</a:t>
              </a:r>
            </a:p>
          </p:txBody>
        </p:sp>
        <p:sp>
          <p:nvSpPr>
            <p:cNvPr id="51" name="rd776"/>
            <p:cNvSpPr txBox="1"/>
            <p:nvPr/>
          </p:nvSpPr>
          <p:spPr>
            <a:xfrm>
              <a:off x="8044434" y="165506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Data Retrieval</a:t>
              </a:r>
            </a:p>
          </p:txBody>
        </p:sp>
        <p:sp>
          <p:nvSpPr>
            <p:cNvPr id="52" name="rd777"/>
            <p:cNvSpPr txBox="1"/>
            <p:nvPr/>
          </p:nvSpPr>
          <p:spPr>
            <a:xfrm>
              <a:off x="8044434" y="213055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Generates Cypher queries and fetches raw data from the sources.</a:t>
              </a:r>
              <a:endParaRPr lang="en-IN" sz="900">
                <a:solidFill>
                  <a:srgbClr val="231F20"/>
                </a:solidFill>
                <a:latin typeface="Raleway" pitchFamily="2" charset="0"/>
              </a:endParaRPr>
            </a:p>
          </p:txBody>
        </p:sp>
      </p:grpSp>
      <p:sp>
        <p:nvSpPr>
          <p:cNvPr id="54" name="rd779"/>
          <p:cNvSpPr/>
          <p:nvPr/>
        </p:nvSpPr>
        <p:spPr>
          <a:xfrm>
            <a:off x="3535299" y="3017520"/>
            <a:ext cx="5136643" cy="502921"/>
          </a:xfrm>
          <a:custGeom>
            <a:avLst/>
            <a:gdLst/>
            <a:ahLst/>
            <a:cxnLst/>
            <a:rect l="0" t="0" r="0" b="0"/>
            <a:pathLst>
              <a:path w="5136643" h="502921">
                <a:moveTo>
                  <a:pt x="5136642" y="0"/>
                </a:moveTo>
                <a:lnTo>
                  <a:pt x="5136642" y="251460"/>
                </a:lnTo>
                <a:lnTo>
                  <a:pt x="0" y="251460"/>
                </a:lnTo>
                <a:lnTo>
                  <a:pt x="0" y="502920"/>
                </a:lnTo>
              </a:path>
            </a:pathLst>
          </a:cu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nvGrpSpPr>
          <p:cNvPr id="59" name="rd784"/>
          <p:cNvGrpSpPr/>
          <p:nvPr/>
        </p:nvGrpSpPr>
        <p:grpSpPr>
          <a:xfrm>
            <a:off x="2788920" y="3520440"/>
            <a:ext cx="1492758" cy="1874520"/>
            <a:chOff x="2788920" y="3520440"/>
            <a:chExt cx="1492758" cy="1874520"/>
          </a:xfrm>
        </p:grpSpPr>
        <p:sp>
          <p:nvSpPr>
            <p:cNvPr id="55" name="rd780"/>
            <p:cNvSpPr/>
            <p:nvPr/>
          </p:nvSpPr>
          <p:spPr>
            <a:xfrm>
              <a:off x="2788920" y="352044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56" name="rd781"/>
            <p:cNvSpPr/>
            <p:nvPr/>
          </p:nvSpPr>
          <p:spPr>
            <a:xfrm>
              <a:off x="2907792"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5</a:t>
              </a:r>
            </a:p>
          </p:txBody>
        </p:sp>
        <p:sp>
          <p:nvSpPr>
            <p:cNvPr id="57" name="rd782"/>
            <p:cNvSpPr txBox="1"/>
            <p:nvPr/>
          </p:nvSpPr>
          <p:spPr>
            <a:xfrm>
              <a:off x="2907792" y="403250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Data Intelligence</a:t>
              </a:r>
            </a:p>
          </p:txBody>
        </p:sp>
        <p:sp>
          <p:nvSpPr>
            <p:cNvPr id="58" name="rd783"/>
            <p:cNvSpPr txBox="1"/>
            <p:nvPr/>
          </p:nvSpPr>
          <p:spPr>
            <a:xfrm>
              <a:off x="2907792" y="450799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Applies reasoning, context and analysis to the retrieved data.</a:t>
              </a:r>
              <a:endParaRPr lang="en-IN" sz="900">
                <a:solidFill>
                  <a:srgbClr val="231F20"/>
                </a:solidFill>
                <a:latin typeface="Raleway" pitchFamily="2" charset="0"/>
              </a:endParaRPr>
            </a:p>
          </p:txBody>
        </p:sp>
      </p:grpSp>
      <p:cxnSp>
        <p:nvCxnSpPr>
          <p:cNvPr id="60" name="rd785"/>
          <p:cNvCxnSpPr/>
          <p:nvPr/>
        </p:nvCxnSpPr>
        <p:spPr>
          <a:xfrm>
            <a:off x="4299966" y="445770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65" name="rd790"/>
          <p:cNvGrpSpPr/>
          <p:nvPr/>
        </p:nvGrpSpPr>
        <p:grpSpPr>
          <a:xfrm>
            <a:off x="4501134" y="3520440"/>
            <a:ext cx="1492758" cy="1874520"/>
            <a:chOff x="4501134" y="3520440"/>
            <a:chExt cx="1492758" cy="1874520"/>
          </a:xfrm>
        </p:grpSpPr>
        <p:sp>
          <p:nvSpPr>
            <p:cNvPr id="61" name="rd786"/>
            <p:cNvSpPr/>
            <p:nvPr/>
          </p:nvSpPr>
          <p:spPr>
            <a:xfrm>
              <a:off x="4501134" y="352044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2" name="rd787"/>
            <p:cNvSpPr/>
            <p:nvPr/>
          </p:nvSpPr>
          <p:spPr>
            <a:xfrm>
              <a:off x="4620006"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6</a:t>
              </a:r>
            </a:p>
          </p:txBody>
        </p:sp>
        <p:sp>
          <p:nvSpPr>
            <p:cNvPr id="63" name="rd788"/>
            <p:cNvSpPr txBox="1"/>
            <p:nvPr/>
          </p:nvSpPr>
          <p:spPr>
            <a:xfrm>
              <a:off x="4620006" y="403250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Report Generation</a:t>
              </a:r>
            </a:p>
          </p:txBody>
        </p:sp>
        <p:sp>
          <p:nvSpPr>
            <p:cNvPr id="64" name="rd789"/>
            <p:cNvSpPr txBox="1"/>
            <p:nvPr/>
          </p:nvSpPr>
          <p:spPr>
            <a:xfrm>
              <a:off x="4620006" y="450799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Produces the insight, visualization or report the ask requires.</a:t>
              </a:r>
              <a:endParaRPr lang="en-IN" sz="900">
                <a:solidFill>
                  <a:srgbClr val="231F20"/>
                </a:solidFill>
                <a:latin typeface="Raleway" pitchFamily="2" charset="0"/>
              </a:endParaRPr>
            </a:p>
          </p:txBody>
        </p:sp>
      </p:grpSp>
      <p:cxnSp>
        <p:nvCxnSpPr>
          <p:cNvPr id="66" name="rd791"/>
          <p:cNvCxnSpPr/>
          <p:nvPr/>
        </p:nvCxnSpPr>
        <p:spPr>
          <a:xfrm>
            <a:off x="6012180" y="445770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71" name="rd796"/>
          <p:cNvGrpSpPr/>
          <p:nvPr/>
        </p:nvGrpSpPr>
        <p:grpSpPr>
          <a:xfrm>
            <a:off x="6213348" y="3520440"/>
            <a:ext cx="1492758" cy="1874520"/>
            <a:chOff x="6213348" y="3520440"/>
            <a:chExt cx="1492758" cy="1874520"/>
          </a:xfrm>
        </p:grpSpPr>
        <p:sp>
          <p:nvSpPr>
            <p:cNvPr id="67" name="rd792"/>
            <p:cNvSpPr/>
            <p:nvPr/>
          </p:nvSpPr>
          <p:spPr>
            <a:xfrm>
              <a:off x="6213348" y="352044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8" name="rd793"/>
            <p:cNvSpPr/>
            <p:nvPr/>
          </p:nvSpPr>
          <p:spPr>
            <a:xfrm>
              <a:off x="6332220"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7</a:t>
              </a:r>
            </a:p>
          </p:txBody>
        </p:sp>
        <p:sp>
          <p:nvSpPr>
            <p:cNvPr id="69" name="rd794"/>
            <p:cNvSpPr txBox="1"/>
            <p:nvPr/>
          </p:nvSpPr>
          <p:spPr>
            <a:xfrm>
              <a:off x="6332220" y="403250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Hydrate + Casting</a:t>
              </a:r>
            </a:p>
          </p:txBody>
        </p:sp>
        <p:sp>
          <p:nvSpPr>
            <p:cNvPr id="70" name="rd795"/>
            <p:cNvSpPr txBox="1"/>
            <p:nvPr/>
          </p:nvSpPr>
          <p:spPr>
            <a:xfrm>
              <a:off x="6332220" y="450799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Fills the GenUI structure and casts each value to its type.</a:t>
              </a:r>
              <a:endParaRPr lang="en-IN" sz="900">
                <a:solidFill>
                  <a:srgbClr val="231F20"/>
                </a:solidFill>
                <a:latin typeface="Raleway" pitchFamily="2" charset="0"/>
              </a:endParaRPr>
            </a:p>
          </p:txBody>
        </p:sp>
      </p:grpSp>
      <p:cxnSp>
        <p:nvCxnSpPr>
          <p:cNvPr id="72" name="rd797"/>
          <p:cNvCxnSpPr/>
          <p:nvPr/>
        </p:nvCxnSpPr>
        <p:spPr>
          <a:xfrm>
            <a:off x="7724394" y="4457700"/>
            <a:ext cx="182880" cy="0"/>
          </a:xfrm>
          <a:prstGeom prst="line">
            <a:avLst/>
          </a:prstGeom>
          <a:ln w="19050">
            <a:solidFill>
              <a:srgbClr val="0596AE"/>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77" name="rd802"/>
          <p:cNvGrpSpPr/>
          <p:nvPr/>
        </p:nvGrpSpPr>
        <p:grpSpPr>
          <a:xfrm>
            <a:off x="7925562" y="3520440"/>
            <a:ext cx="1492758" cy="1874520"/>
            <a:chOff x="7925562" y="3520440"/>
            <a:chExt cx="1492758" cy="1874520"/>
          </a:xfrm>
        </p:grpSpPr>
        <p:sp>
          <p:nvSpPr>
            <p:cNvPr id="73" name="rd798"/>
            <p:cNvSpPr/>
            <p:nvPr/>
          </p:nvSpPr>
          <p:spPr>
            <a:xfrm>
              <a:off x="7925562" y="3520440"/>
              <a:ext cx="1492758" cy="1874520"/>
            </a:xfrm>
            <a:prstGeom prst="roundRect">
              <a:avLst>
                <a:gd name="adj" fmla="val 7000"/>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74" name="rd799"/>
            <p:cNvSpPr/>
            <p:nvPr/>
          </p:nvSpPr>
          <p:spPr>
            <a:xfrm>
              <a:off x="8044434" y="3639312"/>
              <a:ext cx="310896" cy="310896"/>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000" b="1">
                  <a:solidFill>
                    <a:srgbClr val="FFFFFF"/>
                  </a:solidFill>
                  <a:latin typeface="Raleway" pitchFamily="2" charset="0"/>
                </a:rPr>
                <a:t>8</a:t>
              </a:r>
            </a:p>
          </p:txBody>
        </p:sp>
        <p:sp>
          <p:nvSpPr>
            <p:cNvPr id="75" name="rd800"/>
            <p:cNvSpPr txBox="1"/>
            <p:nvPr/>
          </p:nvSpPr>
          <p:spPr>
            <a:xfrm>
              <a:off x="8044434" y="4032504"/>
              <a:ext cx="1255014" cy="420624"/>
            </a:xfrm>
            <a:prstGeom prst="rect">
              <a:avLst/>
            </a:prstGeom>
            <a:noFill/>
          </p:spPr>
          <p:txBody>
            <a:bodyPr vert="horz" wrap="square" lIns="0" tIns="0" rIns="0" bIns="0" rtlCol="0" anchor="t">
              <a:noAutofit/>
            </a:bodyPr>
            <a:lstStyle/>
            <a:p>
              <a:r>
                <a:rPr lang="en-IN" sz="1050" b="1">
                  <a:solidFill>
                    <a:srgbClr val="074661"/>
                  </a:solidFill>
                  <a:latin typeface="Raleway" pitchFamily="2" charset="0"/>
                </a:rPr>
                <a:t>Streaming &amp; Rendering</a:t>
              </a:r>
            </a:p>
          </p:txBody>
        </p:sp>
        <p:sp>
          <p:nvSpPr>
            <p:cNvPr id="76" name="rd801"/>
            <p:cNvSpPr txBox="1"/>
            <p:nvPr/>
          </p:nvSpPr>
          <p:spPr>
            <a:xfrm>
              <a:off x="8044434" y="4507992"/>
              <a:ext cx="1255014" cy="813816"/>
            </a:xfrm>
            <a:prstGeom prst="rect">
              <a:avLst/>
            </a:prstGeom>
            <a:noFill/>
          </p:spPr>
          <p:txBody>
            <a:bodyPr vert="horz" wrap="square" lIns="0" tIns="0" rIns="0" bIns="0" rtlCol="0" anchor="t">
              <a:noAutofit/>
            </a:bodyPr>
            <a:lstStyle/>
            <a:p>
              <a:r>
                <a:rPr lang="en-US" sz="900">
                  <a:solidFill>
                    <a:srgbClr val="231F20"/>
                  </a:solidFill>
                  <a:latin typeface="Raleway" pitchFamily="2" charset="0"/>
                </a:rPr>
                <a:t>Streams the result progressively so the answer renders as it arrives.</a:t>
              </a:r>
              <a:endParaRPr lang="en-IN" sz="900">
                <a:solidFill>
                  <a:srgbClr val="231F20"/>
                </a:solidFill>
                <a:latin typeface="Raleway" pitchFamily="2" charset="0"/>
              </a:endParaRPr>
            </a:p>
          </p:txBody>
        </p:sp>
      </p:grpSp>
    </p:spTree>
    <p:extLst>
      <p:ext uri="{BB962C8B-B14F-4D97-AF65-F5344CB8AC3E}">
        <p14:creationId xmlns:p14="http://schemas.microsoft.com/office/powerpoint/2010/main" val="121764137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3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5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left)">
                                      <p:cBhvr>
                                        <p:cTn id="21" dur="300"/>
                                        <p:tgtEl>
                                          <p:spTgt spid="35"/>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4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left)">
                                      <p:cBhvr>
                                        <p:cTn id="30" dur="300"/>
                                        <p:tgtEl>
                                          <p:spTgt spid="41"/>
                                        </p:tgtEl>
                                      </p:cBhvr>
                                    </p:animEffect>
                                  </p:childTnLst>
                                </p:cTn>
                              </p:par>
                            </p:childTnLst>
                          </p:cTn>
                        </p:par>
                        <p:par>
                          <p:cTn id="31" fill="hold">
                            <p:stCondLst>
                              <p:cond delay="300"/>
                            </p:stCondLst>
                            <p:childTnLst>
                              <p:par>
                                <p:cTn id="32" presetID="10" presetClass="entr" presetSubtype="0" fill="hold"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4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wipe(left)">
                                      <p:cBhvr>
                                        <p:cTn id="39" dur="300"/>
                                        <p:tgtEl>
                                          <p:spTgt spid="48"/>
                                        </p:tgtEl>
                                      </p:cBhvr>
                                    </p:animEffect>
                                  </p:childTnLst>
                                </p:cTn>
                              </p:par>
                            </p:childTnLst>
                          </p:cTn>
                        </p:par>
                        <p:par>
                          <p:cTn id="40" fill="hold">
                            <p:stCondLst>
                              <p:cond delay="300"/>
                            </p:stCondLst>
                            <p:childTnLst>
                              <p:par>
                                <p:cTn id="41" presetID="10" presetClass="entr" presetSubtype="0" fill="hold" nodeType="after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400"/>
                                        <p:tgtEl>
                                          <p:spTgt spid="5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400"/>
                                        <p:tgtEl>
                                          <p:spTgt spid="54"/>
                                        </p:tgtEl>
                                      </p:cBhvr>
                                    </p:animEffect>
                                  </p:childTnLst>
                                </p:cTn>
                              </p:par>
                            </p:childTnLst>
                          </p:cTn>
                        </p:par>
                        <p:par>
                          <p:cTn id="49" fill="hold">
                            <p:stCondLst>
                              <p:cond delay="400"/>
                            </p:stCondLst>
                            <p:childTnLst>
                              <p:par>
                                <p:cTn id="50" presetID="10" presetClass="entr" presetSubtype="0" fill="hold" nodeType="after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fade">
                                      <p:cBhvr>
                                        <p:cTn id="52" dur="400"/>
                                        <p:tgtEl>
                                          <p:spTgt spid="5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wipe(left)">
                                      <p:cBhvr>
                                        <p:cTn id="57" dur="300"/>
                                        <p:tgtEl>
                                          <p:spTgt spid="60"/>
                                        </p:tgtEl>
                                      </p:cBhvr>
                                    </p:animEffect>
                                  </p:childTnLst>
                                </p:cTn>
                              </p:par>
                            </p:childTnLst>
                          </p:cTn>
                        </p:par>
                        <p:par>
                          <p:cTn id="58" fill="hold">
                            <p:stCondLst>
                              <p:cond delay="300"/>
                            </p:stCondLst>
                            <p:childTnLst>
                              <p:par>
                                <p:cTn id="59" presetID="10" presetClass="entr" presetSubtype="0" fill="hold" nodeType="after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fade">
                                      <p:cBhvr>
                                        <p:cTn id="61" dur="400"/>
                                        <p:tgtEl>
                                          <p:spTgt spid="6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wipe(left)">
                                      <p:cBhvr>
                                        <p:cTn id="66" dur="300"/>
                                        <p:tgtEl>
                                          <p:spTgt spid="66"/>
                                        </p:tgtEl>
                                      </p:cBhvr>
                                    </p:animEffect>
                                  </p:childTnLst>
                                </p:cTn>
                              </p:par>
                            </p:childTnLst>
                          </p:cTn>
                        </p:par>
                        <p:par>
                          <p:cTn id="67" fill="hold">
                            <p:stCondLst>
                              <p:cond delay="300"/>
                            </p:stCondLst>
                            <p:childTnLst>
                              <p:par>
                                <p:cTn id="68" presetID="10" presetClass="entr" presetSubtype="0" fill="hold" nodeType="after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fade">
                                      <p:cBhvr>
                                        <p:cTn id="70" dur="400"/>
                                        <p:tgtEl>
                                          <p:spTgt spid="7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wipe(left)">
                                      <p:cBhvr>
                                        <p:cTn id="75" dur="300"/>
                                        <p:tgtEl>
                                          <p:spTgt spid="72"/>
                                        </p:tgtEl>
                                      </p:cBhvr>
                                    </p:animEffect>
                                  </p:childTnLst>
                                </p:cTn>
                              </p:par>
                            </p:childTnLst>
                          </p:cTn>
                        </p:par>
                        <p:par>
                          <p:cTn id="76" fill="hold">
                            <p:stCondLst>
                              <p:cond delay="300"/>
                            </p:stCondLst>
                            <p:childTnLst>
                              <p:par>
                                <p:cTn id="77" presetID="10" presetClass="entr" presetSubtype="0" fill="hold" nodeType="afterEffect">
                                  <p:stCondLst>
                                    <p:cond delay="0"/>
                                  </p:stCondLst>
                                  <p:childTnLst>
                                    <p:set>
                                      <p:cBhvr>
                                        <p:cTn id="78" dur="1" fill="hold">
                                          <p:stCondLst>
                                            <p:cond delay="0"/>
                                          </p:stCondLst>
                                        </p:cTn>
                                        <p:tgtEl>
                                          <p:spTgt spid="77"/>
                                        </p:tgtEl>
                                        <p:attrNameLst>
                                          <p:attrName>style.visibility</p:attrName>
                                        </p:attrNameLst>
                                      </p:cBhvr>
                                      <p:to>
                                        <p:strVal val="visible"/>
                                      </p:to>
                                    </p:set>
                                    <p:animEffect transition="in" filter="fade">
                                      <p:cBhvr>
                                        <p:cTn id="79" dur="400"/>
                                        <p:tgtEl>
                                          <p:spTgt spid="7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wipe(left)">
                                      <p:cBhvr>
                                        <p:cTn id="84" dur="300"/>
                                        <p:tgtEl>
                                          <p:spTgt spid="23"/>
                                        </p:tgtEl>
                                      </p:cBhvr>
                                    </p:animEffect>
                                  </p:childTnLst>
                                </p:cTn>
                              </p:par>
                            </p:childTnLst>
                          </p:cTn>
                        </p:par>
                        <p:par>
                          <p:cTn id="85" fill="hold">
                            <p:stCondLst>
                              <p:cond delay="300"/>
                            </p:stCondLst>
                            <p:childTnLst>
                              <p:par>
                                <p:cTn id="86" presetID="10" presetClass="entr" presetSubtype="0" fill="hold"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450"/>
                                        <p:tgtEl>
                                          <p:spTgt spid="22"/>
                                        </p:tgtEl>
                                      </p:cBhvr>
                                    </p:animEffect>
                                  </p:childTnLst>
                                </p:cTn>
                              </p:par>
                            </p:childTnLst>
                          </p:cTn>
                        </p:par>
                        <p:par>
                          <p:cTn id="89" fill="hold">
                            <p:stCondLst>
                              <p:cond delay="750"/>
                            </p:stCondLst>
                            <p:childTnLst>
                              <p:par>
                                <p:cTn id="90" presetID="10" presetClass="entr" presetSubtype="0" fill="hold" nodeType="after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P spid="5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803"/>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804"/>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805"/>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Data Sources supply facts on demand</a:t>
            </a:r>
            <a:endParaRPr lang="en-IN" sz="2200" b="1">
              <a:solidFill>
                <a:srgbClr val="FFFFFF"/>
              </a:solidFill>
              <a:latin typeface="Raleway" pitchFamily="2" charset="0"/>
            </a:endParaRPr>
          </a:p>
        </p:txBody>
      </p:sp>
      <p:sp>
        <p:nvSpPr>
          <p:cNvPr id="5" name="rd806"/>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807"/>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14  |  Radiant Digital  •  Confidential  •  All Rights Reserved  •  2026</a:t>
            </a:r>
            <a:endParaRPr lang="en-IN" sz="700">
              <a:solidFill>
                <a:srgbClr val="FFFFFF"/>
              </a:solidFill>
              <a:latin typeface="Raleway" pitchFamily="2" charset="0"/>
            </a:endParaRPr>
          </a:p>
        </p:txBody>
      </p:sp>
      <p:pic>
        <p:nvPicPr>
          <p:cNvPr id="7" name="rd80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sp>
        <p:nvSpPr>
          <p:cNvPr id="8" name="rd809"/>
          <p:cNvSpPr/>
          <p:nvPr/>
        </p:nvSpPr>
        <p:spPr>
          <a:xfrm>
            <a:off x="457200" y="676656"/>
            <a:ext cx="1920240" cy="274320"/>
          </a:xfrm>
          <a:prstGeom prst="roundRect">
            <a:avLst>
              <a:gd name="adj" fmla="val 25000"/>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FFFFFF"/>
                </a:solidFill>
                <a:latin typeface="Raleway" pitchFamily="2" charset="0"/>
              </a:rPr>
              <a:t>RUNTIME  |  DATA LAYER</a:t>
            </a:r>
          </a:p>
        </p:txBody>
      </p:sp>
      <p:sp>
        <p:nvSpPr>
          <p:cNvPr id="9" name="rd810"/>
          <p:cNvSpPr txBox="1"/>
          <p:nvPr/>
        </p:nvSpPr>
        <p:spPr>
          <a:xfrm>
            <a:off x="2514600" y="640080"/>
            <a:ext cx="9235440" cy="347472"/>
          </a:xfrm>
          <a:prstGeom prst="rect">
            <a:avLst/>
          </a:prstGeom>
          <a:noFill/>
        </p:spPr>
        <p:txBody>
          <a:bodyPr vert="horz" wrap="square" lIns="0" tIns="0" rIns="0" bIns="0" rtlCol="0" anchor="ctr">
            <a:noAutofit/>
          </a:bodyPr>
          <a:lstStyle/>
          <a:p>
            <a:r>
              <a:rPr lang="en-US" sz="1100">
                <a:solidFill>
                  <a:srgbClr val="231F20"/>
                </a:solidFill>
                <a:latin typeface="Raleway" pitchFamily="2" charset="0"/>
              </a:rPr>
              <a:t>Internal and external sources that the Insights Server queries on demand; only the data an intent requires is retrieved.</a:t>
            </a:r>
            <a:endParaRPr lang="en-IN" sz="1100">
              <a:solidFill>
                <a:srgbClr val="231F20"/>
              </a:solidFill>
              <a:latin typeface="Raleway" pitchFamily="2" charset="0"/>
            </a:endParaRPr>
          </a:p>
        </p:txBody>
      </p:sp>
      <p:grpSp>
        <p:nvGrpSpPr>
          <p:cNvPr id="14" name="rd815"/>
          <p:cNvGrpSpPr/>
          <p:nvPr/>
        </p:nvGrpSpPr>
        <p:grpSpPr>
          <a:xfrm>
            <a:off x="457200" y="1143000"/>
            <a:ext cx="2103120" cy="4297680"/>
            <a:chOff x="457200" y="1143000"/>
            <a:chExt cx="2103120" cy="4297680"/>
          </a:xfrm>
        </p:grpSpPr>
        <p:sp>
          <p:nvSpPr>
            <p:cNvPr id="10" name="rd811"/>
            <p:cNvSpPr/>
            <p:nvPr/>
          </p:nvSpPr>
          <p:spPr>
            <a:xfrm>
              <a:off x="457200" y="1143000"/>
              <a:ext cx="2103120" cy="4297680"/>
            </a:xfrm>
            <a:prstGeom prst="rect">
              <a:avLst/>
            </a:prstGeom>
            <a:solidFill>
              <a:srgbClr val="F2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1" name="rd812"/>
            <p:cNvSpPr txBox="1"/>
            <p:nvPr/>
          </p:nvSpPr>
          <p:spPr>
            <a:xfrm>
              <a:off x="594360" y="1234440"/>
              <a:ext cx="1828800" cy="228600"/>
            </a:xfrm>
            <a:prstGeom prst="rect">
              <a:avLst/>
            </a:prstGeom>
            <a:noFill/>
          </p:spPr>
          <p:txBody>
            <a:bodyPr vert="horz" wrap="square" lIns="0" tIns="0" rIns="0" bIns="0" rtlCol="0" anchor="t">
              <a:noAutofit/>
            </a:bodyPr>
            <a:lstStyle/>
            <a:p>
              <a:r>
                <a:rPr lang="en-IN" sz="900" b="1">
                  <a:solidFill>
                    <a:srgbClr val="0596AE"/>
                  </a:solidFill>
                  <a:latin typeface="Raleway" pitchFamily="2" charset="0"/>
                </a:rPr>
                <a:t>INPUTS</a:t>
              </a:r>
            </a:p>
          </p:txBody>
        </p:sp>
        <p:sp>
          <p:nvSpPr>
            <p:cNvPr id="12" name="rd813"/>
            <p:cNvSpPr/>
            <p:nvPr/>
          </p:nvSpPr>
          <p:spPr>
            <a:xfrm>
              <a:off x="566928" y="1554480"/>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Cypher queries from the Insights Server</a:t>
              </a:r>
              <a:endParaRPr lang="en-IN" sz="950">
                <a:solidFill>
                  <a:srgbClr val="231F20"/>
                </a:solidFill>
                <a:latin typeface="Raleway" pitchFamily="2" charset="0"/>
              </a:endParaRPr>
            </a:p>
          </p:txBody>
        </p:sp>
        <p:sp>
          <p:nvSpPr>
            <p:cNvPr id="13" name="rd814"/>
            <p:cNvSpPr/>
            <p:nvPr/>
          </p:nvSpPr>
          <p:spPr>
            <a:xfrm>
              <a:off x="566928" y="2487168"/>
              <a:ext cx="1883664" cy="82296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231F20"/>
                  </a:solidFill>
                  <a:latin typeface="Raleway" pitchFamily="2" charset="0"/>
                </a:rPr>
                <a:t>Synthetic data from the Data Factory</a:t>
              </a:r>
              <a:endParaRPr lang="en-IN" sz="950">
                <a:solidFill>
                  <a:srgbClr val="231F20"/>
                </a:solidFill>
                <a:latin typeface="Raleway" pitchFamily="2" charset="0"/>
              </a:endParaRPr>
            </a:p>
          </p:txBody>
        </p:sp>
      </p:grpSp>
      <p:sp>
        <p:nvSpPr>
          <p:cNvPr id="15" name="rd816"/>
          <p:cNvSpPr/>
          <p:nvPr/>
        </p:nvSpPr>
        <p:spPr>
          <a:xfrm>
            <a:off x="2596896" y="3063240"/>
            <a:ext cx="155448" cy="45720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0" name="rd821"/>
          <p:cNvGrpSpPr/>
          <p:nvPr/>
        </p:nvGrpSpPr>
        <p:grpSpPr>
          <a:xfrm>
            <a:off x="9628632" y="1143000"/>
            <a:ext cx="2103120" cy="4297680"/>
            <a:chOff x="9628632" y="1143000"/>
            <a:chExt cx="2103120" cy="4297680"/>
          </a:xfrm>
        </p:grpSpPr>
        <p:sp>
          <p:nvSpPr>
            <p:cNvPr id="16" name="rd817"/>
            <p:cNvSpPr/>
            <p:nvPr/>
          </p:nvSpPr>
          <p:spPr>
            <a:xfrm>
              <a:off x="9628632" y="1143000"/>
              <a:ext cx="2103120" cy="429768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7" name="rd818"/>
            <p:cNvSpPr txBox="1"/>
            <p:nvPr/>
          </p:nvSpPr>
          <p:spPr>
            <a:xfrm>
              <a:off x="9765792" y="1234440"/>
              <a:ext cx="1828800" cy="228600"/>
            </a:xfrm>
            <a:prstGeom prst="rect">
              <a:avLst/>
            </a:prstGeom>
            <a:noFill/>
          </p:spPr>
          <p:txBody>
            <a:bodyPr vert="horz" wrap="square" lIns="0" tIns="0" rIns="0" bIns="0" rtlCol="0" anchor="t">
              <a:noAutofit/>
            </a:bodyPr>
            <a:lstStyle/>
            <a:p>
              <a:r>
                <a:rPr lang="en-IN" sz="900" b="1">
                  <a:solidFill>
                    <a:srgbClr val="93C3CD"/>
                  </a:solidFill>
                  <a:latin typeface="Raleway" pitchFamily="2" charset="0"/>
                </a:rPr>
                <a:t>OUTPUTS</a:t>
              </a:r>
            </a:p>
          </p:txBody>
        </p:sp>
        <p:sp>
          <p:nvSpPr>
            <p:cNvPr id="18" name="rd819"/>
            <p:cNvSpPr/>
            <p:nvPr/>
          </p:nvSpPr>
          <p:spPr>
            <a:xfrm>
              <a:off x="9738360" y="1554480"/>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Raw data to the Insights Server</a:t>
              </a:r>
              <a:endParaRPr lang="en-IN" sz="950">
                <a:solidFill>
                  <a:srgbClr val="FFFFFF"/>
                </a:solidFill>
                <a:latin typeface="Raleway" pitchFamily="2" charset="0"/>
              </a:endParaRPr>
            </a:p>
          </p:txBody>
        </p:sp>
        <p:sp>
          <p:nvSpPr>
            <p:cNvPr id="19" name="rd820"/>
            <p:cNvSpPr/>
            <p:nvPr/>
          </p:nvSpPr>
          <p:spPr>
            <a:xfrm>
              <a:off x="9738360" y="2487168"/>
              <a:ext cx="1883664" cy="822960"/>
            </a:xfrm>
            <a:prstGeom prst="roundRect">
              <a:avLst>
                <a:gd name="adj" fmla="val 8000"/>
              </a:avLst>
            </a:prstGeom>
            <a:noFill/>
            <a:ln w="9525" cap="flat" cmpd="sng" algn="ctr">
              <a:solidFill>
                <a:srgbClr val="93C3C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950">
                  <a:solidFill>
                    <a:srgbClr val="FFFFFF"/>
                  </a:solidFill>
                  <a:latin typeface="Raleway" pitchFamily="2" charset="0"/>
                </a:rPr>
                <a:t>Facts for data intelligence and reports</a:t>
              </a:r>
              <a:endParaRPr lang="en-IN" sz="950">
                <a:solidFill>
                  <a:srgbClr val="FFFFFF"/>
                </a:solidFill>
                <a:latin typeface="Raleway" pitchFamily="2" charset="0"/>
              </a:endParaRPr>
            </a:p>
          </p:txBody>
        </p:sp>
      </p:grpSp>
      <p:sp>
        <p:nvSpPr>
          <p:cNvPr id="21" name="rd822"/>
          <p:cNvSpPr/>
          <p:nvPr/>
        </p:nvSpPr>
        <p:spPr>
          <a:xfrm>
            <a:off x="9454896" y="3063240"/>
            <a:ext cx="155448" cy="45720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Raleway" pitchFamily="2" charset="0"/>
            </a:endParaRPr>
          </a:p>
        </p:txBody>
      </p:sp>
      <p:grpSp>
        <p:nvGrpSpPr>
          <p:cNvPr id="26" name="rd827"/>
          <p:cNvGrpSpPr/>
          <p:nvPr/>
        </p:nvGrpSpPr>
        <p:grpSpPr>
          <a:xfrm>
            <a:off x="457200" y="5623560"/>
            <a:ext cx="11265408" cy="731520"/>
            <a:chOff x="457200" y="5623560"/>
            <a:chExt cx="11265408" cy="731520"/>
          </a:xfrm>
        </p:grpSpPr>
        <p:sp>
          <p:nvSpPr>
            <p:cNvPr id="22" name="rd823"/>
            <p:cNvSpPr/>
            <p:nvPr/>
          </p:nvSpPr>
          <p:spPr>
            <a:xfrm>
              <a:off x="457200" y="5623560"/>
              <a:ext cx="1371600" cy="731520"/>
            </a:xfrm>
            <a:prstGeom prst="rect">
              <a:avLst/>
            </a:prstGeom>
            <a:solidFill>
              <a:srgbClr val="E3F1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850" b="1">
                  <a:solidFill>
                    <a:srgbClr val="0596AE"/>
                  </a:solidFill>
                  <a:latin typeface="Raleway" pitchFamily="2" charset="0"/>
                </a:rPr>
                <a:t>INTERFACES</a:t>
              </a:r>
            </a:p>
          </p:txBody>
        </p:sp>
        <p:sp>
          <p:nvSpPr>
            <p:cNvPr id="23" name="rd824"/>
            <p:cNvSpPr/>
            <p:nvPr/>
          </p:nvSpPr>
          <p:spPr>
            <a:xfrm>
              <a:off x="192024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IN" sz="950" b="1">
                  <a:solidFill>
                    <a:srgbClr val="074661"/>
                  </a:solidFill>
                  <a:latin typeface="Raleway" pitchFamily="2" charset="0"/>
                </a:rPr>
                <a:t>Queried by:</a:t>
              </a:r>
              <a:r>
                <a:rPr lang="en-IN" sz="950">
                  <a:solidFill>
                    <a:srgbClr val="231F20"/>
                  </a:solidFill>
                  <a:latin typeface="Raleway" pitchFamily="2" charset="0"/>
                </a:rPr>
                <a:t> Insights Server</a:t>
              </a:r>
            </a:p>
          </p:txBody>
        </p:sp>
        <p:sp>
          <p:nvSpPr>
            <p:cNvPr id="24" name="rd825"/>
            <p:cNvSpPr/>
            <p:nvPr/>
          </p:nvSpPr>
          <p:spPr>
            <a:xfrm>
              <a:off x="521208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Loaded by:</a:t>
              </a:r>
              <a:r>
                <a:rPr lang="en-US" sz="950">
                  <a:solidFill>
                    <a:srgbClr val="231F20"/>
                  </a:solidFill>
                  <a:latin typeface="Raleway" pitchFamily="2" charset="0"/>
                </a:rPr>
                <a:t> Data Factory (synthetic data)</a:t>
              </a:r>
              <a:endParaRPr lang="en-IN" sz="950">
                <a:solidFill>
                  <a:srgbClr val="231F20"/>
                </a:solidFill>
                <a:latin typeface="Raleway" pitchFamily="2" charset="0"/>
              </a:endParaRPr>
            </a:p>
          </p:txBody>
        </p:sp>
        <p:sp>
          <p:nvSpPr>
            <p:cNvPr id="25" name="rd826"/>
            <p:cNvSpPr/>
            <p:nvPr/>
          </p:nvSpPr>
          <p:spPr>
            <a:xfrm>
              <a:off x="8503920" y="5623560"/>
              <a:ext cx="3218688" cy="731520"/>
            </a:xfrm>
            <a:prstGeom prst="roundRect">
              <a:avLst>
                <a:gd name="adj" fmla="val 8000"/>
              </a:avLst>
            </a:prstGeom>
            <a:solidFill>
              <a:srgbClr val="FFFFFF"/>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lIns="109728" tIns="0" rIns="109728" bIns="0" rtlCol="0" anchor="ctr"/>
            <a:lstStyle/>
            <a:p>
              <a:r>
                <a:rPr lang="en-US" sz="950" b="1">
                  <a:solidFill>
                    <a:srgbClr val="074661"/>
                  </a:solidFill>
                  <a:latin typeface="Raleway" pitchFamily="2" charset="0"/>
                </a:rPr>
                <a:t>Access:</a:t>
              </a:r>
              <a:r>
                <a:rPr lang="en-US" sz="950">
                  <a:solidFill>
                    <a:srgbClr val="231F20"/>
                  </a:solidFill>
                  <a:latin typeface="Raleway" pitchFamily="2" charset="0"/>
                </a:rPr>
                <a:t> Cypher query in, raw data out</a:t>
              </a:r>
              <a:endParaRPr lang="en-IN" sz="950">
                <a:solidFill>
                  <a:srgbClr val="231F20"/>
                </a:solidFill>
                <a:latin typeface="Raleway" pitchFamily="2" charset="0"/>
              </a:endParaRPr>
            </a:p>
          </p:txBody>
        </p:sp>
      </p:grpSp>
      <p:sp>
        <p:nvSpPr>
          <p:cNvPr id="27" name="rd828"/>
          <p:cNvSpPr/>
          <p:nvPr/>
        </p:nvSpPr>
        <p:spPr>
          <a:xfrm>
            <a:off x="2788920" y="1188720"/>
            <a:ext cx="2331720" cy="640080"/>
          </a:xfrm>
          <a:prstGeom prst="homePlate">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228600" tIns="0" rIns="228600" bIns="0" rtlCol="0" anchor="ctr"/>
          <a:lstStyle/>
          <a:p>
            <a:pPr algn="ctr"/>
            <a:r>
              <a:rPr lang="en-IN" sz="1000" b="1">
                <a:solidFill>
                  <a:srgbClr val="FFFFFF"/>
                </a:solidFill>
                <a:latin typeface="Raleway" pitchFamily="2" charset="0"/>
              </a:rPr>
              <a:t>1  Receive Cypher query</a:t>
            </a:r>
          </a:p>
        </p:txBody>
      </p:sp>
      <p:sp>
        <p:nvSpPr>
          <p:cNvPr id="28" name="rd829"/>
          <p:cNvSpPr/>
          <p:nvPr/>
        </p:nvSpPr>
        <p:spPr>
          <a:xfrm>
            <a:off x="4937760" y="1188720"/>
            <a:ext cx="2331720" cy="64008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228600" tIns="0" rIns="228600" bIns="0" rtlCol="0" anchor="ctr"/>
          <a:lstStyle/>
          <a:p>
            <a:pPr algn="ctr"/>
            <a:r>
              <a:rPr lang="en-IN" sz="1000" b="1">
                <a:solidFill>
                  <a:srgbClr val="FFFFFF"/>
                </a:solidFill>
                <a:latin typeface="Raleway" pitchFamily="2" charset="0"/>
              </a:rPr>
              <a:t>2  Resolve against source</a:t>
            </a:r>
          </a:p>
        </p:txBody>
      </p:sp>
      <p:sp>
        <p:nvSpPr>
          <p:cNvPr id="29" name="rd830"/>
          <p:cNvSpPr/>
          <p:nvPr/>
        </p:nvSpPr>
        <p:spPr>
          <a:xfrm>
            <a:off x="7086600" y="1188720"/>
            <a:ext cx="2331720" cy="64008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228600" tIns="0" rIns="228600" bIns="0" rtlCol="0" anchor="ctr"/>
          <a:lstStyle/>
          <a:p>
            <a:pPr algn="ctr"/>
            <a:r>
              <a:rPr lang="en-IN" sz="1000" b="1">
                <a:solidFill>
                  <a:srgbClr val="FFFFFF"/>
                </a:solidFill>
                <a:latin typeface="Raleway" pitchFamily="2" charset="0"/>
              </a:rPr>
              <a:t>3  Return raw data</a:t>
            </a:r>
          </a:p>
        </p:txBody>
      </p:sp>
      <p:grpSp>
        <p:nvGrpSpPr>
          <p:cNvPr id="34" name="rd835"/>
          <p:cNvGrpSpPr/>
          <p:nvPr/>
        </p:nvGrpSpPr>
        <p:grpSpPr>
          <a:xfrm>
            <a:off x="2788920" y="2148840"/>
            <a:ext cx="3200400" cy="3291840"/>
            <a:chOff x="2788920" y="2148840"/>
            <a:chExt cx="3200400" cy="3291840"/>
          </a:xfrm>
        </p:grpSpPr>
        <p:sp>
          <p:nvSpPr>
            <p:cNvPr id="30" name="rd831"/>
            <p:cNvSpPr/>
            <p:nvPr/>
          </p:nvSpPr>
          <p:spPr>
            <a:xfrm>
              <a:off x="2788920" y="2148840"/>
              <a:ext cx="3200400" cy="3291840"/>
            </a:xfrm>
            <a:prstGeom prst="rect">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1" name="rd832"/>
            <p:cNvSpPr/>
            <p:nvPr/>
          </p:nvSpPr>
          <p:spPr>
            <a:xfrm>
              <a:off x="2788920" y="2148840"/>
              <a:ext cx="3200400"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64592" tIns="0" rIns="164592" bIns="0" rtlCol="0" anchor="ctr"/>
            <a:lstStyle/>
            <a:p>
              <a:r>
                <a:rPr lang="en-IN" sz="1200" b="1">
                  <a:solidFill>
                    <a:srgbClr val="FFFFFF"/>
                  </a:solidFill>
                  <a:latin typeface="Raleway" pitchFamily="2" charset="0"/>
                </a:rPr>
                <a:t>1   Internal Data Sources</a:t>
              </a:r>
            </a:p>
          </p:txBody>
        </p:sp>
        <p:sp>
          <p:nvSpPr>
            <p:cNvPr id="32" name="rd833"/>
            <p:cNvSpPr txBox="1"/>
            <p:nvPr/>
          </p:nvSpPr>
          <p:spPr>
            <a:xfrm>
              <a:off x="2971800" y="2761488"/>
              <a:ext cx="2834640" cy="201168"/>
            </a:xfrm>
            <a:prstGeom prst="rect">
              <a:avLst/>
            </a:prstGeom>
            <a:noFill/>
          </p:spPr>
          <p:txBody>
            <a:bodyPr vert="horz" wrap="square" lIns="0" tIns="0" rIns="0" bIns="0" rtlCol="0" anchor="t">
              <a:noAutofit/>
            </a:bodyPr>
            <a:lstStyle/>
            <a:p>
              <a:r>
                <a:rPr lang="en-IN" sz="800" b="1">
                  <a:solidFill>
                    <a:srgbClr val="5B6B73"/>
                  </a:solidFill>
                  <a:latin typeface="Raleway" pitchFamily="2" charset="0"/>
                </a:rPr>
                <a:t>Typical sources</a:t>
              </a:r>
            </a:p>
          </p:txBody>
        </p:sp>
        <p:sp>
          <p:nvSpPr>
            <p:cNvPr id="33" name="rd834"/>
            <p:cNvSpPr txBox="1"/>
            <p:nvPr/>
          </p:nvSpPr>
          <p:spPr>
            <a:xfrm>
              <a:off x="2971800" y="3063240"/>
              <a:ext cx="2834640" cy="2286000"/>
            </a:xfrm>
            <a:prstGeom prst="rect">
              <a:avLst/>
            </a:prstGeom>
            <a:noFill/>
          </p:spPr>
          <p:txBody>
            <a:bodyPr vert="horz" wrap="square" lIns="0" tIns="0" rIns="0" bIns="0" rtlCol="0" anchor="t">
              <a:noAutofit/>
            </a:bodyPr>
            <a:lstStyle/>
            <a:p>
              <a:pPr marL="114300" indent="-114300">
                <a:spcAft>
                  <a:spcPts val="1200"/>
                </a:spcAft>
                <a:buClr>
                  <a:srgbClr val="0596AE"/>
                </a:buClr>
                <a:buFont typeface="+mj-lt"/>
                <a:buChar char="•"/>
              </a:pPr>
              <a:r>
                <a:rPr lang="en-US" sz="1200">
                  <a:solidFill>
                    <a:srgbClr val="231F20"/>
                  </a:solidFill>
                  <a:latin typeface="Raleway" pitchFamily="2" charset="0"/>
                </a:rPr>
                <a:t>Enterprise systems of record</a:t>
              </a:r>
            </a:p>
            <a:p>
              <a:pPr marL="114300" indent="-114300">
                <a:spcAft>
                  <a:spcPts val="1200"/>
                </a:spcAft>
                <a:buClr>
                  <a:srgbClr val="0596AE"/>
                </a:buClr>
                <a:buFont typeface="+mj-lt"/>
                <a:buChar char="•"/>
              </a:pPr>
              <a:r>
                <a:rPr lang="en-US" sz="1200">
                  <a:solidFill>
                    <a:srgbClr val="231F20"/>
                  </a:solidFill>
                  <a:latin typeface="Raleway" pitchFamily="2" charset="0"/>
                </a:rPr>
                <a:t>Operational and analytical databases</a:t>
              </a:r>
            </a:p>
            <a:p>
              <a:pPr marL="114300" indent="-114300">
                <a:spcAft>
                  <a:spcPts val="1200"/>
                </a:spcAft>
                <a:buClr>
                  <a:srgbClr val="0596AE"/>
                </a:buClr>
                <a:buFont typeface="+mj-lt"/>
                <a:buChar char="•"/>
              </a:pPr>
              <a:r>
                <a:rPr lang="en-US" sz="1200">
                  <a:solidFill>
                    <a:srgbClr val="231F20"/>
                  </a:solidFill>
                  <a:latin typeface="Raleway" pitchFamily="2" charset="0"/>
                </a:rPr>
                <a:t>Domain database loaded with synthetic data by the Data Factory</a:t>
              </a:r>
            </a:p>
            <a:p>
              <a:pPr marL="114300" indent="-114300">
                <a:spcAft>
                  <a:spcPts val="1200"/>
                </a:spcAft>
                <a:buClr>
                  <a:srgbClr val="0596AE"/>
                </a:buClr>
                <a:buFont typeface="+mj-lt"/>
                <a:buChar char="•"/>
              </a:pPr>
              <a:r>
                <a:rPr lang="en-US" sz="1200">
                  <a:solidFill>
                    <a:srgbClr val="231F20"/>
                  </a:solidFill>
                  <a:latin typeface="Raleway" pitchFamily="2" charset="0"/>
                </a:rPr>
                <a:t>Described by the domain model and metadata</a:t>
              </a:r>
              <a:endParaRPr lang="en-IN" sz="1200">
                <a:solidFill>
                  <a:srgbClr val="231F20"/>
                </a:solidFill>
                <a:latin typeface="Raleway" pitchFamily="2" charset="0"/>
              </a:endParaRPr>
            </a:p>
          </p:txBody>
        </p:sp>
      </p:grpSp>
      <p:grpSp>
        <p:nvGrpSpPr>
          <p:cNvPr id="39" name="rd840"/>
          <p:cNvGrpSpPr/>
          <p:nvPr/>
        </p:nvGrpSpPr>
        <p:grpSpPr>
          <a:xfrm>
            <a:off x="6217920" y="2148840"/>
            <a:ext cx="3200400" cy="3291840"/>
            <a:chOff x="6217920" y="2148840"/>
            <a:chExt cx="3200400" cy="3291840"/>
          </a:xfrm>
        </p:grpSpPr>
        <p:sp>
          <p:nvSpPr>
            <p:cNvPr id="35" name="rd836"/>
            <p:cNvSpPr/>
            <p:nvPr/>
          </p:nvSpPr>
          <p:spPr>
            <a:xfrm>
              <a:off x="6217920" y="2148840"/>
              <a:ext cx="3200400" cy="3291840"/>
            </a:xfrm>
            <a:prstGeom prst="rect">
              <a:avLst/>
            </a:prstGeom>
            <a:solidFill>
              <a:srgbClr val="FFFFFF"/>
            </a:solidFill>
            <a:ln w="12700">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6" name="rd837"/>
            <p:cNvSpPr/>
            <p:nvPr/>
          </p:nvSpPr>
          <p:spPr>
            <a:xfrm>
              <a:off x="6217920" y="2148840"/>
              <a:ext cx="3200400" cy="502920"/>
            </a:xfrm>
            <a:prstGeom prst="rect">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64592" tIns="0" rIns="164592" bIns="0" rtlCol="0" anchor="ctr"/>
            <a:lstStyle/>
            <a:p>
              <a:r>
                <a:rPr lang="en-IN" sz="1200" b="1">
                  <a:solidFill>
                    <a:srgbClr val="FFFFFF"/>
                  </a:solidFill>
                  <a:latin typeface="Raleway" pitchFamily="2" charset="0"/>
                </a:rPr>
                <a:t>2   External Data Sources</a:t>
              </a:r>
            </a:p>
          </p:txBody>
        </p:sp>
        <p:sp>
          <p:nvSpPr>
            <p:cNvPr id="37" name="rd838"/>
            <p:cNvSpPr txBox="1"/>
            <p:nvPr/>
          </p:nvSpPr>
          <p:spPr>
            <a:xfrm>
              <a:off x="6400800" y="2761488"/>
              <a:ext cx="2834640" cy="201168"/>
            </a:xfrm>
            <a:prstGeom prst="rect">
              <a:avLst/>
            </a:prstGeom>
            <a:noFill/>
          </p:spPr>
          <p:txBody>
            <a:bodyPr vert="horz" wrap="square" lIns="0" tIns="0" rIns="0" bIns="0" rtlCol="0" anchor="t">
              <a:noAutofit/>
            </a:bodyPr>
            <a:lstStyle/>
            <a:p>
              <a:r>
                <a:rPr lang="en-IN" sz="800" b="1">
                  <a:solidFill>
                    <a:srgbClr val="5B6B73"/>
                  </a:solidFill>
                  <a:latin typeface="Raleway" pitchFamily="2" charset="0"/>
                </a:rPr>
                <a:t>Typical sources</a:t>
              </a:r>
            </a:p>
          </p:txBody>
        </p:sp>
        <p:sp>
          <p:nvSpPr>
            <p:cNvPr id="38" name="rd839"/>
            <p:cNvSpPr txBox="1"/>
            <p:nvPr/>
          </p:nvSpPr>
          <p:spPr>
            <a:xfrm>
              <a:off x="6400800" y="3063240"/>
              <a:ext cx="2834640" cy="2286000"/>
            </a:xfrm>
            <a:prstGeom prst="rect">
              <a:avLst/>
            </a:prstGeom>
            <a:noFill/>
          </p:spPr>
          <p:txBody>
            <a:bodyPr vert="horz" wrap="square" lIns="0" tIns="0" rIns="0" bIns="0" rtlCol="0" anchor="t">
              <a:noAutofit/>
            </a:bodyPr>
            <a:lstStyle/>
            <a:p>
              <a:pPr marL="114300" indent="-114300">
                <a:spcAft>
                  <a:spcPts val="1200"/>
                </a:spcAft>
                <a:buClr>
                  <a:srgbClr val="0596AE"/>
                </a:buClr>
                <a:buFont typeface="+mj-lt"/>
                <a:buChar char="•"/>
              </a:pPr>
              <a:r>
                <a:rPr lang="en-US" sz="1200">
                  <a:solidFill>
                    <a:srgbClr val="231F20"/>
                  </a:solidFill>
                  <a:latin typeface="Raleway" pitchFamily="2" charset="0"/>
                </a:rPr>
                <a:t>Third-party and market data feeds</a:t>
              </a:r>
            </a:p>
            <a:p>
              <a:pPr marL="114300" indent="-114300">
                <a:spcAft>
                  <a:spcPts val="1200"/>
                </a:spcAft>
                <a:buClr>
                  <a:srgbClr val="0596AE"/>
                </a:buClr>
                <a:buFont typeface="+mj-lt"/>
                <a:buChar char="•"/>
              </a:pPr>
              <a:r>
                <a:rPr lang="en-US" sz="1200">
                  <a:solidFill>
                    <a:srgbClr val="231F20"/>
                  </a:solidFill>
                  <a:latin typeface="Raleway" pitchFamily="2" charset="0"/>
                </a:rPr>
                <a:t>Public and reference data sets</a:t>
              </a:r>
            </a:p>
            <a:p>
              <a:pPr marL="114300" indent="-114300">
                <a:spcAft>
                  <a:spcPts val="1200"/>
                </a:spcAft>
                <a:buClr>
                  <a:srgbClr val="0596AE"/>
                </a:buClr>
                <a:buFont typeface="+mj-lt"/>
                <a:buChar char="•"/>
              </a:pPr>
              <a:r>
                <a:rPr lang="en-US" sz="1200">
                  <a:solidFill>
                    <a:srgbClr val="231F20"/>
                  </a:solidFill>
                  <a:latin typeface="Raleway" pitchFamily="2" charset="0"/>
                </a:rPr>
                <a:t>Partner data exchanged through APIs</a:t>
              </a:r>
            </a:p>
            <a:p>
              <a:pPr marL="114300" indent="-114300">
                <a:spcAft>
                  <a:spcPts val="1200"/>
                </a:spcAft>
                <a:buClr>
                  <a:srgbClr val="0596AE"/>
                </a:buClr>
                <a:buFont typeface="+mj-lt"/>
                <a:buChar char="•"/>
              </a:pPr>
              <a:r>
                <a:rPr lang="en-US" sz="1200">
                  <a:solidFill>
                    <a:srgbClr val="231F20"/>
                  </a:solidFill>
                  <a:latin typeface="Raleway" pitchFamily="2" charset="0"/>
                </a:rPr>
                <a:t>Mapped to the same ontology before use</a:t>
              </a:r>
              <a:endParaRPr lang="en-IN" sz="1200">
                <a:solidFill>
                  <a:srgbClr val="231F20"/>
                </a:solidFill>
                <a:latin typeface="Raleway" pitchFamily="2" charset="0"/>
              </a:endParaRPr>
            </a:p>
          </p:txBody>
        </p:sp>
      </p:grpSp>
    </p:spTree>
    <p:extLst>
      <p:ext uri="{BB962C8B-B14F-4D97-AF65-F5344CB8AC3E}">
        <p14:creationId xmlns:p14="http://schemas.microsoft.com/office/powerpoint/2010/main" val="261331857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3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350"/>
                                        <p:tgtEl>
                                          <p:spTgt spid="27"/>
                                        </p:tgtEl>
                                      </p:cBhvr>
                                    </p:animEffect>
                                  </p:childTnLst>
                                </p:cTn>
                              </p:par>
                            </p:childTnLst>
                          </p:cTn>
                        </p:par>
                        <p:par>
                          <p:cTn id="17" fill="hold">
                            <p:stCondLst>
                              <p:cond delay="350"/>
                            </p:stCondLst>
                            <p:childTnLst>
                              <p:par>
                                <p:cTn id="18" presetID="22" presetClass="entr" presetSubtype="8"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350"/>
                                        <p:tgtEl>
                                          <p:spTgt spid="28"/>
                                        </p:tgtEl>
                                      </p:cBhvr>
                                    </p:animEffect>
                                  </p:childTnLst>
                                </p:cTn>
                              </p:par>
                            </p:childTnLst>
                          </p:cTn>
                        </p:par>
                        <p:par>
                          <p:cTn id="21" fill="hold">
                            <p:stCondLst>
                              <p:cond delay="700"/>
                            </p:stCondLst>
                            <p:childTnLst>
                              <p:par>
                                <p:cTn id="22" presetID="22" presetClass="entr" presetSubtype="8" fill="hold" grpId="0"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35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5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45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300"/>
                                        <p:tgtEl>
                                          <p:spTgt spid="21"/>
                                        </p:tgtEl>
                                      </p:cBhvr>
                                    </p:animEffect>
                                  </p:childTnLst>
                                </p:cTn>
                              </p:par>
                            </p:childTnLst>
                          </p:cTn>
                        </p:par>
                        <p:par>
                          <p:cTn id="40" fill="hold">
                            <p:stCondLst>
                              <p:cond delay="300"/>
                            </p:stCondLst>
                            <p:childTnLst>
                              <p:par>
                                <p:cTn id="41" presetID="10" presetClass="entr" presetSubtype="0"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par>
                          <p:cTn id="44" fill="hold">
                            <p:stCondLst>
                              <p:cond delay="750"/>
                            </p:stCondLst>
                            <p:childTnLst>
                              <p:par>
                                <p:cTn id="45" presetID="10" presetClass="entr" presetSubtype="0"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d841"/>
          <p:cNvSpPr/>
          <p:nvPr/>
        </p:nvSpPr>
        <p:spPr>
          <a:xfrm>
            <a:off x="0" y="0"/>
            <a:ext cx="12191695" cy="502920"/>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3" name="rd842"/>
          <p:cNvSpPr/>
          <p:nvPr/>
        </p:nvSpPr>
        <p:spPr>
          <a:xfrm>
            <a:off x="0" y="502920"/>
            <a:ext cx="12191695" cy="36576"/>
          </a:xfrm>
          <a:prstGeom prst="rect">
            <a:avLst/>
          </a:prstGeom>
          <a:solidFill>
            <a:srgbClr val="91C36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4" name="rd843"/>
          <p:cNvSpPr txBox="1"/>
          <p:nvPr/>
        </p:nvSpPr>
        <p:spPr>
          <a:xfrm>
            <a:off x="457200" y="54864"/>
            <a:ext cx="11430000" cy="393192"/>
          </a:xfrm>
          <a:prstGeom prst="rect">
            <a:avLst/>
          </a:prstGeom>
          <a:noFill/>
        </p:spPr>
        <p:txBody>
          <a:bodyPr vert="horz" wrap="square" lIns="0" tIns="0" rIns="0" bIns="0" rtlCol="0" anchor="b">
            <a:noAutofit/>
          </a:bodyPr>
          <a:lstStyle/>
          <a:p>
            <a:r>
              <a:rPr lang="en-US" sz="2200" b="1">
                <a:solidFill>
                  <a:srgbClr val="FFFFFF"/>
                </a:solidFill>
                <a:latin typeface="Raleway" pitchFamily="2" charset="0"/>
              </a:rPr>
              <a:t>Three principles make the factory repeatable</a:t>
            </a:r>
            <a:endParaRPr lang="en-IN" sz="2200" b="1">
              <a:solidFill>
                <a:srgbClr val="FFFFFF"/>
              </a:solidFill>
              <a:latin typeface="Raleway" pitchFamily="2" charset="0"/>
            </a:endParaRPr>
          </a:p>
        </p:txBody>
      </p:sp>
      <p:sp>
        <p:nvSpPr>
          <p:cNvPr id="5" name="rd844"/>
          <p:cNvSpPr/>
          <p:nvPr/>
        </p:nvSpPr>
        <p:spPr>
          <a:xfrm>
            <a:off x="0" y="6565392"/>
            <a:ext cx="12191695" cy="292608"/>
          </a:xfrm>
          <a:prstGeom prst="rect">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6" name="rd845"/>
          <p:cNvSpPr txBox="1"/>
          <p:nvPr/>
        </p:nvSpPr>
        <p:spPr>
          <a:xfrm>
            <a:off x="274320" y="6629400"/>
            <a:ext cx="9601200" cy="182880"/>
          </a:xfrm>
          <a:prstGeom prst="rect">
            <a:avLst/>
          </a:prstGeom>
          <a:noFill/>
        </p:spPr>
        <p:txBody>
          <a:bodyPr vert="horz" wrap="square" lIns="0" tIns="0" rIns="0" bIns="0" rtlCol="0" anchor="t">
            <a:noAutofit/>
          </a:bodyPr>
          <a:lstStyle/>
          <a:p>
            <a:r>
              <a:rPr lang="en-US" sz="700">
                <a:solidFill>
                  <a:srgbClr val="FFFFFF"/>
                </a:solidFill>
                <a:latin typeface="Raleway" pitchFamily="2" charset="0"/>
              </a:rPr>
              <a:t>15  |  Radiant Digital  •  Confidential  •  All Rights Reserved  •  2026</a:t>
            </a:r>
            <a:endParaRPr lang="en-IN" sz="700">
              <a:solidFill>
                <a:srgbClr val="FFFFFF"/>
              </a:solidFill>
              <a:latin typeface="Raleway" pitchFamily="2" charset="0"/>
            </a:endParaRPr>
          </a:p>
        </p:txBody>
      </p:sp>
      <p:pic>
        <p:nvPicPr>
          <p:cNvPr id="7" name="rd84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47120" y="6644030"/>
            <a:ext cx="822960" cy="135331"/>
          </a:xfrm>
          <a:prstGeom prst="rect">
            <a:avLst/>
          </a:prstGeom>
        </p:spPr>
      </p:pic>
      <p:grpSp>
        <p:nvGrpSpPr>
          <p:cNvPr id="12" name="rd851"/>
          <p:cNvGrpSpPr/>
          <p:nvPr/>
        </p:nvGrpSpPr>
        <p:grpSpPr>
          <a:xfrm>
            <a:off x="457200" y="777240"/>
            <a:ext cx="3611880" cy="3154680"/>
            <a:chOff x="457200" y="777240"/>
            <a:chExt cx="3611880" cy="3154680"/>
          </a:xfrm>
        </p:grpSpPr>
        <p:sp>
          <p:nvSpPr>
            <p:cNvPr id="8" name="rd847"/>
            <p:cNvSpPr/>
            <p:nvPr/>
          </p:nvSpPr>
          <p:spPr>
            <a:xfrm>
              <a:off x="457200" y="777240"/>
              <a:ext cx="3611880" cy="3154680"/>
            </a:xfrm>
            <a:prstGeom prst="roundRect">
              <a:avLst>
                <a:gd name="adj" fmla="val 5000"/>
              </a:avLst>
            </a:prstGeom>
            <a:solidFill>
              <a:srgbClr val="F2F7F8"/>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9" name="rd848"/>
            <p:cNvSpPr/>
            <p:nvPr/>
          </p:nvSpPr>
          <p:spPr>
            <a:xfrm>
              <a:off x="1943100" y="1005840"/>
              <a:ext cx="640080" cy="64008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Raleway" pitchFamily="2" charset="0"/>
                </a:rPr>
                <a:t>1</a:t>
              </a:r>
            </a:p>
          </p:txBody>
        </p:sp>
        <p:sp>
          <p:nvSpPr>
            <p:cNvPr id="10" name="rd849"/>
            <p:cNvSpPr txBox="1"/>
            <p:nvPr/>
          </p:nvSpPr>
          <p:spPr>
            <a:xfrm>
              <a:off x="640080" y="1783080"/>
              <a:ext cx="3246120" cy="411480"/>
            </a:xfrm>
            <a:prstGeom prst="rect">
              <a:avLst/>
            </a:prstGeom>
            <a:noFill/>
          </p:spPr>
          <p:txBody>
            <a:bodyPr vert="horz" wrap="square" lIns="0" tIns="0" rIns="0" bIns="0" rtlCol="0" anchor="ctr">
              <a:noAutofit/>
            </a:bodyPr>
            <a:lstStyle/>
            <a:p>
              <a:pPr algn="ctr"/>
              <a:r>
                <a:rPr lang="en-IN" sz="1600" b="1">
                  <a:solidFill>
                    <a:srgbClr val="074661"/>
                  </a:solidFill>
                  <a:latin typeface="Raleway" pitchFamily="2" charset="0"/>
                </a:rPr>
                <a:t>Reusable</a:t>
              </a:r>
            </a:p>
          </p:txBody>
        </p:sp>
        <p:sp>
          <p:nvSpPr>
            <p:cNvPr id="11" name="rd850"/>
            <p:cNvSpPr txBox="1"/>
            <p:nvPr/>
          </p:nvSpPr>
          <p:spPr>
            <a:xfrm>
              <a:off x="731520" y="2331720"/>
              <a:ext cx="3063240" cy="1554480"/>
            </a:xfrm>
            <a:prstGeom prst="rect">
              <a:avLst/>
            </a:prstGeom>
            <a:noFill/>
          </p:spPr>
          <p:txBody>
            <a:bodyPr vert="horz" wrap="square" lIns="0" tIns="0" rIns="0" bIns="0" rtlCol="0" anchor="t">
              <a:noAutofit/>
            </a:bodyPr>
            <a:lstStyle/>
            <a:p>
              <a:pPr algn="ctr"/>
              <a:r>
                <a:rPr lang="en-US" sz="1250">
                  <a:solidFill>
                    <a:srgbClr val="231F20"/>
                  </a:solidFill>
                  <a:latin typeface="Raleway" pitchFamily="2" charset="0"/>
                </a:rPr>
                <a:t>GenUI components, five standard APIs and one JSON contract per component are shared by every use case, so each new use case starts from parts that already work.</a:t>
              </a:r>
              <a:endParaRPr lang="en-IN" sz="1250">
                <a:solidFill>
                  <a:srgbClr val="231F20"/>
                </a:solidFill>
                <a:latin typeface="Raleway" pitchFamily="2" charset="0"/>
              </a:endParaRPr>
            </a:p>
          </p:txBody>
        </p:sp>
      </p:grpSp>
      <p:grpSp>
        <p:nvGrpSpPr>
          <p:cNvPr id="17" name="rd856"/>
          <p:cNvGrpSpPr/>
          <p:nvPr/>
        </p:nvGrpSpPr>
        <p:grpSpPr>
          <a:xfrm>
            <a:off x="4288536" y="777240"/>
            <a:ext cx="3611879" cy="3154680"/>
            <a:chOff x="4288536" y="777240"/>
            <a:chExt cx="3611879" cy="3154680"/>
          </a:xfrm>
        </p:grpSpPr>
        <p:sp>
          <p:nvSpPr>
            <p:cNvPr id="13" name="rd852"/>
            <p:cNvSpPr/>
            <p:nvPr/>
          </p:nvSpPr>
          <p:spPr>
            <a:xfrm>
              <a:off x="4288536" y="777240"/>
              <a:ext cx="3611879" cy="3154680"/>
            </a:xfrm>
            <a:prstGeom prst="roundRect">
              <a:avLst>
                <a:gd name="adj" fmla="val 5000"/>
              </a:avLst>
            </a:prstGeom>
            <a:solidFill>
              <a:srgbClr val="F2F7F8"/>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4" name="rd853"/>
            <p:cNvSpPr/>
            <p:nvPr/>
          </p:nvSpPr>
          <p:spPr>
            <a:xfrm>
              <a:off x="5774436" y="1005840"/>
              <a:ext cx="640080" cy="64008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Raleway" pitchFamily="2" charset="0"/>
                </a:rPr>
                <a:t>2</a:t>
              </a:r>
            </a:p>
          </p:txBody>
        </p:sp>
        <p:sp>
          <p:nvSpPr>
            <p:cNvPr id="15" name="rd854"/>
            <p:cNvSpPr txBox="1"/>
            <p:nvPr/>
          </p:nvSpPr>
          <p:spPr>
            <a:xfrm>
              <a:off x="4471416" y="1783080"/>
              <a:ext cx="3246120" cy="411480"/>
            </a:xfrm>
            <a:prstGeom prst="rect">
              <a:avLst/>
            </a:prstGeom>
            <a:noFill/>
          </p:spPr>
          <p:txBody>
            <a:bodyPr vert="horz" wrap="square" lIns="0" tIns="0" rIns="0" bIns="0" rtlCol="0" anchor="ctr">
              <a:noAutofit/>
            </a:bodyPr>
            <a:lstStyle/>
            <a:p>
              <a:pPr algn="ctr"/>
              <a:r>
                <a:rPr lang="en-IN" sz="1600" b="1">
                  <a:solidFill>
                    <a:srgbClr val="074661"/>
                  </a:solidFill>
                  <a:latin typeface="Raleway" pitchFamily="2" charset="0"/>
                </a:rPr>
                <a:t>Knowledge-driven</a:t>
              </a:r>
            </a:p>
          </p:txBody>
        </p:sp>
        <p:sp>
          <p:nvSpPr>
            <p:cNvPr id="16" name="rd855"/>
            <p:cNvSpPr txBox="1"/>
            <p:nvPr/>
          </p:nvSpPr>
          <p:spPr>
            <a:xfrm>
              <a:off x="4562856" y="2331720"/>
              <a:ext cx="3063240" cy="1554480"/>
            </a:xfrm>
            <a:prstGeom prst="rect">
              <a:avLst/>
            </a:prstGeom>
            <a:noFill/>
          </p:spPr>
          <p:txBody>
            <a:bodyPr vert="horz" wrap="square" lIns="0" tIns="0" rIns="0" bIns="0" rtlCol="0" anchor="t">
              <a:noAutofit/>
            </a:bodyPr>
            <a:lstStyle/>
            <a:p>
              <a:pPr algn="ctr"/>
              <a:r>
                <a:rPr lang="en-US" sz="1250">
                  <a:solidFill>
                    <a:srgbClr val="231F20"/>
                  </a:solidFill>
                  <a:latin typeface="Raleway" pitchFamily="2" charset="0"/>
                </a:rPr>
                <a:t>The Data Factory and KAG give the LLM grounded domain context, so intent, queries and answers use the business's own vocabulary.</a:t>
              </a:r>
              <a:endParaRPr lang="en-IN" sz="1250">
                <a:solidFill>
                  <a:srgbClr val="231F20"/>
                </a:solidFill>
                <a:latin typeface="Raleway" pitchFamily="2" charset="0"/>
              </a:endParaRPr>
            </a:p>
          </p:txBody>
        </p:sp>
      </p:grpSp>
      <p:grpSp>
        <p:nvGrpSpPr>
          <p:cNvPr id="22" name="rd861"/>
          <p:cNvGrpSpPr/>
          <p:nvPr/>
        </p:nvGrpSpPr>
        <p:grpSpPr>
          <a:xfrm>
            <a:off x="8119872" y="777240"/>
            <a:ext cx="3611880" cy="3154680"/>
            <a:chOff x="8119872" y="777240"/>
            <a:chExt cx="3611880" cy="3154680"/>
          </a:xfrm>
        </p:grpSpPr>
        <p:sp>
          <p:nvSpPr>
            <p:cNvPr id="18" name="rd857"/>
            <p:cNvSpPr/>
            <p:nvPr/>
          </p:nvSpPr>
          <p:spPr>
            <a:xfrm>
              <a:off x="8119872" y="777240"/>
              <a:ext cx="3611880" cy="3154680"/>
            </a:xfrm>
            <a:prstGeom prst="roundRect">
              <a:avLst>
                <a:gd name="adj" fmla="val 5000"/>
              </a:avLst>
            </a:prstGeom>
            <a:solidFill>
              <a:srgbClr val="F2F7F8"/>
            </a:solidFill>
            <a:ln w="9525">
              <a:solidFill>
                <a:srgbClr val="93C3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aleway" pitchFamily="2" charset="0"/>
              </a:endParaRPr>
            </a:p>
          </p:txBody>
        </p:sp>
        <p:sp>
          <p:nvSpPr>
            <p:cNvPr id="19" name="rd858"/>
            <p:cNvSpPr/>
            <p:nvPr/>
          </p:nvSpPr>
          <p:spPr>
            <a:xfrm>
              <a:off x="9605772" y="1005840"/>
              <a:ext cx="640080" cy="640080"/>
            </a:xfrm>
            <a:prstGeom prst="ellipse">
              <a:avLst/>
            </a:prstGeom>
            <a:solidFill>
              <a:srgbClr val="0596AE"/>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sz="1600" b="1">
                  <a:solidFill>
                    <a:srgbClr val="FFFFFF"/>
                  </a:solidFill>
                  <a:latin typeface="Raleway" pitchFamily="2" charset="0"/>
                </a:rPr>
                <a:t>3</a:t>
              </a:r>
            </a:p>
          </p:txBody>
        </p:sp>
        <p:sp>
          <p:nvSpPr>
            <p:cNvPr id="20" name="rd859"/>
            <p:cNvSpPr txBox="1"/>
            <p:nvPr/>
          </p:nvSpPr>
          <p:spPr>
            <a:xfrm>
              <a:off x="8302752" y="1783080"/>
              <a:ext cx="3246120" cy="411480"/>
            </a:xfrm>
            <a:prstGeom prst="rect">
              <a:avLst/>
            </a:prstGeom>
            <a:noFill/>
          </p:spPr>
          <p:txBody>
            <a:bodyPr vert="horz" wrap="square" lIns="0" tIns="0" rIns="0" bIns="0" rtlCol="0" anchor="ctr">
              <a:noAutofit/>
            </a:bodyPr>
            <a:lstStyle/>
            <a:p>
              <a:pPr algn="ctr"/>
              <a:r>
                <a:rPr lang="en-IN" sz="1600" b="1">
                  <a:solidFill>
                    <a:srgbClr val="074661"/>
                  </a:solidFill>
                  <a:latin typeface="Raleway" pitchFamily="2" charset="0"/>
                </a:rPr>
                <a:t>AI-powered</a:t>
              </a:r>
            </a:p>
          </p:txBody>
        </p:sp>
        <p:sp>
          <p:nvSpPr>
            <p:cNvPr id="21" name="rd860"/>
            <p:cNvSpPr txBox="1"/>
            <p:nvPr/>
          </p:nvSpPr>
          <p:spPr>
            <a:xfrm>
              <a:off x="8394192" y="2331720"/>
              <a:ext cx="3063240" cy="1554480"/>
            </a:xfrm>
            <a:prstGeom prst="rect">
              <a:avLst/>
            </a:prstGeom>
            <a:noFill/>
          </p:spPr>
          <p:txBody>
            <a:bodyPr vert="horz" wrap="square" lIns="0" tIns="0" rIns="0" bIns="0" rtlCol="0" anchor="t">
              <a:noAutofit/>
            </a:bodyPr>
            <a:lstStyle/>
            <a:p>
              <a:pPr algn="ctr"/>
              <a:r>
                <a:rPr lang="en-US" sz="1250">
                  <a:solidFill>
                    <a:srgbClr val="231F20"/>
                  </a:solidFill>
                  <a:latin typeface="Raleway" pitchFamily="2" charset="0"/>
                </a:rPr>
                <a:t>The Insights Server orchestrates cache, intent, clarification, retrieval, intelligence, generation and streaming for every ask.</a:t>
              </a:r>
              <a:endParaRPr lang="en-IN" sz="1250">
                <a:solidFill>
                  <a:srgbClr val="231F20"/>
                </a:solidFill>
                <a:latin typeface="Raleway" pitchFamily="2" charset="0"/>
              </a:endParaRPr>
            </a:p>
          </p:txBody>
        </p:sp>
      </p:grpSp>
      <p:sp>
        <p:nvSpPr>
          <p:cNvPr id="23" name="rd862"/>
          <p:cNvSpPr txBox="1"/>
          <p:nvPr/>
        </p:nvSpPr>
        <p:spPr>
          <a:xfrm>
            <a:off x="457200" y="4343400"/>
            <a:ext cx="7315200" cy="228600"/>
          </a:xfrm>
          <a:prstGeom prst="rect">
            <a:avLst/>
          </a:prstGeom>
          <a:noFill/>
        </p:spPr>
        <p:txBody>
          <a:bodyPr vert="horz" wrap="square" lIns="0" tIns="0" rIns="0" bIns="0" rtlCol="0" anchor="t">
            <a:noAutofit/>
          </a:bodyPr>
          <a:lstStyle/>
          <a:p>
            <a:r>
              <a:rPr lang="en-US" sz="850" b="1">
                <a:solidFill>
                  <a:srgbClr val="0596AE"/>
                </a:solidFill>
                <a:latin typeface="Raleway" pitchFamily="2" charset="0"/>
              </a:rPr>
              <a:t>FROM USE CASE TO EXPERIENCE</a:t>
            </a:r>
            <a:endParaRPr lang="en-IN" sz="850" b="1">
              <a:solidFill>
                <a:srgbClr val="0596AE"/>
              </a:solidFill>
              <a:latin typeface="Raleway" pitchFamily="2" charset="0"/>
            </a:endParaRPr>
          </a:p>
        </p:txBody>
      </p:sp>
      <p:sp>
        <p:nvSpPr>
          <p:cNvPr id="24" name="rd863"/>
          <p:cNvSpPr/>
          <p:nvPr/>
        </p:nvSpPr>
        <p:spPr>
          <a:xfrm>
            <a:off x="457200" y="4663440"/>
            <a:ext cx="1965960" cy="822960"/>
          </a:xfrm>
          <a:prstGeom prst="homePlate">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50" b="1">
                <a:solidFill>
                  <a:srgbClr val="FFFFFF"/>
                </a:solidFill>
                <a:latin typeface="Raleway" pitchFamily="2" charset="0"/>
              </a:rPr>
              <a:t>Business use case</a:t>
            </a:r>
          </a:p>
        </p:txBody>
      </p:sp>
      <p:sp>
        <p:nvSpPr>
          <p:cNvPr id="25" name="rd864"/>
          <p:cNvSpPr/>
          <p:nvPr/>
        </p:nvSpPr>
        <p:spPr>
          <a:xfrm>
            <a:off x="2318918" y="4663440"/>
            <a:ext cx="1965960" cy="82296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50" b="1">
                <a:solidFill>
                  <a:srgbClr val="FFFFFF"/>
                </a:solidFill>
                <a:latin typeface="Raleway" pitchFamily="2" charset="0"/>
              </a:rPr>
              <a:t>Experience + knowledge</a:t>
            </a:r>
          </a:p>
        </p:txBody>
      </p:sp>
      <p:sp>
        <p:nvSpPr>
          <p:cNvPr id="26" name="rd865"/>
          <p:cNvSpPr/>
          <p:nvPr/>
        </p:nvSpPr>
        <p:spPr>
          <a:xfrm>
            <a:off x="4180637" y="4663440"/>
            <a:ext cx="1965960" cy="82296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50" b="1">
                <a:solidFill>
                  <a:srgbClr val="FFFFFF"/>
                </a:solidFill>
                <a:latin typeface="Raleway" pitchFamily="2" charset="0"/>
              </a:rPr>
              <a:t>Insights API</a:t>
            </a:r>
          </a:p>
        </p:txBody>
      </p:sp>
      <p:sp>
        <p:nvSpPr>
          <p:cNvPr id="27" name="rd866"/>
          <p:cNvSpPr/>
          <p:nvPr/>
        </p:nvSpPr>
        <p:spPr>
          <a:xfrm>
            <a:off x="6042355" y="4663440"/>
            <a:ext cx="1965960" cy="82296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50" b="1">
                <a:solidFill>
                  <a:srgbClr val="FFFFFF"/>
                </a:solidFill>
                <a:latin typeface="Raleway" pitchFamily="2" charset="0"/>
              </a:rPr>
              <a:t>React application</a:t>
            </a:r>
          </a:p>
        </p:txBody>
      </p:sp>
      <p:sp>
        <p:nvSpPr>
          <p:cNvPr id="28" name="rd867"/>
          <p:cNvSpPr/>
          <p:nvPr/>
        </p:nvSpPr>
        <p:spPr>
          <a:xfrm>
            <a:off x="7904073" y="4663440"/>
            <a:ext cx="1965960" cy="822960"/>
          </a:xfrm>
          <a:prstGeom prst="chevron">
            <a:avLst/>
          </a:prstGeom>
          <a:solidFill>
            <a:srgbClr val="07466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50" b="1">
                <a:solidFill>
                  <a:srgbClr val="FFFFFF"/>
                </a:solidFill>
                <a:latin typeface="Raleway" pitchFamily="2" charset="0"/>
              </a:rPr>
              <a:t>LLM intelligence</a:t>
            </a:r>
          </a:p>
        </p:txBody>
      </p:sp>
      <p:sp>
        <p:nvSpPr>
          <p:cNvPr id="29" name="rd868"/>
          <p:cNvSpPr/>
          <p:nvPr/>
        </p:nvSpPr>
        <p:spPr>
          <a:xfrm>
            <a:off x="9765792" y="4663440"/>
            <a:ext cx="1965960" cy="822960"/>
          </a:xfrm>
          <a:prstGeom prst="chevron">
            <a:avLst/>
          </a:prstGeom>
          <a:solidFill>
            <a:srgbClr val="0596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r>
              <a:rPr lang="en-IN" sz="1050" b="1">
                <a:solidFill>
                  <a:srgbClr val="FFFFFF"/>
                </a:solidFill>
                <a:latin typeface="Raleway" pitchFamily="2" charset="0"/>
              </a:rPr>
              <a:t>GenUI experience</a:t>
            </a:r>
          </a:p>
        </p:txBody>
      </p:sp>
    </p:spTree>
    <p:extLst>
      <p:ext uri="{BB962C8B-B14F-4D97-AF65-F5344CB8AC3E}">
        <p14:creationId xmlns:p14="http://schemas.microsoft.com/office/powerpoint/2010/main" val="76463413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5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5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300"/>
                                        <p:tgtEl>
                                          <p:spTgt spid="24"/>
                                        </p:tgtEl>
                                      </p:cBhvr>
                                    </p:animEffect>
                                  </p:childTnLst>
                                </p:cTn>
                              </p:par>
                            </p:childTnLst>
                          </p:cTn>
                        </p:par>
                        <p:par>
                          <p:cTn id="23" fill="hold">
                            <p:stCondLst>
                              <p:cond delay="300"/>
                            </p:stCondLst>
                            <p:childTnLst>
                              <p:par>
                                <p:cTn id="24" presetID="22" presetClass="entr" presetSubtype="8"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00"/>
                                        <p:tgtEl>
                                          <p:spTgt spid="25"/>
                                        </p:tgtEl>
                                      </p:cBhvr>
                                    </p:animEffect>
                                  </p:childTnLst>
                                </p:cTn>
                              </p:par>
                            </p:childTnLst>
                          </p:cTn>
                        </p:par>
                        <p:par>
                          <p:cTn id="27" fill="hold">
                            <p:stCondLst>
                              <p:cond delay="600"/>
                            </p:stCondLst>
                            <p:childTnLst>
                              <p:par>
                                <p:cTn id="28" presetID="22" presetClass="entr" presetSubtype="8"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300"/>
                                        <p:tgtEl>
                                          <p:spTgt spid="26"/>
                                        </p:tgtEl>
                                      </p:cBhvr>
                                    </p:animEffect>
                                  </p:childTnLst>
                                </p:cTn>
                              </p:par>
                            </p:childTnLst>
                          </p:cTn>
                        </p:par>
                        <p:par>
                          <p:cTn id="31" fill="hold">
                            <p:stCondLst>
                              <p:cond delay="900"/>
                            </p:stCondLst>
                            <p:childTnLst>
                              <p:par>
                                <p:cTn id="32" presetID="22" presetClass="entr" presetSubtype="8" fill="hold" grpId="0"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300"/>
                                        <p:tgtEl>
                                          <p:spTgt spid="27"/>
                                        </p:tgtEl>
                                      </p:cBhvr>
                                    </p:animEffect>
                                  </p:childTnLst>
                                </p:cTn>
                              </p:par>
                            </p:childTnLst>
                          </p:cTn>
                        </p:par>
                        <p:par>
                          <p:cTn id="35" fill="hold">
                            <p:stCondLst>
                              <p:cond delay="1200"/>
                            </p:stCondLst>
                            <p:childTnLst>
                              <p:par>
                                <p:cTn id="36" presetID="22" presetClass="entr" presetSubtype="8"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left)">
                                      <p:cBhvr>
                                        <p:cTn id="38" dur="300"/>
                                        <p:tgtEl>
                                          <p:spTgt spid="28"/>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2ecf157-0b88-4644-a053-f56c8a8bc1db">
      <Terms xmlns="http://schemas.microsoft.com/office/infopath/2007/PartnerControls"/>
    </lcf76f155ced4ddcb4097134ff3c332f>
    <TaxCatchAll xmlns="4440a9e6-66b7-43b7-9e0e-59d59446865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C19FF934623E848B2D54E6A88631AE0" ma:contentTypeVersion="9" ma:contentTypeDescription="Create a new document." ma:contentTypeScope="" ma:versionID="9615a031616bde804cdfa5a0c5b53206">
  <xsd:schema xmlns:xsd="http://www.w3.org/2001/XMLSchema" xmlns:xs="http://www.w3.org/2001/XMLSchema" xmlns:p="http://schemas.microsoft.com/office/2006/metadata/properties" xmlns:ns2="32ecf157-0b88-4644-a053-f56c8a8bc1db" xmlns:ns3="4440a9e6-66b7-43b7-9e0e-59d59446865d" targetNamespace="http://schemas.microsoft.com/office/2006/metadata/properties" ma:root="true" ma:fieldsID="aab6e9686e7c49af9102bb1edfd41fb7" ns2:_="" ns3:_="">
    <xsd:import namespace="32ecf157-0b88-4644-a053-f56c8a8bc1db"/>
    <xsd:import namespace="4440a9e6-66b7-43b7-9e0e-59d59446865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ecf157-0b88-4644-a053-f56c8a8bc1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bce1c08-58a2-4a44-be9e-e76449ad3286"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440a9e6-66b7-43b7-9e0e-59d59446865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2772ea4-5afe-4dce-b6db-09c4b54625ff}" ma:internalName="TaxCatchAll" ma:showField="CatchAllData" ma:web="4440a9e6-66b7-43b7-9e0e-59d59446865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DF6CDF-4558-45ED-8969-7263EAE9EFD9}">
  <ds:schemaRefs>
    <ds:schemaRef ds:uri="http://schemas.microsoft.com/office/2006/metadata/properties"/>
    <ds:schemaRef ds:uri="http://schemas.microsoft.com/office/infopath/2007/PartnerControls"/>
    <ds:schemaRef ds:uri="32ecf157-0b88-4644-a053-f56c8a8bc1db"/>
    <ds:schemaRef ds:uri="4440a9e6-66b7-43b7-9e0e-59d59446865d"/>
  </ds:schemaRefs>
</ds:datastoreItem>
</file>

<file path=customXml/itemProps2.xml><?xml version="1.0" encoding="utf-8"?>
<ds:datastoreItem xmlns:ds="http://schemas.openxmlformats.org/officeDocument/2006/customXml" ds:itemID="{D9178CDD-311C-4013-8033-E5C8062B3E1E}">
  <ds:schemaRefs>
    <ds:schemaRef ds:uri="http://schemas.microsoft.com/sharepoint/v3/contenttype/forms"/>
  </ds:schemaRefs>
</ds:datastoreItem>
</file>

<file path=customXml/itemProps3.xml><?xml version="1.0" encoding="utf-8"?>
<ds:datastoreItem xmlns:ds="http://schemas.openxmlformats.org/officeDocument/2006/customXml" ds:itemID="{F2CBF45D-7268-4AD4-AE7F-699D8A4D61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ecf157-0b88-4644-a053-f56c8a8bc1db"/>
    <ds:schemaRef ds:uri="4440a9e6-66b7-43b7-9e0e-59d5944686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3865</Words>
  <Application>Microsoft Office PowerPoint</Application>
  <PresentationFormat>Widescreen</PresentationFormat>
  <Paragraphs>603</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 Prakash Manne</dc:creator>
  <cp:lastModifiedBy>Jaya Prakash Manne</cp:lastModifiedBy>
  <cp:revision>2</cp:revision>
  <dcterms:created xsi:type="dcterms:W3CDTF">2026-09-29T09:55:06Z</dcterms:created>
  <dcterms:modified xsi:type="dcterms:W3CDTF">2026-09-29T13:40:07Z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0x0101007C19FF934623E848B2D54E6A88631AE0</vt:lpwstr>
  </property>
</Properties>
</file>