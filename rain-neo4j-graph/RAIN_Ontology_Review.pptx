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331720"/>
            <a:ext cx="9445752" cy="960120"/>
          </a:xfrm>
          <a:prstGeom prst="roundRect">
            <a:avLst>
              <a:gd name="adj" fmla="val 4762"/>
            </a:avLst>
          </a:prstGeom>
          <a:solidFill>
            <a:srgbClr val="2A4A6E"/>
          </a:solidFill>
          <a:ln w="12700">
            <a:solidFill>
              <a:srgbClr val="3A5A7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00200" y="24688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— ONTOLOGY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3383280"/>
            <a:ext cx="9445752" cy="548640"/>
          </a:xfrm>
          <a:prstGeom prst="roundRect">
            <a:avLst>
              <a:gd name="adj" fmla="val 8333"/>
            </a:avLst>
          </a:prstGeom>
          <a:solidFill>
            <a:srgbClr val="2A4A6E"/>
          </a:solidFill>
          <a:ln w="12700">
            <a:solidFill>
              <a:srgbClr val="3A5A7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00200" y="33832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Ontology, Lower Ontology &amp; Extension Proposal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4114800"/>
            <a:ext cx="9445752" cy="822960"/>
          </a:xfrm>
          <a:prstGeom prst="roundRect">
            <a:avLst>
              <a:gd name="adj" fmla="val 5556"/>
            </a:avLst>
          </a:prstGeom>
          <a:solidFill>
            <a:srgbClr val="2A4A6E"/>
          </a:solidFill>
          <a:ln w="12700">
            <a:solidFill>
              <a:srgbClr val="3A5A7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4114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Health AI Infrastructure for Nevada  ·  Radiant Digital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D455F"/>
          </a:solidFill>
          <a:ln w="12700">
            <a:solidFill>
              <a:srgbClr val="1D45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5624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·  Confidential  ·  All Rights Reserved  ·  2026</a:t>
            </a:r>
            <a:endParaRPr lang="en-US" sz="1100" dirty="0"/>
          </a:p>
        </p:txBody>
      </p:sp>
      <p:pic>
        <p:nvPicPr>
          <p:cNvPr id="10" name="Image 0" descr="/home/claude/radia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615684"/>
            <a:ext cx="1005840" cy="156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oundRect">
            <a:avLst>
              <a:gd name="adj" fmla="val 5714"/>
            </a:avLst>
          </a:prstGeom>
          <a:solidFill>
            <a:srgbClr val="1E3B5B"/>
          </a:solidFill>
          <a:ln w="12700">
            <a:solidFill>
              <a:srgbClr val="1E3B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Ontology — 5 Shared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88952" cy="457200"/>
          </a:xfrm>
          <a:prstGeom prst="roundRect">
            <a:avLst>
              <a:gd name="adj" fmla="val 8000"/>
            </a:avLst>
          </a:prstGeom>
          <a:solidFill>
            <a:srgbClr val="2A4A6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RAIN's original 13–14 domain-specific entities, collapsed into reusable ideas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1457432" cy="804672"/>
          </a:xfrm>
          <a:prstGeom prst="roundRect">
            <a:avLst>
              <a:gd name="adj" fmla="val 13636"/>
            </a:avLst>
          </a:prstGeom>
          <a:solidFill>
            <a:srgbClr val="2F74B5"/>
          </a:solidFill>
          <a:ln w="12700">
            <a:solidFill>
              <a:srgbClr val="2F74B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64792"/>
            <a:ext cx="11000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029602"/>
            <a:ext cx="1100023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the system is organized around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24328"/>
            <a:ext cx="11457432" cy="804672"/>
          </a:xfrm>
          <a:prstGeom prst="roundRect">
            <a:avLst>
              <a:gd name="adj" fmla="val 13636"/>
            </a:avLst>
          </a:prstGeom>
          <a:solidFill>
            <a:srgbClr val="BF4F07"/>
          </a:solidFill>
          <a:ln w="12700">
            <a:solidFill>
              <a:srgbClr val="BF4F07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97480"/>
            <a:ext cx="11000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962290"/>
            <a:ext cx="1100023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clinician or care team member responsible for care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57016"/>
            <a:ext cx="11457432" cy="804672"/>
          </a:xfrm>
          <a:prstGeom prst="roundRect">
            <a:avLst>
              <a:gd name="adj" fmla="val 13636"/>
            </a:avLst>
          </a:prstGeom>
          <a:solidFill>
            <a:srgbClr val="538234"/>
          </a:solidFill>
          <a:ln w="12700">
            <a:solidFill>
              <a:srgbClr val="538234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630168"/>
            <a:ext cx="11000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3894978"/>
            <a:ext cx="1100023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period tied to a specific event — a pregnancy, an enrollment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489704"/>
            <a:ext cx="11457432" cy="804672"/>
          </a:xfrm>
          <a:prstGeom prst="roundRect">
            <a:avLst>
              <a:gd name="adj" fmla="val 13636"/>
            </a:avLst>
          </a:prstGeom>
          <a:solidFill>
            <a:srgbClr val="1F6E72"/>
          </a:solidFill>
          <a:ln w="12700">
            <a:solidFill>
              <a:srgbClr val="1F6E7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562856"/>
            <a:ext cx="11000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SIGNAL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4827666"/>
            <a:ext cx="1100023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computed or observed indicator that risk has changed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5422392"/>
            <a:ext cx="11457432" cy="804672"/>
          </a:xfrm>
          <a:prstGeom prst="roundRect">
            <a:avLst>
              <a:gd name="adj" fmla="val 13636"/>
            </a:avLst>
          </a:prstGeom>
          <a:solidFill>
            <a:srgbClr val="5B2D8F"/>
          </a:solidFill>
          <a:ln w="12700">
            <a:solidFill>
              <a:srgbClr val="5B2D8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5495544"/>
            <a:ext cx="11000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BARRIER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5760354"/>
            <a:ext cx="1100023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structural obstacle to care — distance, transport, connectivity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D455F"/>
          </a:solidFill>
          <a:ln w="12700">
            <a:solidFill>
              <a:srgbClr val="1D45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5624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·  Confidential  ·  All Rights Reserved  ·  2026</a:t>
            </a:r>
            <a:endParaRPr lang="en-US" sz="1100" dirty="0"/>
          </a:p>
        </p:txBody>
      </p:sp>
      <p:pic>
        <p:nvPicPr>
          <p:cNvPr id="23" name="Image 0" descr="/home/claude/radia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615684"/>
            <a:ext cx="1005840" cy="1563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oundRect">
            <a:avLst>
              <a:gd name="adj" fmla="val 5714"/>
            </a:avLst>
          </a:prstGeom>
          <a:solidFill>
            <a:srgbClr val="1E3B5B"/>
          </a:solidFill>
          <a:ln w="12700">
            <a:solidFill>
              <a:srgbClr val="1E3B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Genericity — Proven, Not Claimed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88952" cy="457200"/>
          </a:xfrm>
          <a:prstGeom prst="roundRect">
            <a:avLst>
              <a:gd name="adj" fmla="val 8000"/>
            </a:avLst>
          </a:prstGeom>
          <a:solidFill>
            <a:srgbClr val="2A4A6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5 concepts, unchanged, tested against a second unrelated domain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5532120" cy="502920"/>
          </a:xfrm>
          <a:prstGeom prst="roundRect">
            <a:avLst>
              <a:gd name="adj" fmla="val 9091"/>
            </a:avLst>
          </a:prstGeom>
          <a:solidFill>
            <a:srgbClr val="1E3B5B"/>
          </a:solidFill>
          <a:ln w="12700">
            <a:solidFill>
              <a:srgbClr val="1E3B5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 ·  Rural Healthcare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532120" cy="502920"/>
          </a:xfrm>
          <a:prstGeom prst="roundRect">
            <a:avLst>
              <a:gd name="adj" fmla="val 9091"/>
            </a:avLst>
          </a:prstGeom>
          <a:solidFill>
            <a:srgbClr val="BF4F07"/>
          </a:solidFill>
          <a:ln w="12700">
            <a:solidFill>
              <a:srgbClr val="BF4F0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USSFCU  ·  Credit Union Compliance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F6E72"/>
          </a:solidFill>
          <a:ln w="12700">
            <a:solidFill>
              <a:srgbClr val="1F6E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SIGNAL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423160"/>
            <a:ext cx="370332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4231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reading_type (RPMReading)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FBE3D0"/>
          </a:solidFill>
          <a:ln w="12700">
            <a:solidFill>
              <a:srgbClr val="F0D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4231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fair_lending_disparity_index (MeridianLink)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F6E72"/>
          </a:solidFill>
          <a:ln w="12700">
            <a:solidFill>
              <a:srgbClr val="1F6E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108960"/>
            <a:ext cx="370332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1089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avoidable_ed_flag (ClaimEncounter)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FBE3D0"/>
          </a:solidFill>
          <a:ln w="12700">
            <a:solidFill>
              <a:srgbClr val="F0D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1089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trid_ontime_disclosure_rate (MeridianLink)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F6E72"/>
          </a:solidFill>
          <a:ln w="12700">
            <a:solidFill>
              <a:srgbClr val="1F6E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94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94560" y="3794760"/>
            <a:ext cx="370332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794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patient_id (Patient)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79476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FBE3D0"/>
          </a:solidFill>
          <a:ln w="12700">
            <a:solidFill>
              <a:srgbClr val="F0D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7947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records (MeridianLink)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709160"/>
            <a:ext cx="11457432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709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concept, two unrelated industries, zero changes to the concept definitions.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D455F"/>
          </a:solidFill>
          <a:ln w="12700">
            <a:solidFill>
              <a:srgbClr val="1D4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5624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·  Confidential  ·  All Rights Reserved  ·  2026</a:t>
            </a:r>
            <a:endParaRPr lang="en-US" sz="1100" dirty="0"/>
          </a:p>
        </p:txBody>
      </p:sp>
      <p:pic>
        <p:nvPicPr>
          <p:cNvPr id="31" name="Image 0" descr="/home/claude/radia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615684"/>
            <a:ext cx="1005840" cy="156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oundRect">
            <a:avLst>
              <a:gd name="adj" fmla="val 5714"/>
            </a:avLst>
          </a:prstGeom>
          <a:solidFill>
            <a:srgbClr val="1E3B5B"/>
          </a:solidFill>
          <a:ln w="12700">
            <a:solidFill>
              <a:srgbClr val="1E3B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Ontology — Real, Verified Mappings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88952" cy="457200"/>
          </a:xfrm>
          <a:prstGeom prst="roundRect">
            <a:avLst>
              <a:gd name="adj" fmla="val 8000"/>
            </a:avLst>
          </a:prstGeom>
          <a:solidFill>
            <a:srgbClr val="2A4A6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mapping tested directly against RAIN's live database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74B5"/>
          </a:solidFill>
          <a:ln w="12700">
            <a:solidFill>
              <a:srgbClr val="2F74B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of 17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RAIN tables mapped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7662672" cy="1417320"/>
          </a:xfrm>
          <a:prstGeom prst="roundRect">
            <a:avLst>
              <a:gd name="adj" fmla="val 5161"/>
            </a:avLst>
          </a:prstGeom>
          <a:solidFill>
            <a:srgbClr val="F3F5F7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755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8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20574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  ·   Provider   ·   PregnancyEpisode   ·   ChronicConditionEnrollment   ·   RPMReading   ·   ClaimEncounter   ·   MedicationFill   ·   TransportRequest   ·   TelehealthSession   ·   SDOHFlag   ·   ConnectivityRegistry   ·   EMSCoverage   ·   ProviderReferenceIssue   ·   Facility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11457432" cy="1417320"/>
          </a:xfrm>
          <a:prstGeom prst="roundRect">
            <a:avLst>
              <a:gd name="adj" fmla="val 5161"/>
            </a:avLst>
          </a:prstGeom>
          <a:solidFill>
            <a:srgbClr val="FBE9E4"/>
          </a:solidFill>
          <a:ln w="12700">
            <a:solidFill>
              <a:srgbClr val="F0C9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4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MAPPED — David's system/data-quality tables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DataQualityEvent   ·   DataSourceFeed   ·   MetricTrend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 already confirmed against the live database — ready to map once a concept home is decided.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D455F"/>
          </a:solidFill>
          <a:ln w="12700">
            <a:solidFill>
              <a:srgbClr val="1D45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55624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·  Confidential  ·  All Rights Reserved  ·  2026</a:t>
            </a:r>
            <a:endParaRPr lang="en-US" sz="1100" dirty="0"/>
          </a:p>
        </p:txBody>
      </p:sp>
      <p:pic>
        <p:nvPicPr>
          <p:cNvPr id="18" name="Image 0" descr="/home/claude/radia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615684"/>
            <a:ext cx="1005840" cy="156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oundRect">
            <a:avLst>
              <a:gd name="adj" fmla="val 5714"/>
            </a:avLst>
          </a:prstGeom>
          <a:solidFill>
            <a:srgbClr val="1E3B5B"/>
          </a:solidFill>
          <a:ln w="12700">
            <a:solidFill>
              <a:srgbClr val="1E3B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David's Persona — Gap &amp; Proposed Extension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88952" cy="457200"/>
          </a:xfrm>
          <a:prstGeom prst="roundRect">
            <a:avLst>
              <a:gd name="adj" fmla="val 8000"/>
            </a:avLst>
          </a:prstGeom>
          <a:solidFill>
            <a:srgbClr val="2A4A6E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/ interoperability did not map to the original 5 concepts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5532120" cy="502920"/>
          </a:xfrm>
          <a:prstGeom prst="roundRect">
            <a:avLst>
              <a:gd name="adj" fmla="val 9091"/>
            </a:avLst>
          </a:prstGeom>
          <a:solidFill>
            <a:srgbClr val="8A2E2E"/>
          </a:solidFill>
          <a:ln w="12700">
            <a:solidFill>
              <a:srgbClr val="8A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532120" cy="3383280"/>
          </a:xfrm>
          <a:prstGeom prst="roundRect">
            <a:avLst>
              <a:gd name="adj" fmla="val 2162"/>
            </a:avLst>
          </a:prstGeom>
          <a:solidFill>
            <a:srgbClr val="F8EDED"/>
          </a:solidFill>
          <a:ln w="12700">
            <a:solidFill>
              <a:srgbClr val="E8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David's real questions returned no concept match at 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conformance, pipeline freshness, and data-quality events are genuinely different in kind from the other 4 personas' clinical/access focus.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532120" cy="502920"/>
          </a:xfrm>
          <a:prstGeom prst="roundRect">
            <a:avLst>
              <a:gd name="adj" fmla="val 9091"/>
            </a:avLst>
          </a:prstGeom>
          <a:solidFill>
            <a:srgbClr val="538234"/>
          </a:solidFill>
          <a:ln w="12700">
            <a:solidFill>
              <a:srgbClr val="5382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EXTENSION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532120" cy="3383280"/>
          </a:xfrm>
          <a:prstGeom prst="roundRect">
            <a:avLst>
              <a:gd name="adj" fmla="val 2162"/>
            </a:avLst>
          </a:prstGeom>
          <a:solidFill>
            <a:srgbClr val="EEF4EA"/>
          </a:solidFill>
          <a:ln w="12700">
            <a:solidFill>
              <a:srgbClr val="D3E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688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38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8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46520" y="333756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now map correctly, other personas unaffected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new concepts added: Data Source, Data Quality Issue, Referential Integrity, Completeness, Conformance, Freshness, Data Lineage, Lifecycle Event.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D455F"/>
          </a:solidFill>
          <a:ln w="12700">
            <a:solidFill>
              <a:srgbClr val="1D4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55624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·  Confidential  ·  All Rights Reserved  ·  2026</a:t>
            </a:r>
            <a:endParaRPr lang="en-US" sz="1100" dirty="0"/>
          </a:p>
        </p:txBody>
      </p:sp>
      <p:pic>
        <p:nvPicPr>
          <p:cNvPr id="20" name="Image 0" descr="/home/claude/radian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615684"/>
            <a:ext cx="1005840" cy="156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2026-09-25T12:39:12Z</dcterms:created>
  <dcterms:modified xsi:type="dcterms:W3CDTF">2026-09-25T12:39:12Z</dcterms:modified>
</cp:coreProperties>
</file>